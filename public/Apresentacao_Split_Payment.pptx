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753600" cy="6856413"/>
  <p:notesSz cx="9753600" cy="73152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09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753599" cy="7315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488813"/>
            <a:ext cx="8049259" cy="555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bg1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680" y="1682496"/>
            <a:ext cx="877824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54711"/>
            <a:ext cx="9753599" cy="731519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58800" y="456406"/>
            <a:ext cx="4241800" cy="267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pt-BR" sz="1600" b="1" spc="-125" dirty="0" smtClean="0">
                <a:solidFill>
                  <a:srgbClr val="DFF0FF"/>
                </a:solidFill>
                <a:latin typeface="DejaVu Sans"/>
                <a:cs typeface="DejaVu Sans"/>
              </a:rPr>
              <a:t>VSR</a:t>
            </a:r>
            <a:r>
              <a:rPr lang="pt-BR" sz="1650" b="1" spc="-125" dirty="0" smtClean="0">
                <a:solidFill>
                  <a:srgbClr val="DFF0FF"/>
                </a:solidFill>
                <a:latin typeface="DejaVu Sans"/>
                <a:cs typeface="DejaVu Sans"/>
              </a:rPr>
              <a:t> - CONTABILIDADE</a:t>
            </a:r>
            <a:endParaRPr sz="1650" dirty="0">
              <a:latin typeface="DejaVu Sans"/>
              <a:cs typeface="DejaVu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33035" y="6757410"/>
            <a:ext cx="46228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85" dirty="0">
                <a:solidFill>
                  <a:srgbClr val="A8D0FF"/>
                </a:solidFill>
                <a:latin typeface="DejaVu Sans"/>
                <a:cs typeface="DejaVu Sans"/>
              </a:rPr>
              <a:t>202</a:t>
            </a:r>
            <a:r>
              <a:rPr lang="pt-BR" sz="1500" spc="-85" dirty="0">
                <a:solidFill>
                  <a:srgbClr val="A8D0FF"/>
                </a:solidFill>
                <a:latin typeface="DejaVu Sans"/>
                <a:cs typeface="DejaVu Sans"/>
              </a:rPr>
              <a:t>5</a:t>
            </a:r>
            <a:endParaRPr sz="1500" dirty="0"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27415" y="1532731"/>
            <a:ext cx="7898765" cy="11836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4545"/>
              </a:lnSpc>
              <a:spcBef>
                <a:spcPts val="120"/>
              </a:spcBef>
            </a:pPr>
            <a:r>
              <a:rPr sz="3950" spc="-285" dirty="0"/>
              <a:t>REFORMA</a:t>
            </a:r>
            <a:r>
              <a:rPr sz="3950" spc="-95" dirty="0"/>
              <a:t> </a:t>
            </a:r>
            <a:r>
              <a:rPr sz="3950" spc="-265" dirty="0"/>
              <a:t>TRIBUTÁRIA:</a:t>
            </a:r>
            <a:endParaRPr sz="3950" dirty="0"/>
          </a:p>
          <a:p>
            <a:pPr algn="ctr">
              <a:lnSpc>
                <a:spcPts val="4545"/>
              </a:lnSpc>
            </a:pPr>
            <a:r>
              <a:rPr sz="3950" spc="-305" dirty="0">
                <a:solidFill>
                  <a:srgbClr val="A8D0FF"/>
                </a:solidFill>
              </a:rPr>
              <a:t>O</a:t>
            </a:r>
            <a:r>
              <a:rPr sz="3950" spc="-114" dirty="0">
                <a:solidFill>
                  <a:srgbClr val="A8D0FF"/>
                </a:solidFill>
              </a:rPr>
              <a:t> </a:t>
            </a:r>
            <a:r>
              <a:rPr sz="3950" spc="-254" dirty="0">
                <a:solidFill>
                  <a:srgbClr val="A8D0FF"/>
                </a:solidFill>
              </a:rPr>
              <a:t>DESAFIO</a:t>
            </a:r>
            <a:r>
              <a:rPr sz="3950" spc="-110" dirty="0">
                <a:solidFill>
                  <a:srgbClr val="A8D0FF"/>
                </a:solidFill>
              </a:rPr>
              <a:t> </a:t>
            </a:r>
            <a:r>
              <a:rPr sz="3950" spc="-300" dirty="0">
                <a:solidFill>
                  <a:srgbClr val="A8D0FF"/>
                </a:solidFill>
              </a:rPr>
              <a:t>DO</a:t>
            </a:r>
            <a:r>
              <a:rPr sz="3950" spc="-114" dirty="0">
                <a:solidFill>
                  <a:srgbClr val="A8D0FF"/>
                </a:solidFill>
              </a:rPr>
              <a:t> </a:t>
            </a:r>
            <a:r>
              <a:rPr sz="3950" spc="-229" dirty="0">
                <a:solidFill>
                  <a:srgbClr val="A8D0FF"/>
                </a:solidFill>
              </a:rPr>
              <a:t>SPLIT</a:t>
            </a:r>
            <a:r>
              <a:rPr sz="3950" spc="-114" dirty="0">
                <a:solidFill>
                  <a:srgbClr val="A8D0FF"/>
                </a:solidFill>
              </a:rPr>
              <a:t> </a:t>
            </a:r>
            <a:r>
              <a:rPr sz="3950" spc="-390" dirty="0">
                <a:solidFill>
                  <a:srgbClr val="A8D0FF"/>
                </a:solidFill>
              </a:rPr>
              <a:t>PAYMENT</a:t>
            </a:r>
            <a:endParaRPr sz="3950" dirty="0"/>
          </a:p>
        </p:txBody>
      </p:sp>
      <p:sp>
        <p:nvSpPr>
          <p:cNvPr id="10" name="object 10"/>
          <p:cNvSpPr/>
          <p:nvPr/>
        </p:nvSpPr>
        <p:spPr>
          <a:xfrm>
            <a:off x="2133599" y="4495006"/>
            <a:ext cx="5486400" cy="990600"/>
          </a:xfrm>
          <a:custGeom>
            <a:avLst/>
            <a:gdLst/>
            <a:ahLst/>
            <a:cxnLst/>
            <a:rect l="l" t="t" r="r" b="b"/>
            <a:pathLst>
              <a:path w="5486400" h="990600">
                <a:moveTo>
                  <a:pt x="5415202" y="990599"/>
                </a:moveTo>
                <a:lnTo>
                  <a:pt x="71196" y="990599"/>
                </a:lnTo>
                <a:lnTo>
                  <a:pt x="66241" y="990111"/>
                </a:lnTo>
                <a:lnTo>
                  <a:pt x="29705" y="974977"/>
                </a:lnTo>
                <a:lnTo>
                  <a:pt x="3885" y="938937"/>
                </a:lnTo>
                <a:lnTo>
                  <a:pt x="0" y="919402"/>
                </a:lnTo>
                <a:lnTo>
                  <a:pt x="0" y="914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15202" y="0"/>
                </a:lnTo>
                <a:lnTo>
                  <a:pt x="5456694" y="15621"/>
                </a:lnTo>
                <a:lnTo>
                  <a:pt x="5482512" y="51661"/>
                </a:lnTo>
                <a:lnTo>
                  <a:pt x="5486399" y="71196"/>
                </a:lnTo>
                <a:lnTo>
                  <a:pt x="5486399" y="919402"/>
                </a:lnTo>
                <a:lnTo>
                  <a:pt x="5470776" y="960893"/>
                </a:lnTo>
                <a:lnTo>
                  <a:pt x="5434736" y="986712"/>
                </a:lnTo>
                <a:lnTo>
                  <a:pt x="5420157" y="990111"/>
                </a:lnTo>
                <a:lnTo>
                  <a:pt x="5415202" y="990599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2456" y="3764121"/>
            <a:ext cx="774890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190" dirty="0">
                <a:solidFill>
                  <a:srgbClr val="DFF0FF"/>
                </a:solidFill>
                <a:latin typeface="DejaVu Sans"/>
                <a:cs typeface="DejaVu Sans"/>
              </a:rPr>
              <a:t>Como</a:t>
            </a:r>
            <a:r>
              <a:rPr sz="2200" spc="-5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2200" spc="-165" dirty="0">
                <a:solidFill>
                  <a:srgbClr val="DFF0FF"/>
                </a:solidFill>
                <a:latin typeface="DejaVu Sans"/>
                <a:cs typeface="DejaVu Sans"/>
              </a:rPr>
              <a:t>sua</a:t>
            </a:r>
            <a:r>
              <a:rPr sz="2200" spc="-50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2200" spc="-180" dirty="0">
                <a:solidFill>
                  <a:srgbClr val="DFF0FF"/>
                </a:solidFill>
                <a:latin typeface="DejaVu Sans"/>
                <a:cs typeface="DejaVu Sans"/>
              </a:rPr>
              <a:t>empresa</a:t>
            </a:r>
            <a:r>
              <a:rPr sz="2200" spc="-5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2200" spc="-170" dirty="0">
                <a:solidFill>
                  <a:srgbClr val="DFF0FF"/>
                </a:solidFill>
                <a:latin typeface="DejaVu Sans"/>
                <a:cs typeface="DejaVu Sans"/>
              </a:rPr>
              <a:t>deve</a:t>
            </a:r>
            <a:r>
              <a:rPr sz="2200" spc="-50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2200" spc="-150" dirty="0">
                <a:solidFill>
                  <a:srgbClr val="DFF0FF"/>
                </a:solidFill>
                <a:latin typeface="DejaVu Sans"/>
                <a:cs typeface="DejaVu Sans"/>
              </a:rPr>
              <a:t>se</a:t>
            </a:r>
            <a:r>
              <a:rPr sz="2200" spc="-5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2200" spc="-155" dirty="0">
                <a:solidFill>
                  <a:srgbClr val="DFF0FF"/>
                </a:solidFill>
                <a:latin typeface="DejaVu Sans"/>
                <a:cs typeface="DejaVu Sans"/>
              </a:rPr>
              <a:t>preparar</a:t>
            </a:r>
            <a:r>
              <a:rPr sz="2200" spc="-50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2200" spc="-150" dirty="0">
                <a:solidFill>
                  <a:srgbClr val="DFF0FF"/>
                </a:solidFill>
                <a:latin typeface="DejaVu Sans"/>
                <a:cs typeface="DejaVu Sans"/>
              </a:rPr>
              <a:t>para</a:t>
            </a:r>
            <a:r>
              <a:rPr sz="2200" spc="-50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2200" spc="-150" dirty="0">
                <a:solidFill>
                  <a:srgbClr val="DFF0FF"/>
                </a:solidFill>
                <a:latin typeface="DejaVu Sans"/>
                <a:cs typeface="DejaVu Sans"/>
              </a:rPr>
              <a:t>esta</a:t>
            </a:r>
            <a:r>
              <a:rPr sz="2200" spc="-5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2200" spc="-125" dirty="0">
                <a:solidFill>
                  <a:srgbClr val="DFF0FF"/>
                </a:solidFill>
                <a:latin typeface="DejaVu Sans"/>
                <a:cs typeface="DejaVu Sans"/>
              </a:rPr>
              <a:t>transformação</a:t>
            </a:r>
            <a:endParaRPr sz="2200" dirty="0"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637" y="4637846"/>
            <a:ext cx="459232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8355" marR="5080" indent="-796290">
              <a:lnSpc>
                <a:spcPct val="116700"/>
              </a:lnSpc>
              <a:spcBef>
                <a:spcPts val="95"/>
              </a:spcBef>
            </a:pPr>
            <a:r>
              <a:rPr sz="1500" spc="-120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maior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0" dirty="0">
                <a:solidFill>
                  <a:srgbClr val="FFFFFF"/>
                </a:solidFill>
                <a:latin typeface="DejaVu Sans"/>
                <a:cs typeface="DejaVu Sans"/>
              </a:rPr>
              <a:t>transformação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scal</a:t>
            </a:r>
            <a:r>
              <a:rPr sz="15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25" dirty="0">
                <a:solidFill>
                  <a:srgbClr val="FFFFFF"/>
                </a:solidFill>
                <a:latin typeface="DejaVu Sans"/>
                <a:cs typeface="DejaVu Sans"/>
              </a:rPr>
              <a:t>em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DejaVu Sans"/>
                <a:cs typeface="DejaVu Sans"/>
              </a:rPr>
              <a:t>décadas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5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10" dirty="0">
                <a:solidFill>
                  <a:srgbClr val="FFFFFF"/>
                </a:solidFill>
                <a:latin typeface="DejaVu Sans"/>
                <a:cs typeface="DejaVu Sans"/>
              </a:rPr>
              <a:t>como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75" dirty="0">
                <a:solidFill>
                  <a:srgbClr val="FFFFFF"/>
                </a:solidFill>
                <a:latin typeface="DejaVu Sans"/>
                <a:cs typeface="DejaVu Sans"/>
              </a:rPr>
              <a:t>ela </a:t>
            </a:r>
            <a:r>
              <a:rPr sz="1500" spc="-85" dirty="0">
                <a:solidFill>
                  <a:srgbClr val="FFFFFF"/>
                </a:solidFill>
                <a:latin typeface="DejaVu Sans"/>
                <a:cs typeface="DejaVu Sans"/>
              </a:rPr>
              <a:t>afetará</a:t>
            </a:r>
            <a:r>
              <a:rPr sz="15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0" dirty="0">
                <a:solidFill>
                  <a:srgbClr val="FFFFFF"/>
                </a:solidFill>
                <a:latin typeface="DejaVu Sans"/>
                <a:cs typeface="DejaVu Sans"/>
              </a:rPr>
              <a:t>diretamente</a:t>
            </a:r>
            <a:r>
              <a:rPr sz="15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5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seu</a:t>
            </a:r>
            <a:r>
              <a:rPr sz="15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DejaVu Sans"/>
                <a:cs typeface="DejaVu Sans"/>
              </a:rPr>
              <a:t>negócio</a:t>
            </a:r>
            <a:endParaRPr sz="1500" dirty="0"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800" y="6757410"/>
            <a:ext cx="424180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pt-BR" sz="1500" spc="-95" dirty="0">
                <a:solidFill>
                  <a:srgbClr val="A8D0FF"/>
                </a:solidFill>
                <a:latin typeface="DejaVu Sans"/>
                <a:cs typeface="DejaVu Sans"/>
              </a:rPr>
              <a:t>Nome da sua Empresa Contábil ou do Contador</a:t>
            </a:r>
            <a:endParaRPr sz="1500" dirty="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2234" y="94981"/>
            <a:ext cx="9753599" cy="7315199"/>
            <a:chOff x="1242696" y="94981"/>
            <a:chExt cx="9753599" cy="7315199"/>
          </a:xfrm>
        </p:grpSpPr>
        <p:sp>
          <p:nvSpPr>
            <p:cNvPr id="10" name="object 10"/>
            <p:cNvSpPr/>
            <p:nvPr/>
          </p:nvSpPr>
          <p:spPr>
            <a:xfrm>
              <a:off x="1741930" y="6486525"/>
              <a:ext cx="8610600" cy="685800"/>
            </a:xfrm>
            <a:custGeom>
              <a:avLst/>
              <a:gdLst/>
              <a:ahLst/>
              <a:cxnLst/>
              <a:rect l="l" t="t" r="r" b="b"/>
              <a:pathLst>
                <a:path w="8610600" h="685800">
                  <a:moveTo>
                    <a:pt x="8539402" y="685798"/>
                  </a:moveTo>
                  <a:lnTo>
                    <a:pt x="71196" y="685798"/>
                  </a:lnTo>
                  <a:lnTo>
                    <a:pt x="66241" y="685310"/>
                  </a:lnTo>
                  <a:lnTo>
                    <a:pt x="29705" y="670177"/>
                  </a:lnTo>
                  <a:lnTo>
                    <a:pt x="3885" y="634136"/>
                  </a:lnTo>
                  <a:lnTo>
                    <a:pt x="0" y="614602"/>
                  </a:lnTo>
                  <a:lnTo>
                    <a:pt x="0" y="609599"/>
                  </a:lnTo>
                  <a:lnTo>
                    <a:pt x="0" y="71195"/>
                  </a:lnTo>
                  <a:lnTo>
                    <a:pt x="15621" y="29704"/>
                  </a:lnTo>
                  <a:lnTo>
                    <a:pt x="51661" y="3884"/>
                  </a:lnTo>
                  <a:lnTo>
                    <a:pt x="71196" y="0"/>
                  </a:lnTo>
                  <a:lnTo>
                    <a:pt x="8539402" y="0"/>
                  </a:lnTo>
                  <a:lnTo>
                    <a:pt x="8580892" y="15621"/>
                  </a:lnTo>
                  <a:lnTo>
                    <a:pt x="8606712" y="51660"/>
                  </a:lnTo>
                  <a:lnTo>
                    <a:pt x="8610599" y="71195"/>
                  </a:lnTo>
                  <a:lnTo>
                    <a:pt x="8610599" y="614602"/>
                  </a:lnTo>
                  <a:lnTo>
                    <a:pt x="8594976" y="656092"/>
                  </a:lnTo>
                  <a:lnTo>
                    <a:pt x="8558936" y="681912"/>
                  </a:lnTo>
                  <a:lnTo>
                    <a:pt x="8544357" y="685310"/>
                  </a:lnTo>
                  <a:lnTo>
                    <a:pt x="8539402" y="685798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2696" y="94981"/>
              <a:ext cx="9753599" cy="73151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71887" y="5257800"/>
              <a:ext cx="5981700" cy="19050"/>
            </a:xfrm>
            <a:custGeom>
              <a:avLst/>
              <a:gdLst/>
              <a:ahLst/>
              <a:cxnLst/>
              <a:rect l="l" t="t" r="r" b="b"/>
              <a:pathLst>
                <a:path w="5981700" h="19050">
                  <a:moveTo>
                    <a:pt x="19812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981200" y="19050"/>
                  </a:lnTo>
                  <a:lnTo>
                    <a:pt x="1981200" y="0"/>
                  </a:lnTo>
                  <a:close/>
                </a:path>
                <a:path w="5981700" h="19050">
                  <a:moveTo>
                    <a:pt x="4191000" y="0"/>
                  </a:moveTo>
                  <a:lnTo>
                    <a:pt x="2209800" y="0"/>
                  </a:lnTo>
                  <a:lnTo>
                    <a:pt x="2209800" y="19050"/>
                  </a:lnTo>
                  <a:lnTo>
                    <a:pt x="4191000" y="19050"/>
                  </a:lnTo>
                  <a:lnTo>
                    <a:pt x="4191000" y="0"/>
                  </a:lnTo>
                  <a:close/>
                </a:path>
                <a:path w="5981700" h="19050">
                  <a:moveTo>
                    <a:pt x="5981700" y="0"/>
                  </a:moveTo>
                  <a:lnTo>
                    <a:pt x="4419600" y="0"/>
                  </a:lnTo>
                  <a:lnTo>
                    <a:pt x="4419600" y="19050"/>
                  </a:lnTo>
                  <a:lnTo>
                    <a:pt x="5981700" y="19050"/>
                  </a:lnTo>
                  <a:lnTo>
                    <a:pt x="5981700" y="0"/>
                  </a:lnTo>
                  <a:close/>
                </a:path>
              </a:pathLst>
            </a:custGeom>
            <a:solidFill>
              <a:srgbClr val="A8D0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1783645" y="2552700"/>
              <a:ext cx="8610600" cy="2228850"/>
            </a:xfrm>
            <a:custGeom>
              <a:avLst/>
              <a:gdLst/>
              <a:ahLst/>
              <a:cxnLst/>
              <a:rect l="l" t="t" r="r" b="b"/>
              <a:pathLst>
                <a:path w="8610600" h="2228850">
                  <a:moveTo>
                    <a:pt x="8610600" y="1619250"/>
                  </a:moveTo>
                  <a:lnTo>
                    <a:pt x="5162550" y="1619250"/>
                  </a:lnTo>
                  <a:lnTo>
                    <a:pt x="3448050" y="1619250"/>
                  </a:lnTo>
                  <a:lnTo>
                    <a:pt x="0" y="1619250"/>
                  </a:lnTo>
                  <a:lnTo>
                    <a:pt x="0" y="2228850"/>
                  </a:lnTo>
                  <a:lnTo>
                    <a:pt x="3448050" y="2228850"/>
                  </a:lnTo>
                  <a:lnTo>
                    <a:pt x="5162550" y="2228850"/>
                  </a:lnTo>
                  <a:lnTo>
                    <a:pt x="8610600" y="2228850"/>
                  </a:lnTo>
                  <a:lnTo>
                    <a:pt x="8610600" y="1619250"/>
                  </a:lnTo>
                  <a:close/>
                </a:path>
                <a:path w="8610600" h="2228850">
                  <a:moveTo>
                    <a:pt x="8610600" y="0"/>
                  </a:moveTo>
                  <a:lnTo>
                    <a:pt x="5162550" y="0"/>
                  </a:lnTo>
                  <a:lnTo>
                    <a:pt x="3448050" y="0"/>
                  </a:lnTo>
                  <a:lnTo>
                    <a:pt x="0" y="0"/>
                  </a:lnTo>
                  <a:lnTo>
                    <a:pt x="0" y="1524000"/>
                  </a:lnTo>
                  <a:lnTo>
                    <a:pt x="3448050" y="1524000"/>
                  </a:lnTo>
                  <a:lnTo>
                    <a:pt x="5162550" y="1524000"/>
                  </a:lnTo>
                  <a:lnTo>
                    <a:pt x="8610600" y="1524000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58800" y="608806"/>
            <a:ext cx="8049259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65" dirty="0"/>
              <a:t>O</a:t>
            </a:r>
            <a:r>
              <a:rPr spc="-95" dirty="0"/>
              <a:t> </a:t>
            </a:r>
            <a:r>
              <a:rPr spc="-295" dirty="0"/>
              <a:t>NOVO</a:t>
            </a:r>
            <a:r>
              <a:rPr spc="-90" dirty="0"/>
              <a:t> </a:t>
            </a:r>
            <a:r>
              <a:rPr spc="-229" dirty="0"/>
              <a:t>CENÁRIO</a:t>
            </a:r>
            <a:r>
              <a:rPr spc="-85" dirty="0"/>
              <a:t> </a:t>
            </a:r>
            <a:r>
              <a:rPr spc="-229" dirty="0"/>
              <a:t>TRIBUTÁRIO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8799" y="1349665"/>
            <a:ext cx="9042401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pc="-155" dirty="0">
                <a:solidFill>
                  <a:srgbClr val="A8D0FF"/>
                </a:solidFill>
                <a:latin typeface="DejaVu Sans"/>
                <a:cs typeface="DejaVu Sans"/>
              </a:rPr>
              <a:t>Primeiro muita </a:t>
            </a:r>
            <a:r>
              <a:rPr spc="-130" dirty="0" err="1">
                <a:solidFill>
                  <a:srgbClr val="A8D0FF"/>
                </a:solidFill>
                <a:latin typeface="DejaVu Sans"/>
                <a:cs typeface="DejaVu Sans"/>
              </a:rPr>
              <a:t>complexidade</a:t>
            </a:r>
            <a:r>
              <a:rPr spc="-3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pc="-130" dirty="0">
                <a:solidFill>
                  <a:srgbClr val="A8D0FF"/>
                </a:solidFill>
                <a:latin typeface="DejaVu Sans"/>
                <a:cs typeface="DejaVu Sans"/>
              </a:rPr>
              <a:t>mas existe promessa de </a:t>
            </a:r>
            <a:r>
              <a:rPr spc="-3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80" dirty="0">
                <a:solidFill>
                  <a:srgbClr val="A8D0FF"/>
                </a:solidFill>
                <a:latin typeface="DejaVu Sans"/>
                <a:cs typeface="DejaVu Sans"/>
              </a:rPr>
              <a:t>simpli</a:t>
            </a:r>
            <a:r>
              <a:rPr spc="-80" dirty="0">
                <a:solidFill>
                  <a:srgbClr val="A8D0FF"/>
                </a:solidFill>
                <a:latin typeface="Arial"/>
                <a:cs typeface="Arial"/>
              </a:rPr>
              <a:t>ﬁ</a:t>
            </a:r>
            <a:r>
              <a:rPr spc="-80" dirty="0">
                <a:solidFill>
                  <a:srgbClr val="A8D0FF"/>
                </a:solidFill>
                <a:latin typeface="DejaVu Sans"/>
                <a:cs typeface="DejaVu Sans"/>
              </a:rPr>
              <a:t>cação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90" dirty="0">
                <a:solidFill>
                  <a:srgbClr val="A8D0FF"/>
                </a:solidFill>
                <a:latin typeface="DejaVu Sans"/>
                <a:cs typeface="DejaVu Sans"/>
              </a:rPr>
              <a:t>tributária</a:t>
            </a:r>
            <a:endParaRPr dirty="0"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1499" y="2047874"/>
            <a:ext cx="8610600" cy="293029"/>
          </a:xfrm>
          <a:prstGeom prst="rect">
            <a:avLst/>
          </a:prstGeom>
          <a:solidFill>
            <a:srgbClr val="A8D0FF">
              <a:alpha val="14898"/>
            </a:srgbClr>
          </a:solidFill>
        </p:spPr>
        <p:txBody>
          <a:bodyPr vert="horz" wrap="square" lIns="0" tIns="92075" rIns="0" bIns="0" rtlCol="0">
            <a:spAutoFit/>
          </a:bodyPr>
          <a:lstStyle/>
          <a:p>
            <a:pPr marL="1045844">
              <a:lnSpc>
                <a:spcPct val="100000"/>
              </a:lnSpc>
              <a:spcBef>
                <a:spcPts val="725"/>
              </a:spcBef>
              <a:tabLst>
                <a:tab pos="5741670" algn="l"/>
              </a:tabLst>
            </a:pPr>
            <a:r>
              <a:rPr sz="1300" b="1" spc="-85" dirty="0">
                <a:solidFill>
                  <a:srgbClr val="DFF0FF"/>
                </a:solidFill>
                <a:latin typeface="DejaVu Sans"/>
                <a:cs typeface="DejaVu Sans"/>
              </a:rPr>
              <a:t>SISTEMA</a:t>
            </a:r>
            <a:r>
              <a:rPr sz="1300" b="1" spc="1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300" b="1" spc="-20" dirty="0">
                <a:solidFill>
                  <a:srgbClr val="DFF0FF"/>
                </a:solidFill>
                <a:latin typeface="DejaVu Sans"/>
                <a:cs typeface="DejaVu Sans"/>
              </a:rPr>
              <a:t>ATUAL</a:t>
            </a:r>
            <a:r>
              <a:rPr sz="1300" b="1" dirty="0">
                <a:solidFill>
                  <a:srgbClr val="DFF0FF"/>
                </a:solidFill>
                <a:latin typeface="DejaVu Sans"/>
                <a:cs typeface="DejaVu Sans"/>
              </a:rPr>
              <a:t>	</a:t>
            </a:r>
            <a:r>
              <a:rPr sz="1300" b="1" spc="-114" dirty="0">
                <a:solidFill>
                  <a:srgbClr val="DFF0FF"/>
                </a:solidFill>
                <a:latin typeface="DejaVu Sans"/>
                <a:cs typeface="DejaVu Sans"/>
              </a:rPr>
              <a:t>NOVO</a:t>
            </a:r>
            <a:r>
              <a:rPr sz="1300" b="1" spc="-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300" b="1" spc="-85" dirty="0">
                <a:solidFill>
                  <a:srgbClr val="DFF0FF"/>
                </a:solidFill>
                <a:latin typeface="DejaVu Sans"/>
                <a:cs typeface="DejaVu Sans"/>
              </a:rPr>
              <a:t>SISTEMA</a:t>
            </a:r>
            <a:r>
              <a:rPr sz="1300" b="1" spc="-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300" b="1" spc="-85" dirty="0">
                <a:solidFill>
                  <a:srgbClr val="DFF0FF"/>
                </a:solidFill>
                <a:latin typeface="DejaVu Sans"/>
                <a:cs typeface="DejaVu Sans"/>
              </a:rPr>
              <a:t>(IVA</a:t>
            </a:r>
            <a:r>
              <a:rPr sz="1300" b="1" spc="-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300" b="1" spc="-10" dirty="0">
                <a:solidFill>
                  <a:srgbClr val="DFF0FF"/>
                </a:solidFill>
                <a:latin typeface="DejaVu Sans"/>
                <a:cs typeface="DejaVu Sans"/>
              </a:rPr>
              <a:t>DUAL)</a:t>
            </a:r>
            <a:endParaRPr sz="1300"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3899" y="2614923"/>
            <a:ext cx="3848150" cy="13276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spc="-90" dirty="0">
                <a:solidFill>
                  <a:srgbClr val="FFFFFF"/>
                </a:solidFill>
                <a:latin typeface="DejaVu Sans"/>
                <a:cs typeface="DejaVu Sans"/>
              </a:rPr>
              <a:t>PIS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(federal)</a:t>
            </a:r>
            <a:endParaRPr lang="pt-BR" sz="1100" spc="-10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COFINS</a:t>
            </a:r>
            <a:r>
              <a:rPr sz="13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75" dirty="0">
                <a:solidFill>
                  <a:srgbClr val="FFFFFF"/>
                </a:solidFill>
                <a:latin typeface="DejaVu Sans"/>
                <a:cs typeface="DejaVu Sans"/>
              </a:rPr>
              <a:t>(federal) </a:t>
            </a:r>
            <a:endParaRPr lang="pt-BR" sz="1100" spc="-75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spc="-65" dirty="0">
                <a:solidFill>
                  <a:srgbClr val="FFFFFF"/>
                </a:solidFill>
                <a:latin typeface="DejaVu Sans"/>
                <a:cs typeface="DejaVu Sans"/>
              </a:rPr>
              <a:t>IPI</a:t>
            </a:r>
            <a:r>
              <a:rPr sz="1350" spc="-4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(federal) </a:t>
            </a:r>
            <a:endParaRPr lang="pt-BR" sz="1350" spc="-10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12700" marR="5080">
              <a:lnSpc>
                <a:spcPct val="111100"/>
              </a:lnSpc>
              <a:spcBef>
                <a:spcPts val="100"/>
              </a:spcBef>
            </a:pPr>
            <a:endParaRPr lang="pt-BR" sz="700" spc="-105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ICMS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(estadual) </a:t>
            </a:r>
            <a:endParaRPr lang="pt-BR" sz="1350" spc="-25" dirty="0">
              <a:solidFill>
                <a:srgbClr val="FFFFFF"/>
              </a:solidFill>
              <a:latin typeface="DejaVu Sans"/>
              <a:cs typeface="DejaVu Sans"/>
            </a:endParaRPr>
          </a:p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50" spc="-90" dirty="0">
                <a:solidFill>
                  <a:srgbClr val="FFFFFF"/>
                </a:solidFill>
                <a:latin typeface="DejaVu Sans"/>
                <a:cs typeface="DejaVu Sans"/>
              </a:rPr>
              <a:t>ISS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(municipal)</a:t>
            </a:r>
            <a:endParaRPr sz="1350" dirty="0">
              <a:latin typeface="DejaVu Sans"/>
              <a:cs typeface="DejaVu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00200" y="3232546"/>
            <a:ext cx="3358714" cy="3624660"/>
            <a:chOff x="1600200" y="3232546"/>
            <a:chExt cx="3358714" cy="362466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1074" y="3232546"/>
              <a:ext cx="167840" cy="1452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1074" y="4394596"/>
              <a:ext cx="167840" cy="1452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0200" y="6723857"/>
              <a:ext cx="133349" cy="1333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844579" y="2729451"/>
            <a:ext cx="3325838" cy="43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1300" b="1" spc="-85" dirty="0">
                <a:solidFill>
                  <a:srgbClr val="FFFFFF"/>
                </a:solidFill>
                <a:latin typeface="DejaVu Sans"/>
                <a:cs typeface="DejaVu Sans"/>
              </a:rPr>
              <a:t>CBS</a:t>
            </a:r>
            <a:r>
              <a:rPr sz="1300" b="1" spc="-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DejaVu Sans"/>
                <a:cs typeface="DejaVu Sans"/>
              </a:rPr>
              <a:t>(Contribuição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sobre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Bens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DejaVu Sans"/>
                <a:cs typeface="DejaVu Sans"/>
              </a:rPr>
              <a:t>e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Serviços)</a:t>
            </a:r>
            <a:endParaRPr sz="1350" dirty="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00" i="1" spc="-95" dirty="0">
                <a:solidFill>
                  <a:srgbClr val="FFFFFF"/>
                </a:solidFill>
                <a:latin typeface="DejaVu Sans"/>
                <a:cs typeface="DejaVu Sans"/>
              </a:rPr>
              <a:t>Administração</a:t>
            </a:r>
            <a:r>
              <a:rPr sz="1100" i="1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i="1" spc="-10" dirty="0">
                <a:solidFill>
                  <a:srgbClr val="FFFFFF"/>
                </a:solidFill>
                <a:latin typeface="DejaVu Sans"/>
                <a:cs typeface="DejaVu Sans"/>
              </a:rPr>
              <a:t>Federal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67945" y="3431494"/>
            <a:ext cx="3149056" cy="432810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300" b="1" spc="-75" dirty="0">
                <a:solidFill>
                  <a:srgbClr val="FFFFFF"/>
                </a:solidFill>
                <a:latin typeface="DejaVu Sans"/>
                <a:cs typeface="DejaVu Sans"/>
              </a:rPr>
              <a:t>IBS</a:t>
            </a:r>
            <a:r>
              <a:rPr sz="1300" b="1" spc="-5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DejaVu Sans"/>
                <a:cs typeface="DejaVu Sans"/>
              </a:rPr>
              <a:t>(Imposto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sobre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Bens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55" dirty="0">
                <a:solidFill>
                  <a:srgbClr val="FFFFFF"/>
                </a:solidFill>
                <a:latin typeface="DejaVu Sans"/>
                <a:cs typeface="DejaVu Sans"/>
              </a:rPr>
              <a:t>Serviços)</a:t>
            </a:r>
            <a:endParaRPr sz="1350" dirty="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00" i="1" spc="-95" dirty="0">
                <a:solidFill>
                  <a:schemeClr val="bg1"/>
                </a:solidFill>
                <a:latin typeface="DejaVu Sans"/>
                <a:cs typeface="DejaVu Sans"/>
              </a:rPr>
              <a:t>Administração</a:t>
            </a:r>
            <a:r>
              <a:rPr sz="1100" i="1" spc="-30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100" i="1" spc="-90" dirty="0">
                <a:solidFill>
                  <a:schemeClr val="bg1"/>
                </a:solidFill>
                <a:latin typeface="DejaVu Sans"/>
                <a:cs typeface="DejaVu Sans"/>
              </a:rPr>
              <a:t>Estadual</a:t>
            </a:r>
            <a:r>
              <a:rPr sz="1100" i="1" spc="-25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100" i="1" spc="-105" dirty="0">
                <a:solidFill>
                  <a:schemeClr val="bg1"/>
                </a:solidFill>
                <a:latin typeface="DejaVu Sans"/>
                <a:cs typeface="DejaVu Sans"/>
              </a:rPr>
              <a:t>e</a:t>
            </a:r>
            <a:r>
              <a:rPr sz="1100" i="1" spc="-25" dirty="0">
                <a:solidFill>
                  <a:schemeClr val="bg1"/>
                </a:solidFill>
                <a:latin typeface="DejaVu Sans"/>
                <a:cs typeface="DejaVu Sans"/>
              </a:rPr>
              <a:t> </a:t>
            </a:r>
            <a:r>
              <a:rPr sz="1100" i="1" spc="-10" dirty="0">
                <a:solidFill>
                  <a:schemeClr val="bg1"/>
                </a:solidFill>
                <a:latin typeface="DejaVu Sans"/>
                <a:cs typeface="DejaVu Sans"/>
              </a:rPr>
              <a:t>Municipal</a:t>
            </a:r>
            <a:endParaRPr sz="1100" dirty="0">
              <a:solidFill>
                <a:schemeClr val="bg1"/>
              </a:solidFill>
              <a:latin typeface="DejaVu Sans"/>
              <a:cs typeface="DejaVu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4374" y="4212551"/>
            <a:ext cx="3167380" cy="45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1100"/>
              </a:lnSpc>
              <a:spcBef>
                <a:spcPts val="100"/>
              </a:spcBef>
            </a:pP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Sistemas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independentes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14" dirty="0">
                <a:solidFill>
                  <a:srgbClr val="FFFFFF"/>
                </a:solidFill>
                <a:latin typeface="DejaVu Sans"/>
                <a:cs typeface="DejaVu Sans"/>
              </a:rPr>
              <a:t>com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diferentes </a:t>
            </a:r>
            <a:r>
              <a:rPr sz="1350" spc="-85" dirty="0">
                <a:solidFill>
                  <a:srgbClr val="FFFFFF"/>
                </a:solidFill>
                <a:latin typeface="DejaVu Sans"/>
                <a:cs typeface="DejaVu Sans"/>
              </a:rPr>
              <a:t>regras,</a:t>
            </a:r>
            <a:r>
              <a:rPr sz="1350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DejaVu Sans"/>
                <a:cs typeface="DejaVu Sans"/>
              </a:rPr>
              <a:t>alíquotas</a:t>
            </a:r>
            <a:r>
              <a:rPr sz="1350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350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DejaVu Sans"/>
                <a:cs typeface="DejaVu Sans"/>
              </a:rPr>
              <a:t>obrigações</a:t>
            </a:r>
            <a:r>
              <a:rPr sz="1350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65" dirty="0">
                <a:solidFill>
                  <a:srgbClr val="FFFFFF"/>
                </a:solidFill>
                <a:latin typeface="DejaVu Sans"/>
                <a:cs typeface="DejaVu Sans"/>
              </a:rPr>
              <a:t>acessórias</a:t>
            </a:r>
            <a:endParaRPr sz="1350">
              <a:latin typeface="DejaVu Sans"/>
              <a:cs typeface="DejaVu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80645" y="4212551"/>
            <a:ext cx="2498725" cy="45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1100"/>
              </a:lnSpc>
              <a:spcBef>
                <a:spcPts val="100"/>
              </a:spcBef>
            </a:pP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Sistema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70" dirty="0">
                <a:solidFill>
                  <a:srgbClr val="FFFFFF"/>
                </a:solidFill>
                <a:latin typeface="DejaVu Sans"/>
                <a:cs typeface="DejaVu Sans"/>
              </a:rPr>
              <a:t>uni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350" spc="-70" dirty="0">
                <a:solidFill>
                  <a:srgbClr val="FFFFFF"/>
                </a:solidFill>
                <a:latin typeface="DejaVu Sans"/>
                <a:cs typeface="DejaVu Sans"/>
              </a:rPr>
              <a:t>cado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14" dirty="0">
                <a:solidFill>
                  <a:srgbClr val="FFFFFF"/>
                </a:solidFill>
                <a:latin typeface="DejaVu Sans"/>
                <a:cs typeface="DejaVu Sans"/>
              </a:rPr>
              <a:t>com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regras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harmonizadas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DejaVu Sans"/>
                <a:cs typeface="DejaVu Sans"/>
              </a:rPr>
              <a:t>legislação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DejaVu Sans"/>
                <a:cs typeface="DejaVu Sans"/>
              </a:rPr>
              <a:t>única</a:t>
            </a:r>
            <a:endParaRPr sz="1350" dirty="0">
              <a:latin typeface="DejaVu Sans"/>
              <a:cs typeface="DejaVu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1600" y="6642693"/>
            <a:ext cx="6984690" cy="5296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16559" algn="ctr">
              <a:lnSpc>
                <a:spcPts val="1340"/>
              </a:lnSpc>
              <a:spcBef>
                <a:spcPts val="130"/>
              </a:spcBef>
            </a:pPr>
            <a:r>
              <a:rPr lang="pt-BR" sz="1150" spc="-70" dirty="0">
                <a:solidFill>
                  <a:srgbClr val="FFFFFF"/>
                </a:solidFill>
                <a:latin typeface="DejaVu Sans"/>
                <a:cs typeface="DejaVu Sans"/>
              </a:rPr>
              <a:t>A reforma busca simplificar o sistema tributário, reduzir o custo de conformidade e eliminar a cumulatividade de tributos, favorecendo a competitividade das empresas brasileiras.</a:t>
            </a:r>
          </a:p>
          <a:p>
            <a:pPr marL="416559">
              <a:lnSpc>
                <a:spcPts val="1340"/>
              </a:lnSpc>
              <a:spcBef>
                <a:spcPts val="130"/>
              </a:spcBef>
            </a:pPr>
            <a:endParaRPr lang="pt-BR" sz="1150" spc="-70" dirty="0">
              <a:solidFill>
                <a:srgbClr val="FFFFFF"/>
              </a:solidFill>
              <a:latin typeface="DejaVu Sans"/>
              <a:cs typeface="DejaVu San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6849" y="5172074"/>
            <a:ext cx="190499" cy="19049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924768" y="5382747"/>
            <a:ext cx="1338570" cy="882293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98145">
              <a:lnSpc>
                <a:spcPct val="100000"/>
              </a:lnSpc>
              <a:spcBef>
                <a:spcPts val="640"/>
              </a:spcBef>
            </a:pPr>
            <a:r>
              <a:rPr sz="1450" b="1" spc="-20" dirty="0">
                <a:solidFill>
                  <a:srgbClr val="DFF0FF"/>
                </a:solidFill>
                <a:latin typeface="DejaVu Sans"/>
                <a:cs typeface="DejaVu Sans"/>
              </a:rPr>
              <a:t>2024</a:t>
            </a:r>
            <a:endParaRPr sz="1450" dirty="0">
              <a:latin typeface="DejaVu Sans"/>
              <a:cs typeface="DejaVu Sans"/>
            </a:endParaRPr>
          </a:p>
          <a:p>
            <a:pPr marL="12700" marR="5080" indent="13335" algn="just">
              <a:lnSpc>
                <a:spcPts val="1280"/>
              </a:lnSpc>
              <a:spcBef>
                <a:spcPts val="560"/>
              </a:spcBef>
            </a:pP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Início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FFFFFF"/>
                </a:solidFill>
                <a:latin typeface="DejaVu Sans"/>
                <a:cs typeface="DejaVu Sans"/>
              </a:rPr>
              <a:t>da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transição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Regulamentação</a:t>
            </a:r>
            <a:r>
              <a:rPr sz="1150" spc="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85" dirty="0">
                <a:solidFill>
                  <a:srgbClr val="FFFFFF"/>
                </a:solidFill>
                <a:latin typeface="DejaVu Sans"/>
                <a:cs typeface="DejaVu Sans"/>
              </a:rPr>
              <a:t>e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adaptação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inicial</a:t>
            </a:r>
            <a:endParaRPr sz="1150" dirty="0">
              <a:latin typeface="DejaVu Sans"/>
              <a:cs typeface="DejaVu San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76649" y="5172074"/>
            <a:ext cx="190499" cy="190499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2994074" y="5382747"/>
            <a:ext cx="1555750" cy="7086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450" b="1" spc="-20" dirty="0">
                <a:solidFill>
                  <a:srgbClr val="DFF0FF"/>
                </a:solidFill>
                <a:latin typeface="DejaVu Sans"/>
                <a:cs typeface="DejaVu Sans"/>
              </a:rPr>
              <a:t>2025</a:t>
            </a:r>
            <a:endParaRPr sz="1450">
              <a:latin typeface="DejaVu Sans"/>
              <a:cs typeface="DejaVu Sans"/>
            </a:endParaRPr>
          </a:p>
          <a:p>
            <a:pPr marL="12700" marR="5080" algn="ctr">
              <a:lnSpc>
                <a:spcPts val="1280"/>
              </a:lnSpc>
              <a:spcBef>
                <a:spcPts val="560"/>
              </a:spcBef>
            </a:pP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Implementação</a:t>
            </a:r>
            <a:r>
              <a:rPr sz="1150" spc="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parcial </a:t>
            </a:r>
            <a:r>
              <a:rPr sz="1150" spc="-90" dirty="0">
                <a:solidFill>
                  <a:srgbClr val="FFFFFF"/>
                </a:solidFill>
                <a:latin typeface="DejaVu Sans"/>
                <a:cs typeface="DejaVu Sans"/>
              </a:rPr>
              <a:t>CBS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início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teste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IBS</a:t>
            </a:r>
            <a:endParaRPr sz="1150">
              <a:latin typeface="DejaVu Sans"/>
              <a:cs typeface="DejaVu Sans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6448" y="5172074"/>
            <a:ext cx="190500" cy="19049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209232" y="5382747"/>
            <a:ext cx="1545590" cy="7086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450" b="1" spc="-20" dirty="0">
                <a:solidFill>
                  <a:srgbClr val="DFF0FF"/>
                </a:solidFill>
                <a:latin typeface="DejaVu Sans"/>
                <a:cs typeface="DejaVu Sans"/>
              </a:rPr>
              <a:t>2026</a:t>
            </a:r>
            <a:endParaRPr sz="1450">
              <a:latin typeface="DejaVu Sans"/>
              <a:cs typeface="DejaVu Sans"/>
            </a:endParaRPr>
          </a:p>
          <a:p>
            <a:pPr marL="12700" marR="5080" indent="334010">
              <a:lnSpc>
                <a:spcPts val="1280"/>
              </a:lnSpc>
              <a:spcBef>
                <a:spcPts val="560"/>
              </a:spcBef>
            </a:pP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Coexistência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Sistemas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95" dirty="0">
                <a:solidFill>
                  <a:srgbClr val="FFFFFF"/>
                </a:solidFill>
                <a:latin typeface="DejaVu Sans"/>
                <a:cs typeface="DejaVu Sans"/>
              </a:rPr>
              <a:t>em</a:t>
            </a:r>
            <a:r>
              <a:rPr sz="115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transição</a:t>
            </a:r>
            <a:endParaRPr sz="1150">
              <a:latin typeface="DejaVu Sans"/>
              <a:cs typeface="DejaVu San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96249" y="5172074"/>
            <a:ext cx="190499" cy="19049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485558" y="5382747"/>
            <a:ext cx="1412875" cy="7086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1450" b="1" spc="-75" dirty="0">
                <a:solidFill>
                  <a:srgbClr val="DFF0FF"/>
                </a:solidFill>
                <a:latin typeface="DejaVu Sans"/>
                <a:cs typeface="DejaVu Sans"/>
              </a:rPr>
              <a:t>2027-</a:t>
            </a:r>
            <a:r>
              <a:rPr sz="1450" b="1" spc="-20" dirty="0">
                <a:solidFill>
                  <a:srgbClr val="DFF0FF"/>
                </a:solidFill>
                <a:latin typeface="DejaVu Sans"/>
                <a:cs typeface="DejaVu Sans"/>
              </a:rPr>
              <a:t>2033</a:t>
            </a:r>
            <a:endParaRPr sz="1450">
              <a:latin typeface="DejaVu Sans"/>
              <a:cs typeface="DejaVu Sans"/>
            </a:endParaRPr>
          </a:p>
          <a:p>
            <a:pPr marL="12700" marR="5080" algn="ctr">
              <a:lnSpc>
                <a:spcPts val="1280"/>
              </a:lnSpc>
              <a:spcBef>
                <a:spcPts val="560"/>
              </a:spcBef>
            </a:pP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Implementação</a:t>
            </a:r>
            <a:r>
              <a:rPr sz="1150" spc="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total </a:t>
            </a:r>
            <a:r>
              <a:rPr sz="1150" spc="-75" dirty="0">
                <a:solidFill>
                  <a:srgbClr val="FFFFFF"/>
                </a:solidFill>
                <a:latin typeface="DejaVu Sans"/>
                <a:cs typeface="DejaVu Sans"/>
              </a:rPr>
              <a:t>Transição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completa</a:t>
            </a:r>
            <a:endParaRPr sz="1150">
              <a:latin typeface="DejaVu Sans"/>
              <a:cs typeface="DejaVu San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58800" y="179102"/>
            <a:ext cx="3322954" cy="24109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1450" dirty="0" smtClean="0">
                <a:solidFill>
                  <a:schemeClr val="bg1"/>
                </a:solidFill>
                <a:latin typeface="DejaVu Sans"/>
                <a:cs typeface="DejaVu Sans"/>
              </a:rPr>
              <a:t>VSR - CONTABILIDADE</a:t>
            </a:r>
            <a:endParaRPr sz="1450" dirty="0">
              <a:solidFill>
                <a:schemeClr val="bg1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10">
            <a:extLst>
              <a:ext uri="{FF2B5EF4-FFF2-40B4-BE49-F238E27FC236}">
                <a16:creationId xmlns="" xmlns:a16="http://schemas.microsoft.com/office/drawing/2014/main" id="{9E9C22EF-29A2-DA96-FD9F-CDFB2F01DBE3}"/>
              </a:ext>
            </a:extLst>
          </p:cNvPr>
          <p:cNvSpPr/>
          <p:nvPr/>
        </p:nvSpPr>
        <p:spPr>
          <a:xfrm>
            <a:off x="5010508" y="4885309"/>
            <a:ext cx="4282239" cy="1182700"/>
          </a:xfrm>
          <a:custGeom>
            <a:avLst/>
            <a:gdLst/>
            <a:ahLst/>
            <a:cxnLst/>
            <a:rect l="l" t="t" r="r" b="b"/>
            <a:pathLst>
              <a:path w="5486400" h="990600">
                <a:moveTo>
                  <a:pt x="5415202" y="990599"/>
                </a:moveTo>
                <a:lnTo>
                  <a:pt x="71196" y="990599"/>
                </a:lnTo>
                <a:lnTo>
                  <a:pt x="66241" y="990111"/>
                </a:lnTo>
                <a:lnTo>
                  <a:pt x="29705" y="974977"/>
                </a:lnTo>
                <a:lnTo>
                  <a:pt x="3885" y="938937"/>
                </a:lnTo>
                <a:lnTo>
                  <a:pt x="0" y="919402"/>
                </a:lnTo>
                <a:lnTo>
                  <a:pt x="0" y="914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15202" y="0"/>
                </a:lnTo>
                <a:lnTo>
                  <a:pt x="5456694" y="15621"/>
                </a:lnTo>
                <a:lnTo>
                  <a:pt x="5482512" y="51661"/>
                </a:lnTo>
                <a:lnTo>
                  <a:pt x="5486399" y="71196"/>
                </a:lnTo>
                <a:lnTo>
                  <a:pt x="5486399" y="919402"/>
                </a:lnTo>
                <a:lnTo>
                  <a:pt x="5470776" y="960893"/>
                </a:lnTo>
                <a:lnTo>
                  <a:pt x="5434736" y="986712"/>
                </a:lnTo>
                <a:lnTo>
                  <a:pt x="5420157" y="990111"/>
                </a:lnTo>
                <a:lnTo>
                  <a:pt x="5415202" y="990599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10">
            <a:extLst>
              <a:ext uri="{FF2B5EF4-FFF2-40B4-BE49-F238E27FC236}">
                <a16:creationId xmlns="" xmlns:a16="http://schemas.microsoft.com/office/drawing/2014/main" id="{2BAFFA6F-9453-2638-0AAE-A2EDCB08580B}"/>
              </a:ext>
            </a:extLst>
          </p:cNvPr>
          <p:cNvSpPr/>
          <p:nvPr/>
        </p:nvSpPr>
        <p:spPr>
          <a:xfrm>
            <a:off x="460854" y="4899933"/>
            <a:ext cx="4282239" cy="1182700"/>
          </a:xfrm>
          <a:custGeom>
            <a:avLst/>
            <a:gdLst/>
            <a:ahLst/>
            <a:cxnLst/>
            <a:rect l="l" t="t" r="r" b="b"/>
            <a:pathLst>
              <a:path w="5486400" h="990600">
                <a:moveTo>
                  <a:pt x="5415202" y="990599"/>
                </a:moveTo>
                <a:lnTo>
                  <a:pt x="71196" y="990599"/>
                </a:lnTo>
                <a:lnTo>
                  <a:pt x="66241" y="990111"/>
                </a:lnTo>
                <a:lnTo>
                  <a:pt x="29705" y="974977"/>
                </a:lnTo>
                <a:lnTo>
                  <a:pt x="3885" y="938937"/>
                </a:lnTo>
                <a:lnTo>
                  <a:pt x="0" y="919402"/>
                </a:lnTo>
                <a:lnTo>
                  <a:pt x="0" y="9143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5415202" y="0"/>
                </a:lnTo>
                <a:lnTo>
                  <a:pt x="5456694" y="15621"/>
                </a:lnTo>
                <a:lnTo>
                  <a:pt x="5482512" y="51661"/>
                </a:lnTo>
                <a:lnTo>
                  <a:pt x="5486399" y="71196"/>
                </a:lnTo>
                <a:lnTo>
                  <a:pt x="5486399" y="919402"/>
                </a:lnTo>
                <a:lnTo>
                  <a:pt x="5470776" y="960893"/>
                </a:lnTo>
                <a:lnTo>
                  <a:pt x="5434736" y="986712"/>
                </a:lnTo>
                <a:lnTo>
                  <a:pt x="5420157" y="990111"/>
                </a:lnTo>
                <a:lnTo>
                  <a:pt x="5415202" y="990599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-104776" y="-3072652"/>
            <a:ext cx="9753599" cy="7315199"/>
            <a:chOff x="0" y="0"/>
            <a:chExt cx="9753599" cy="731519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753599" cy="73151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2957" y="1635391"/>
              <a:ext cx="8238490" cy="4318635"/>
            </a:xfrm>
            <a:custGeom>
              <a:avLst/>
              <a:gdLst/>
              <a:ahLst/>
              <a:cxnLst/>
              <a:rect l="l" t="t" r="r" b="b"/>
              <a:pathLst>
                <a:path w="8238490" h="4318635">
                  <a:moveTo>
                    <a:pt x="923556" y="3452914"/>
                  </a:moveTo>
                  <a:lnTo>
                    <a:pt x="903414" y="3412071"/>
                  </a:lnTo>
                  <a:lnTo>
                    <a:pt x="675157" y="3278962"/>
                  </a:lnTo>
                  <a:lnTo>
                    <a:pt x="641477" y="3271164"/>
                  </a:lnTo>
                  <a:lnTo>
                    <a:pt x="624586" y="3274784"/>
                  </a:lnTo>
                  <a:lnTo>
                    <a:pt x="609117" y="3283369"/>
                  </a:lnTo>
                  <a:lnTo>
                    <a:pt x="596836" y="3296145"/>
                  </a:lnTo>
                  <a:lnTo>
                    <a:pt x="588949" y="3311575"/>
                  </a:lnTo>
                  <a:lnTo>
                    <a:pt x="585812" y="3328593"/>
                  </a:lnTo>
                  <a:lnTo>
                    <a:pt x="587794" y="3346094"/>
                  </a:lnTo>
                  <a:lnTo>
                    <a:pt x="618604" y="3461105"/>
                  </a:lnTo>
                  <a:lnTo>
                    <a:pt x="43586" y="3615182"/>
                  </a:lnTo>
                  <a:lnTo>
                    <a:pt x="22390" y="3625697"/>
                  </a:lnTo>
                  <a:lnTo>
                    <a:pt x="7543" y="3642741"/>
                  </a:lnTo>
                  <a:lnTo>
                    <a:pt x="3911" y="3653091"/>
                  </a:lnTo>
                  <a:lnTo>
                    <a:pt x="0" y="3664483"/>
                  </a:lnTo>
                  <a:lnTo>
                    <a:pt x="12" y="3664724"/>
                  </a:lnTo>
                  <a:lnTo>
                    <a:pt x="1485" y="3688092"/>
                  </a:lnTo>
                  <a:lnTo>
                    <a:pt x="12001" y="3709289"/>
                  </a:lnTo>
                  <a:lnTo>
                    <a:pt x="29210" y="3724262"/>
                  </a:lnTo>
                  <a:lnTo>
                    <a:pt x="50787" y="3731679"/>
                  </a:lnTo>
                  <a:lnTo>
                    <a:pt x="74396" y="3730180"/>
                  </a:lnTo>
                  <a:lnTo>
                    <a:pt x="649427" y="3576104"/>
                  </a:lnTo>
                  <a:lnTo>
                    <a:pt x="680148" y="3690747"/>
                  </a:lnTo>
                  <a:lnTo>
                    <a:pt x="687197" y="3706977"/>
                  </a:lnTo>
                  <a:lnTo>
                    <a:pt x="698423" y="3720134"/>
                  </a:lnTo>
                  <a:lnTo>
                    <a:pt x="712952" y="3729520"/>
                  </a:lnTo>
                  <a:lnTo>
                    <a:pt x="729970" y="3734409"/>
                  </a:lnTo>
                  <a:lnTo>
                    <a:pt x="747661" y="3734143"/>
                  </a:lnTo>
                  <a:lnTo>
                    <a:pt x="789368" y="3705199"/>
                  </a:lnTo>
                  <a:lnTo>
                    <a:pt x="915657" y="3486480"/>
                  </a:lnTo>
                  <a:lnTo>
                    <a:pt x="923150" y="3464509"/>
                  </a:lnTo>
                  <a:lnTo>
                    <a:pt x="923556" y="3452914"/>
                  </a:lnTo>
                  <a:close/>
                </a:path>
                <a:path w="8238490" h="4318635">
                  <a:moveTo>
                    <a:pt x="973759" y="3859377"/>
                  </a:moveTo>
                  <a:lnTo>
                    <a:pt x="971880" y="3859492"/>
                  </a:lnTo>
                  <a:lnTo>
                    <a:pt x="971981" y="3859847"/>
                  </a:lnTo>
                  <a:lnTo>
                    <a:pt x="973759" y="3859377"/>
                  </a:lnTo>
                  <a:close/>
                </a:path>
                <a:path w="8238490" h="4318635">
                  <a:moveTo>
                    <a:pt x="1046289" y="3925201"/>
                  </a:moveTo>
                  <a:lnTo>
                    <a:pt x="1046264" y="3924947"/>
                  </a:lnTo>
                  <a:lnTo>
                    <a:pt x="1044790" y="3901592"/>
                  </a:lnTo>
                  <a:lnTo>
                    <a:pt x="1034275" y="3880396"/>
                  </a:lnTo>
                  <a:lnTo>
                    <a:pt x="1017066" y="3865410"/>
                  </a:lnTo>
                  <a:lnTo>
                    <a:pt x="995489" y="3858006"/>
                  </a:lnTo>
                  <a:lnTo>
                    <a:pt x="973759" y="3859377"/>
                  </a:lnTo>
                  <a:lnTo>
                    <a:pt x="396951" y="4013924"/>
                  </a:lnTo>
                  <a:lnTo>
                    <a:pt x="366141" y="3898925"/>
                  </a:lnTo>
                  <a:lnTo>
                    <a:pt x="359079" y="3882694"/>
                  </a:lnTo>
                  <a:lnTo>
                    <a:pt x="347865" y="3869537"/>
                  </a:lnTo>
                  <a:lnTo>
                    <a:pt x="333324" y="3860152"/>
                  </a:lnTo>
                  <a:lnTo>
                    <a:pt x="316306" y="3855262"/>
                  </a:lnTo>
                  <a:lnTo>
                    <a:pt x="298615" y="3855529"/>
                  </a:lnTo>
                  <a:lnTo>
                    <a:pt x="256908" y="3884472"/>
                  </a:lnTo>
                  <a:lnTo>
                    <a:pt x="130632" y="4103205"/>
                  </a:lnTo>
                  <a:lnTo>
                    <a:pt x="122720" y="4136771"/>
                  </a:lnTo>
                  <a:lnTo>
                    <a:pt x="124612" y="4148340"/>
                  </a:lnTo>
                  <a:lnTo>
                    <a:pt x="152273" y="4184332"/>
                  </a:lnTo>
                  <a:lnTo>
                    <a:pt x="371119" y="4310710"/>
                  </a:lnTo>
                  <a:lnTo>
                    <a:pt x="404799" y="4318508"/>
                  </a:lnTo>
                  <a:lnTo>
                    <a:pt x="421703" y="4314901"/>
                  </a:lnTo>
                  <a:lnTo>
                    <a:pt x="437159" y="4306303"/>
                  </a:lnTo>
                  <a:lnTo>
                    <a:pt x="449440" y="4293540"/>
                  </a:lnTo>
                  <a:lnTo>
                    <a:pt x="457339" y="4278096"/>
                  </a:lnTo>
                  <a:lnTo>
                    <a:pt x="460463" y="4261078"/>
                  </a:lnTo>
                  <a:lnTo>
                    <a:pt x="458482" y="4243578"/>
                  </a:lnTo>
                  <a:lnTo>
                    <a:pt x="427672" y="4128579"/>
                  </a:lnTo>
                  <a:lnTo>
                    <a:pt x="1002703" y="3974503"/>
                  </a:lnTo>
                  <a:lnTo>
                    <a:pt x="1023886" y="3963987"/>
                  </a:lnTo>
                  <a:lnTo>
                    <a:pt x="1038872" y="3946779"/>
                  </a:lnTo>
                  <a:lnTo>
                    <a:pt x="1046289" y="3925201"/>
                  </a:lnTo>
                  <a:close/>
                </a:path>
                <a:path w="8238490" h="4318635">
                  <a:moveTo>
                    <a:pt x="8225955" y="476465"/>
                  </a:moveTo>
                  <a:lnTo>
                    <a:pt x="7876006" y="414769"/>
                  </a:lnTo>
                  <a:lnTo>
                    <a:pt x="7876006" y="658749"/>
                  </a:lnTo>
                  <a:lnTo>
                    <a:pt x="7872654" y="672592"/>
                  </a:lnTo>
                  <a:lnTo>
                    <a:pt x="7864234" y="684072"/>
                  </a:lnTo>
                  <a:lnTo>
                    <a:pt x="7852524" y="691121"/>
                  </a:lnTo>
                  <a:lnTo>
                    <a:pt x="7839024" y="693216"/>
                  </a:lnTo>
                  <a:lnTo>
                    <a:pt x="7825181" y="689838"/>
                  </a:lnTo>
                  <a:lnTo>
                    <a:pt x="7807782" y="682053"/>
                  </a:lnTo>
                  <a:lnTo>
                    <a:pt x="7790523" y="675259"/>
                  </a:lnTo>
                  <a:lnTo>
                    <a:pt x="7773454" y="669721"/>
                  </a:lnTo>
                  <a:lnTo>
                    <a:pt x="7756665" y="665746"/>
                  </a:lnTo>
                  <a:lnTo>
                    <a:pt x="7742568" y="663930"/>
                  </a:lnTo>
                  <a:lnTo>
                    <a:pt x="7728394" y="663765"/>
                  </a:lnTo>
                  <a:lnTo>
                    <a:pt x="7714856" y="665314"/>
                  </a:lnTo>
                  <a:lnTo>
                    <a:pt x="7682382" y="685419"/>
                  </a:lnTo>
                  <a:lnTo>
                    <a:pt x="7679868" y="693915"/>
                  </a:lnTo>
                  <a:lnTo>
                    <a:pt x="7679512" y="699592"/>
                  </a:lnTo>
                  <a:lnTo>
                    <a:pt x="7717256" y="735774"/>
                  </a:lnTo>
                  <a:lnTo>
                    <a:pt x="7751978" y="753999"/>
                  </a:lnTo>
                  <a:lnTo>
                    <a:pt x="7753045" y="754418"/>
                  </a:lnTo>
                  <a:lnTo>
                    <a:pt x="7771536" y="763866"/>
                  </a:lnTo>
                  <a:lnTo>
                    <a:pt x="7809852" y="786752"/>
                  </a:lnTo>
                  <a:lnTo>
                    <a:pt x="7843571" y="818375"/>
                  </a:lnTo>
                  <a:lnTo>
                    <a:pt x="7862875" y="864679"/>
                  </a:lnTo>
                  <a:lnTo>
                    <a:pt x="7862290" y="893368"/>
                  </a:lnTo>
                  <a:lnTo>
                    <a:pt x="7838668" y="945705"/>
                  </a:lnTo>
                  <a:lnTo>
                    <a:pt x="7795819" y="975944"/>
                  </a:lnTo>
                  <a:lnTo>
                    <a:pt x="7751953" y="985710"/>
                  </a:lnTo>
                  <a:lnTo>
                    <a:pt x="7737107" y="986231"/>
                  </a:lnTo>
                  <a:lnTo>
                    <a:pt x="7730477" y="1023823"/>
                  </a:lnTo>
                  <a:lnTo>
                    <a:pt x="7725296" y="1036993"/>
                  </a:lnTo>
                  <a:lnTo>
                    <a:pt x="7715758" y="1046848"/>
                  </a:lnTo>
                  <a:lnTo>
                    <a:pt x="7703248" y="1052423"/>
                  </a:lnTo>
                  <a:lnTo>
                    <a:pt x="7689101" y="1052791"/>
                  </a:lnTo>
                  <a:lnTo>
                    <a:pt x="7675931" y="1047610"/>
                  </a:lnTo>
                  <a:lnTo>
                    <a:pt x="7666075" y="1038085"/>
                  </a:lnTo>
                  <a:lnTo>
                    <a:pt x="7660487" y="1025563"/>
                  </a:lnTo>
                  <a:lnTo>
                    <a:pt x="7660119" y="1011415"/>
                  </a:lnTo>
                  <a:lnTo>
                    <a:pt x="7667028" y="972286"/>
                  </a:lnTo>
                  <a:lnTo>
                    <a:pt x="7649578" y="965060"/>
                  </a:lnTo>
                  <a:lnTo>
                    <a:pt x="7593851" y="936028"/>
                  </a:lnTo>
                  <a:lnTo>
                    <a:pt x="7571194" y="898855"/>
                  </a:lnTo>
                  <a:lnTo>
                    <a:pt x="7571283" y="898563"/>
                  </a:lnTo>
                  <a:lnTo>
                    <a:pt x="7575347" y="885393"/>
                  </a:lnTo>
                  <a:lnTo>
                    <a:pt x="7584440" y="874585"/>
                  </a:lnTo>
                  <a:lnTo>
                    <a:pt x="7596594" y="868248"/>
                  </a:lnTo>
                  <a:lnTo>
                    <a:pt x="7610195" y="866902"/>
                  </a:lnTo>
                  <a:lnTo>
                    <a:pt x="7623670" y="871016"/>
                  </a:lnTo>
                  <a:lnTo>
                    <a:pt x="7628864" y="873747"/>
                  </a:lnTo>
                  <a:lnTo>
                    <a:pt x="7638351" y="879043"/>
                  </a:lnTo>
                  <a:lnTo>
                    <a:pt x="7658557" y="889990"/>
                  </a:lnTo>
                  <a:lnTo>
                    <a:pt x="7695997" y="907034"/>
                  </a:lnTo>
                  <a:lnTo>
                    <a:pt x="7744015" y="914704"/>
                  </a:lnTo>
                  <a:lnTo>
                    <a:pt x="7757312" y="913142"/>
                  </a:lnTo>
                  <a:lnTo>
                    <a:pt x="7768945" y="909777"/>
                  </a:lnTo>
                  <a:lnTo>
                    <a:pt x="7777391" y="905383"/>
                  </a:lnTo>
                  <a:lnTo>
                    <a:pt x="7784008" y="899541"/>
                  </a:lnTo>
                  <a:lnTo>
                    <a:pt x="7784147" y="899312"/>
                  </a:lnTo>
                  <a:lnTo>
                    <a:pt x="7785125" y="897737"/>
                  </a:lnTo>
                  <a:lnTo>
                    <a:pt x="7788745" y="891882"/>
                  </a:lnTo>
                  <a:lnTo>
                    <a:pt x="7791526" y="882027"/>
                  </a:lnTo>
                  <a:lnTo>
                    <a:pt x="7791856" y="874788"/>
                  </a:lnTo>
                  <a:lnTo>
                    <a:pt x="7790205" y="867968"/>
                  </a:lnTo>
                  <a:lnTo>
                    <a:pt x="7754150" y="836015"/>
                  </a:lnTo>
                  <a:lnTo>
                    <a:pt x="7698460" y="806831"/>
                  </a:lnTo>
                  <a:lnTo>
                    <a:pt x="7679893" y="796632"/>
                  </a:lnTo>
                  <a:lnTo>
                    <a:pt x="7645159" y="772337"/>
                  </a:lnTo>
                  <a:lnTo>
                    <a:pt x="7615987" y="734441"/>
                  </a:lnTo>
                  <a:lnTo>
                    <a:pt x="7609014" y="709930"/>
                  </a:lnTo>
                  <a:lnTo>
                    <a:pt x="7609700" y="681532"/>
                  </a:lnTo>
                  <a:lnTo>
                    <a:pt x="7609776" y="681329"/>
                  </a:lnTo>
                  <a:lnTo>
                    <a:pt x="7618971" y="652729"/>
                  </a:lnTo>
                  <a:lnTo>
                    <a:pt x="7654811" y="613206"/>
                  </a:lnTo>
                  <a:lnTo>
                    <a:pt x="7691564" y="597357"/>
                  </a:lnTo>
                  <a:lnTo>
                    <a:pt x="7734084" y="591947"/>
                  </a:lnTo>
                  <a:lnTo>
                    <a:pt x="7740751" y="554126"/>
                  </a:lnTo>
                  <a:lnTo>
                    <a:pt x="7745933" y="540956"/>
                  </a:lnTo>
                  <a:lnTo>
                    <a:pt x="7755471" y="531101"/>
                  </a:lnTo>
                  <a:lnTo>
                    <a:pt x="7767980" y="525526"/>
                  </a:lnTo>
                  <a:lnTo>
                    <a:pt x="7782128" y="525157"/>
                  </a:lnTo>
                  <a:lnTo>
                    <a:pt x="7795298" y="530339"/>
                  </a:lnTo>
                  <a:lnTo>
                    <a:pt x="7805153" y="539864"/>
                  </a:lnTo>
                  <a:lnTo>
                    <a:pt x="7810741" y="552386"/>
                  </a:lnTo>
                  <a:lnTo>
                    <a:pt x="7811109" y="566534"/>
                  </a:lnTo>
                  <a:lnTo>
                    <a:pt x="7804404" y="604570"/>
                  </a:lnTo>
                  <a:lnTo>
                    <a:pt x="7817879" y="609257"/>
                  </a:lnTo>
                  <a:lnTo>
                    <a:pt x="7855407" y="625119"/>
                  </a:lnTo>
                  <a:lnTo>
                    <a:pt x="7876006" y="658749"/>
                  </a:lnTo>
                  <a:lnTo>
                    <a:pt x="7876006" y="414769"/>
                  </a:lnTo>
                  <a:lnTo>
                    <a:pt x="7557605" y="358622"/>
                  </a:lnTo>
                  <a:lnTo>
                    <a:pt x="7529004" y="331393"/>
                  </a:lnTo>
                  <a:lnTo>
                    <a:pt x="7528636" y="317246"/>
                  </a:lnTo>
                  <a:lnTo>
                    <a:pt x="7533818" y="304076"/>
                  </a:lnTo>
                  <a:lnTo>
                    <a:pt x="7543355" y="294220"/>
                  </a:lnTo>
                  <a:lnTo>
                    <a:pt x="7555865" y="288632"/>
                  </a:lnTo>
                  <a:lnTo>
                    <a:pt x="7570013" y="288264"/>
                  </a:lnTo>
                  <a:lnTo>
                    <a:pt x="7710716" y="313080"/>
                  </a:lnTo>
                  <a:lnTo>
                    <a:pt x="7739329" y="340309"/>
                  </a:lnTo>
                  <a:lnTo>
                    <a:pt x="7724978" y="377482"/>
                  </a:lnTo>
                  <a:lnTo>
                    <a:pt x="7698308" y="383425"/>
                  </a:lnTo>
                  <a:lnTo>
                    <a:pt x="7944548" y="426847"/>
                  </a:lnTo>
                  <a:lnTo>
                    <a:pt x="7918107" y="416496"/>
                  </a:lnTo>
                  <a:lnTo>
                    <a:pt x="7898409" y="397484"/>
                  </a:lnTo>
                  <a:lnTo>
                    <a:pt x="7887284" y="372478"/>
                  </a:lnTo>
                  <a:lnTo>
                    <a:pt x="7886598" y="344093"/>
                  </a:lnTo>
                  <a:lnTo>
                    <a:pt x="7899006" y="273735"/>
                  </a:lnTo>
                  <a:lnTo>
                    <a:pt x="7582421" y="217919"/>
                  </a:lnTo>
                  <a:lnTo>
                    <a:pt x="7569251" y="212725"/>
                  </a:lnTo>
                  <a:lnTo>
                    <a:pt x="7559395" y="203200"/>
                  </a:lnTo>
                  <a:lnTo>
                    <a:pt x="7553807" y="190677"/>
                  </a:lnTo>
                  <a:lnTo>
                    <a:pt x="7553452" y="176530"/>
                  </a:lnTo>
                  <a:lnTo>
                    <a:pt x="7558633" y="163372"/>
                  </a:lnTo>
                  <a:lnTo>
                    <a:pt x="7568158" y="153517"/>
                  </a:lnTo>
                  <a:lnTo>
                    <a:pt x="7580681" y="147929"/>
                  </a:lnTo>
                  <a:lnTo>
                    <a:pt x="7594828" y="147561"/>
                  </a:lnTo>
                  <a:lnTo>
                    <a:pt x="7735532" y="172377"/>
                  </a:lnTo>
                  <a:lnTo>
                    <a:pt x="7748702" y="177558"/>
                  </a:lnTo>
                  <a:lnTo>
                    <a:pt x="7758544" y="187083"/>
                  </a:lnTo>
                  <a:lnTo>
                    <a:pt x="7764132" y="199605"/>
                  </a:lnTo>
                  <a:lnTo>
                    <a:pt x="7764500" y="213753"/>
                  </a:lnTo>
                  <a:lnTo>
                    <a:pt x="7759319" y="226923"/>
                  </a:lnTo>
                  <a:lnTo>
                    <a:pt x="7749794" y="236766"/>
                  </a:lnTo>
                  <a:lnTo>
                    <a:pt x="7737272" y="242354"/>
                  </a:lnTo>
                  <a:lnTo>
                    <a:pt x="7723124" y="242722"/>
                  </a:lnTo>
                  <a:lnTo>
                    <a:pt x="7899006" y="273735"/>
                  </a:lnTo>
                  <a:lnTo>
                    <a:pt x="7911414" y="203390"/>
                  </a:lnTo>
                  <a:lnTo>
                    <a:pt x="7936217" y="62674"/>
                  </a:lnTo>
                  <a:lnTo>
                    <a:pt x="7584453" y="660"/>
                  </a:lnTo>
                  <a:lnTo>
                    <a:pt x="7538758" y="0"/>
                  </a:lnTo>
                  <a:lnTo>
                    <a:pt x="7496607" y="13182"/>
                  </a:lnTo>
                  <a:lnTo>
                    <a:pt x="7460767" y="38290"/>
                  </a:lnTo>
                  <a:lnTo>
                    <a:pt x="7433958" y="73380"/>
                  </a:lnTo>
                  <a:lnTo>
                    <a:pt x="7418946" y="116547"/>
                  </a:lnTo>
                  <a:lnTo>
                    <a:pt x="7270089" y="960780"/>
                  </a:lnTo>
                  <a:lnTo>
                    <a:pt x="7269429" y="1006475"/>
                  </a:lnTo>
                  <a:lnTo>
                    <a:pt x="7282612" y="1048626"/>
                  </a:lnTo>
                  <a:lnTo>
                    <a:pt x="7307720" y="1084465"/>
                  </a:lnTo>
                  <a:lnTo>
                    <a:pt x="7342810" y="1111275"/>
                  </a:lnTo>
                  <a:lnTo>
                    <a:pt x="7385977" y="1126286"/>
                  </a:lnTo>
                  <a:lnTo>
                    <a:pt x="7948790" y="1225524"/>
                  </a:lnTo>
                  <a:lnTo>
                    <a:pt x="7994497" y="1226185"/>
                  </a:lnTo>
                  <a:lnTo>
                    <a:pt x="8036636" y="1213002"/>
                  </a:lnTo>
                  <a:lnTo>
                    <a:pt x="8072488" y="1187894"/>
                  </a:lnTo>
                  <a:lnTo>
                    <a:pt x="8099298" y="1152804"/>
                  </a:lnTo>
                  <a:lnTo>
                    <a:pt x="8108366" y="1126718"/>
                  </a:lnTo>
                  <a:lnTo>
                    <a:pt x="8114309" y="1109637"/>
                  </a:lnTo>
                  <a:lnTo>
                    <a:pt x="8177225" y="752856"/>
                  </a:lnTo>
                  <a:lnTo>
                    <a:pt x="8204251" y="599579"/>
                  </a:lnTo>
                  <a:lnTo>
                    <a:pt x="8225955" y="476465"/>
                  </a:lnTo>
                  <a:close/>
                </a:path>
                <a:path w="8238490" h="4318635">
                  <a:moveTo>
                    <a:pt x="8238363" y="406120"/>
                  </a:moveTo>
                  <a:lnTo>
                    <a:pt x="8006575" y="75082"/>
                  </a:lnTo>
                  <a:lnTo>
                    <a:pt x="7956956" y="356489"/>
                  </a:lnTo>
                  <a:lnTo>
                    <a:pt x="8238363" y="40612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7631" y="6917672"/>
              <a:ext cx="8610600" cy="342900"/>
            </a:xfrm>
            <a:custGeom>
              <a:avLst/>
              <a:gdLst/>
              <a:ahLst/>
              <a:cxnLst/>
              <a:rect l="l" t="t" r="r" b="b"/>
              <a:pathLst>
                <a:path w="8610600" h="342900">
                  <a:moveTo>
                    <a:pt x="8610598" y="342900"/>
                  </a:moveTo>
                  <a:lnTo>
                    <a:pt x="0" y="342900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8539402" y="0"/>
                  </a:lnTo>
                  <a:lnTo>
                    <a:pt x="8580891" y="15621"/>
                  </a:lnTo>
                  <a:lnTo>
                    <a:pt x="8606712" y="51660"/>
                  </a:lnTo>
                  <a:lnTo>
                    <a:pt x="8610598" y="71196"/>
                  </a:lnTo>
                  <a:lnTo>
                    <a:pt x="8610598" y="34290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622032" y="178132"/>
            <a:ext cx="3213099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pt-BR" sz="1500" b="1" spc="-130" dirty="0" smtClean="0">
                <a:solidFill>
                  <a:srgbClr val="DFF0FF"/>
                </a:solidFill>
                <a:latin typeface="DejaVu Sans"/>
                <a:cs typeface="DejaVu Sans"/>
              </a:rPr>
              <a:t>VSR - CONTABILIDADE</a:t>
            </a:r>
            <a:endParaRPr sz="1500" dirty="0"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71487" y="640572"/>
            <a:ext cx="8049259" cy="55562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0" spc="-300" dirty="0"/>
              <a:t>O</a:t>
            </a:r>
            <a:r>
              <a:rPr sz="3500" spc="-114" dirty="0"/>
              <a:t> </a:t>
            </a:r>
            <a:r>
              <a:rPr sz="3500" spc="-285" dirty="0"/>
              <a:t>QUE</a:t>
            </a:r>
            <a:r>
              <a:rPr sz="3500" spc="-110" dirty="0"/>
              <a:t> </a:t>
            </a:r>
            <a:r>
              <a:rPr sz="3500" spc="-245" dirty="0"/>
              <a:t>É</a:t>
            </a:r>
            <a:r>
              <a:rPr sz="3500" spc="-110" dirty="0"/>
              <a:t> </a:t>
            </a:r>
            <a:r>
              <a:rPr sz="3500" spc="-245" dirty="0"/>
              <a:t>SPLIT</a:t>
            </a:r>
            <a:r>
              <a:rPr sz="3500" spc="-110" dirty="0"/>
              <a:t> </a:t>
            </a:r>
            <a:r>
              <a:rPr sz="3500" spc="-365" dirty="0"/>
              <a:t>PAYMENT?</a:t>
            </a:r>
            <a:endParaRPr sz="3500" dirty="0"/>
          </a:p>
        </p:txBody>
      </p:sp>
      <p:sp>
        <p:nvSpPr>
          <p:cNvPr id="10" name="object 10"/>
          <p:cNvSpPr txBox="1"/>
          <p:nvPr/>
        </p:nvSpPr>
        <p:spPr>
          <a:xfrm>
            <a:off x="650875" y="1294606"/>
            <a:ext cx="5292725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>
                <a:solidFill>
                  <a:srgbClr val="A8D0FF"/>
                </a:solidFill>
                <a:latin typeface="DejaVu Sans"/>
                <a:cs typeface="DejaVu Sans"/>
              </a:rPr>
              <a:t>Entenda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30" dirty="0">
                <a:solidFill>
                  <a:srgbClr val="A8D0FF"/>
                </a:solidFill>
                <a:latin typeface="DejaVu Sans"/>
                <a:cs typeface="DejaVu Sans"/>
              </a:rPr>
              <a:t>o</a:t>
            </a:r>
            <a:r>
              <a:rPr spc="-2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35" dirty="0">
                <a:solidFill>
                  <a:srgbClr val="A8D0FF"/>
                </a:solidFill>
                <a:latin typeface="DejaVu Sans"/>
                <a:cs typeface="DejaVu Sans"/>
              </a:rPr>
              <a:t>mecanismo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40" dirty="0">
                <a:solidFill>
                  <a:srgbClr val="A8D0FF"/>
                </a:solidFill>
                <a:latin typeface="DejaVu Sans"/>
                <a:cs typeface="DejaVu Sans"/>
              </a:rPr>
              <a:t>de</a:t>
            </a:r>
            <a:r>
              <a:rPr spc="-2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35" dirty="0">
                <a:solidFill>
                  <a:srgbClr val="A8D0FF"/>
                </a:solidFill>
                <a:latin typeface="DejaVu Sans"/>
                <a:cs typeface="DejaVu Sans"/>
              </a:rPr>
              <a:t>pagamento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90" dirty="0">
                <a:solidFill>
                  <a:srgbClr val="A8D0FF"/>
                </a:solidFill>
                <a:latin typeface="DejaVu Sans"/>
                <a:cs typeface="DejaVu Sans"/>
              </a:rPr>
              <a:t>dividido</a:t>
            </a:r>
            <a:endParaRPr dirty="0"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2032" y="5028406"/>
            <a:ext cx="4003663" cy="943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5440" algn="ctr">
              <a:lnSpc>
                <a:spcPct val="100000"/>
              </a:lnSpc>
              <a:spcBef>
                <a:spcPts val="105"/>
              </a:spcBef>
            </a:pPr>
            <a:r>
              <a:rPr lang="pt-BR" sz="1650" b="1" spc="-10" dirty="0">
                <a:solidFill>
                  <a:srgbClr val="A8D0FF"/>
                </a:solidFill>
                <a:latin typeface="DejaVu Sans"/>
                <a:cs typeface="DejaVu Sans"/>
              </a:rPr>
              <a:t>ENTENDA MELHOR</a:t>
            </a:r>
            <a:endParaRPr sz="1650" dirty="0">
              <a:latin typeface="DejaVu Sans"/>
              <a:cs typeface="DejaVu Sans"/>
            </a:endParaRPr>
          </a:p>
          <a:p>
            <a:pPr marL="12700" marR="5080" algn="ctr">
              <a:lnSpc>
                <a:spcPct val="108700"/>
              </a:lnSpc>
              <a:spcBef>
                <a:spcPts val="875"/>
              </a:spcBef>
            </a:pP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Sistema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que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separa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automaticamente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valor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dos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tributos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no</a:t>
            </a:r>
            <a:r>
              <a:rPr sz="115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FFFFFF"/>
                </a:solidFill>
                <a:latin typeface="DejaVu Sans"/>
                <a:cs typeface="DejaVu Sans"/>
              </a:rPr>
              <a:t>momento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da</a:t>
            </a:r>
            <a:r>
              <a:rPr sz="115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venda,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direcionando-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os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diretamente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aos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cofres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públicos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85" dirty="0">
                <a:solidFill>
                  <a:srgbClr val="FFFFFF"/>
                </a:solidFill>
                <a:latin typeface="DejaVu Sans"/>
                <a:cs typeface="DejaVu Sans"/>
              </a:rPr>
              <a:t>sem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passar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pelo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40" dirty="0">
                <a:solidFill>
                  <a:srgbClr val="FFFFFF"/>
                </a:solidFill>
                <a:latin typeface="DejaVu Sans"/>
                <a:cs typeface="DejaVu Sans"/>
              </a:rPr>
              <a:t>caixa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da</a:t>
            </a:r>
            <a:r>
              <a:rPr sz="11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empresa.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3977" y="6977539"/>
            <a:ext cx="8636000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" algn="ctr">
              <a:lnSpc>
                <a:spcPct val="100000"/>
              </a:lnSpc>
              <a:spcBef>
                <a:spcPts val="980"/>
              </a:spcBef>
            </a:pPr>
            <a:r>
              <a:rPr lang="pt-BR" sz="1150" b="1" spc="-80" dirty="0">
                <a:solidFill>
                  <a:srgbClr val="FFFFFF"/>
                </a:solidFill>
                <a:latin typeface="DejaVu Sans"/>
                <a:cs typeface="DejaVu Sans"/>
              </a:rPr>
              <a:t>Impacto</a:t>
            </a:r>
            <a:r>
              <a:rPr lang="pt-BR" sz="1150" b="1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b="1" spc="-60" dirty="0">
                <a:solidFill>
                  <a:srgbClr val="FFFFFF"/>
                </a:solidFill>
                <a:latin typeface="DejaVu Sans"/>
                <a:cs typeface="DejaVu Sans"/>
              </a:rPr>
              <a:t>direto:</a:t>
            </a:r>
            <a:r>
              <a:rPr lang="pt-BR" sz="1150" b="1" spc="-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85" dirty="0">
                <a:solidFill>
                  <a:srgbClr val="FFFFFF"/>
                </a:solidFill>
                <a:latin typeface="DejaVu Sans"/>
                <a:cs typeface="DejaVu Sans"/>
              </a:rPr>
              <a:t>Com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50" dirty="0">
                <a:solidFill>
                  <a:srgbClr val="FFFFFF"/>
                </a:solidFill>
                <a:latin typeface="DejaVu Sans"/>
                <a:cs typeface="DejaVu Sans"/>
              </a:rPr>
              <a:t>Split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70" dirty="0" err="1">
                <a:solidFill>
                  <a:srgbClr val="FFFFFF"/>
                </a:solidFill>
                <a:latin typeface="DejaVu Sans"/>
                <a:cs typeface="DejaVu Sans"/>
              </a:rPr>
              <a:t>Payment</a:t>
            </a:r>
            <a:r>
              <a:rPr lang="pt-BR" sz="1150" spc="-70" dirty="0">
                <a:solidFill>
                  <a:srgbClr val="FFFFFF"/>
                </a:solidFill>
                <a:latin typeface="DejaVu Sans"/>
                <a:cs typeface="DejaVu Sans"/>
              </a:rPr>
              <a:t>,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65" dirty="0">
                <a:solidFill>
                  <a:srgbClr val="FFFFFF"/>
                </a:solidFill>
                <a:latin typeface="DejaVu Sans"/>
                <a:cs typeface="DejaVu Sans"/>
              </a:rPr>
              <a:t>os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50" dirty="0">
                <a:solidFill>
                  <a:srgbClr val="FFFFFF"/>
                </a:solidFill>
                <a:latin typeface="DejaVu Sans"/>
                <a:cs typeface="DejaVu Sans"/>
              </a:rPr>
              <a:t>tributos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65" dirty="0">
                <a:solidFill>
                  <a:srgbClr val="FFFFFF"/>
                </a:solidFill>
                <a:latin typeface="DejaVu Sans"/>
                <a:cs typeface="DejaVu Sans"/>
              </a:rPr>
              <a:t>deixam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7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60" dirty="0">
                <a:solidFill>
                  <a:srgbClr val="FFFFFF"/>
                </a:solidFill>
                <a:latin typeface="DejaVu Sans"/>
                <a:cs typeface="DejaVu Sans"/>
              </a:rPr>
              <a:t>circular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60" dirty="0">
                <a:solidFill>
                  <a:srgbClr val="FFFFFF"/>
                </a:solidFill>
                <a:latin typeface="DejaVu Sans"/>
                <a:cs typeface="DejaVu Sans"/>
              </a:rPr>
              <a:t>pelo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60" dirty="0">
                <a:solidFill>
                  <a:srgbClr val="FFFFFF"/>
                </a:solidFill>
                <a:latin typeface="DejaVu Sans"/>
                <a:cs typeface="DejaVu Sans"/>
              </a:rPr>
              <a:t>caixa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65" dirty="0">
                <a:solidFill>
                  <a:srgbClr val="FFFFFF"/>
                </a:solidFill>
                <a:latin typeface="DejaVu Sans"/>
                <a:cs typeface="DejaVu Sans"/>
              </a:rPr>
              <a:t>da</a:t>
            </a:r>
            <a:r>
              <a:rPr lang="pt-BR"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75" dirty="0">
                <a:solidFill>
                  <a:srgbClr val="FFFFFF"/>
                </a:solidFill>
                <a:latin typeface="DejaVu Sans"/>
                <a:cs typeface="DejaVu Sans"/>
              </a:rPr>
              <a:t>empresa,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70" dirty="0">
                <a:solidFill>
                  <a:srgbClr val="FFFFFF"/>
                </a:solidFill>
                <a:latin typeface="DejaVu Sans"/>
                <a:cs typeface="DejaVu Sans"/>
              </a:rPr>
              <a:t>que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55" dirty="0">
                <a:solidFill>
                  <a:srgbClr val="FFFFFF"/>
                </a:solidFill>
                <a:latin typeface="DejaVu Sans"/>
                <a:cs typeface="DejaVu Sans"/>
              </a:rPr>
              <a:t>exigirá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80" dirty="0">
                <a:solidFill>
                  <a:srgbClr val="FFFFFF"/>
                </a:solidFill>
                <a:latin typeface="DejaVu Sans"/>
                <a:cs typeface="DejaVu Sans"/>
              </a:rPr>
              <a:t>uma</a:t>
            </a:r>
            <a:r>
              <a:rPr lang="pt-BR"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spc="-20" dirty="0">
                <a:solidFill>
                  <a:srgbClr val="FFFFFF"/>
                </a:solidFill>
                <a:latin typeface="DejaVu Sans"/>
                <a:cs typeface="DejaVu Sans"/>
              </a:rPr>
              <a:t>nova</a:t>
            </a:r>
            <a:endParaRPr lang="pt-BR" sz="1150" dirty="0">
              <a:latin typeface="DejaVu Sans"/>
              <a:cs typeface="DejaVu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50266" y="1873117"/>
            <a:ext cx="4663868" cy="1538890"/>
            <a:chOff x="2200274" y="1547209"/>
            <a:chExt cx="4663868" cy="1538890"/>
          </a:xfrm>
        </p:grpSpPr>
        <p:sp>
          <p:nvSpPr>
            <p:cNvPr id="20" name="object 20"/>
            <p:cNvSpPr/>
            <p:nvPr/>
          </p:nvSpPr>
          <p:spPr>
            <a:xfrm>
              <a:off x="2200274" y="23240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1"/>
                  </a:lnTo>
                  <a:lnTo>
                    <a:pt x="243882" y="736471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79" y="552299"/>
                  </a:lnTo>
                  <a:lnTo>
                    <a:pt x="22271" y="509355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7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5" y="86483"/>
                  </a:lnTo>
                  <a:lnTo>
                    <a:pt x="177167" y="59109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2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3" y="105059"/>
                  </a:lnTo>
                  <a:lnTo>
                    <a:pt x="675516" y="139296"/>
                  </a:lnTo>
                  <a:lnTo>
                    <a:pt x="702890" y="177167"/>
                  </a:lnTo>
                  <a:lnTo>
                    <a:pt x="725420" y="218101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2"/>
                  </a:lnTo>
                  <a:lnTo>
                    <a:pt x="712502" y="568796"/>
                  </a:lnTo>
                  <a:lnTo>
                    <a:pt x="687022" y="607961"/>
                  </a:lnTo>
                  <a:lnTo>
                    <a:pt x="656940" y="643712"/>
                  </a:lnTo>
                  <a:lnTo>
                    <a:pt x="622704" y="675516"/>
                  </a:lnTo>
                  <a:lnTo>
                    <a:pt x="584831" y="702890"/>
                  </a:lnTo>
                  <a:lnTo>
                    <a:pt x="543898" y="725419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28874" y="2533649"/>
              <a:ext cx="300355" cy="342900"/>
            </a:xfrm>
            <a:custGeom>
              <a:avLst/>
              <a:gdLst/>
              <a:ahLst/>
              <a:cxnLst/>
              <a:rect l="l" t="t" r="r" b="b"/>
              <a:pathLst>
                <a:path w="300355" h="342900">
                  <a:moveTo>
                    <a:pt x="155647" y="171449"/>
                  </a:moveTo>
                  <a:lnTo>
                    <a:pt x="144389" y="171449"/>
                  </a:lnTo>
                  <a:lnTo>
                    <a:pt x="138815" y="170900"/>
                  </a:lnTo>
                  <a:lnTo>
                    <a:pt x="97712" y="153875"/>
                  </a:lnTo>
                  <a:lnTo>
                    <a:pt x="72973" y="123730"/>
                  </a:lnTo>
                  <a:lnTo>
                    <a:pt x="64293" y="91353"/>
                  </a:lnTo>
                  <a:lnTo>
                    <a:pt x="64293" y="80096"/>
                  </a:lnTo>
                  <a:lnTo>
                    <a:pt x="75613" y="42778"/>
                  </a:lnTo>
                  <a:lnTo>
                    <a:pt x="107072" y="11320"/>
                  </a:lnTo>
                  <a:lnTo>
                    <a:pt x="144389" y="0"/>
                  </a:lnTo>
                  <a:lnTo>
                    <a:pt x="155647" y="0"/>
                  </a:lnTo>
                  <a:lnTo>
                    <a:pt x="192964" y="11320"/>
                  </a:lnTo>
                  <a:lnTo>
                    <a:pt x="224423" y="42778"/>
                  </a:lnTo>
                  <a:lnTo>
                    <a:pt x="235743" y="80096"/>
                  </a:lnTo>
                  <a:lnTo>
                    <a:pt x="235743" y="91353"/>
                  </a:lnTo>
                  <a:lnTo>
                    <a:pt x="224423" y="128671"/>
                  </a:lnTo>
                  <a:lnTo>
                    <a:pt x="192964" y="160129"/>
                  </a:lnTo>
                  <a:lnTo>
                    <a:pt x="155647" y="171449"/>
                  </a:lnTo>
                  <a:close/>
                </a:path>
                <a:path w="300355" h="342900">
                  <a:moveTo>
                    <a:pt x="182299" y="323544"/>
                  </a:moveTo>
                  <a:lnTo>
                    <a:pt x="117737" y="323544"/>
                  </a:lnTo>
                  <a:lnTo>
                    <a:pt x="140039" y="240565"/>
                  </a:lnTo>
                  <a:lnTo>
                    <a:pt x="130797" y="225162"/>
                  </a:lnTo>
                  <a:lnTo>
                    <a:pt x="127609" y="219737"/>
                  </a:lnTo>
                  <a:lnTo>
                    <a:pt x="125466" y="216187"/>
                  </a:lnTo>
                  <a:lnTo>
                    <a:pt x="123401" y="212638"/>
                  </a:lnTo>
                  <a:lnTo>
                    <a:pt x="128520" y="203596"/>
                  </a:lnTo>
                  <a:lnTo>
                    <a:pt x="171583" y="203596"/>
                  </a:lnTo>
                  <a:lnTo>
                    <a:pt x="176740" y="212638"/>
                  </a:lnTo>
                  <a:lnTo>
                    <a:pt x="159997" y="240565"/>
                  </a:lnTo>
                  <a:lnTo>
                    <a:pt x="182299" y="323544"/>
                  </a:lnTo>
                  <a:close/>
                </a:path>
                <a:path w="300355" h="342900">
                  <a:moveTo>
                    <a:pt x="279476" y="342899"/>
                  </a:moveTo>
                  <a:lnTo>
                    <a:pt x="20560" y="342899"/>
                  </a:lnTo>
                  <a:lnTo>
                    <a:pt x="12559" y="341279"/>
                  </a:lnTo>
                  <a:lnTo>
                    <a:pt x="6018" y="336864"/>
                  </a:lnTo>
                  <a:lnTo>
                    <a:pt x="1615" y="330326"/>
                  </a:lnTo>
                  <a:lnTo>
                    <a:pt x="0" y="322339"/>
                  </a:lnTo>
                  <a:lnTo>
                    <a:pt x="6163" y="286289"/>
                  </a:lnTo>
                  <a:lnTo>
                    <a:pt x="23239" y="255400"/>
                  </a:lnTo>
                  <a:lnTo>
                    <a:pt x="49105" y="231794"/>
                  </a:lnTo>
                  <a:lnTo>
                    <a:pt x="81639" y="217594"/>
                  </a:lnTo>
                  <a:lnTo>
                    <a:pt x="87064" y="216187"/>
                  </a:lnTo>
                  <a:lnTo>
                    <a:pt x="92288" y="219737"/>
                  </a:lnTo>
                  <a:lnTo>
                    <a:pt x="117737" y="323544"/>
                  </a:lnTo>
                  <a:lnTo>
                    <a:pt x="299794" y="323544"/>
                  </a:lnTo>
                  <a:lnTo>
                    <a:pt x="298425" y="330326"/>
                  </a:lnTo>
                  <a:lnTo>
                    <a:pt x="294026" y="336864"/>
                  </a:lnTo>
                  <a:lnTo>
                    <a:pt x="287492" y="341279"/>
                  </a:lnTo>
                  <a:lnTo>
                    <a:pt x="279476" y="342899"/>
                  </a:lnTo>
                  <a:close/>
                </a:path>
                <a:path w="300355" h="342900">
                  <a:moveTo>
                    <a:pt x="299794" y="323544"/>
                  </a:moveTo>
                  <a:lnTo>
                    <a:pt x="182299" y="323544"/>
                  </a:lnTo>
                  <a:lnTo>
                    <a:pt x="206409" y="225162"/>
                  </a:lnTo>
                  <a:lnTo>
                    <a:pt x="207847" y="219737"/>
                  </a:lnTo>
                  <a:lnTo>
                    <a:pt x="213071" y="216187"/>
                  </a:lnTo>
                  <a:lnTo>
                    <a:pt x="212701" y="216187"/>
                  </a:lnTo>
                  <a:lnTo>
                    <a:pt x="250931" y="231794"/>
                  </a:lnTo>
                  <a:lnTo>
                    <a:pt x="293873" y="286289"/>
                  </a:lnTo>
                  <a:lnTo>
                    <a:pt x="300037" y="322339"/>
                  </a:lnTo>
                  <a:lnTo>
                    <a:pt x="299794" y="3235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4969" y="2686032"/>
              <a:ext cx="201409" cy="17430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419893" y="23240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1"/>
                  </a:lnTo>
                  <a:lnTo>
                    <a:pt x="243882" y="736471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2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79" y="552299"/>
                  </a:lnTo>
                  <a:lnTo>
                    <a:pt x="22271" y="509355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6" y="86483"/>
                  </a:lnTo>
                  <a:lnTo>
                    <a:pt x="177167" y="59109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6"/>
                  </a:lnTo>
                  <a:lnTo>
                    <a:pt x="702890" y="177167"/>
                  </a:lnTo>
                  <a:lnTo>
                    <a:pt x="725419" y="218101"/>
                  </a:lnTo>
                  <a:lnTo>
                    <a:pt x="742768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6" y="436904"/>
                  </a:lnTo>
                  <a:lnTo>
                    <a:pt x="748198" y="482614"/>
                  </a:lnTo>
                  <a:lnTo>
                    <a:pt x="732997" y="526802"/>
                  </a:lnTo>
                  <a:lnTo>
                    <a:pt x="712501" y="568796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0" y="702890"/>
                  </a:lnTo>
                  <a:lnTo>
                    <a:pt x="543898" y="725419"/>
                  </a:lnTo>
                  <a:lnTo>
                    <a:pt x="500515" y="742769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18698" y="2545130"/>
              <a:ext cx="381000" cy="296545"/>
            </a:xfrm>
            <a:custGeom>
              <a:avLst/>
              <a:gdLst/>
              <a:ahLst/>
              <a:cxnLst/>
              <a:rect l="l" t="t" r="r" b="b"/>
              <a:pathLst>
                <a:path w="381000" h="296544">
                  <a:moveTo>
                    <a:pt x="380999" y="63499"/>
                  </a:moveTo>
                  <a:lnTo>
                    <a:pt x="0" y="63499"/>
                  </a:lnTo>
                  <a:lnTo>
                    <a:pt x="0" y="42333"/>
                  </a:lnTo>
                  <a:lnTo>
                    <a:pt x="3331" y="25868"/>
                  </a:lnTo>
                  <a:lnTo>
                    <a:pt x="12410" y="12410"/>
                  </a:lnTo>
                  <a:lnTo>
                    <a:pt x="25868" y="3331"/>
                  </a:lnTo>
                  <a:lnTo>
                    <a:pt x="42333" y="0"/>
                  </a:lnTo>
                  <a:lnTo>
                    <a:pt x="338666" y="0"/>
                  </a:lnTo>
                  <a:lnTo>
                    <a:pt x="355131" y="3331"/>
                  </a:lnTo>
                  <a:lnTo>
                    <a:pt x="368589" y="12410"/>
                  </a:lnTo>
                  <a:lnTo>
                    <a:pt x="377668" y="25868"/>
                  </a:lnTo>
                  <a:lnTo>
                    <a:pt x="380999" y="42333"/>
                  </a:lnTo>
                  <a:lnTo>
                    <a:pt x="380999" y="63499"/>
                  </a:lnTo>
                  <a:close/>
                </a:path>
                <a:path w="381000" h="296544">
                  <a:moveTo>
                    <a:pt x="338666" y="296333"/>
                  </a:moveTo>
                  <a:lnTo>
                    <a:pt x="42333" y="296333"/>
                  </a:lnTo>
                  <a:lnTo>
                    <a:pt x="25868" y="293002"/>
                  </a:lnTo>
                  <a:lnTo>
                    <a:pt x="12410" y="283922"/>
                  </a:lnTo>
                  <a:lnTo>
                    <a:pt x="3331" y="270465"/>
                  </a:lnTo>
                  <a:lnTo>
                    <a:pt x="0" y="253999"/>
                  </a:lnTo>
                  <a:lnTo>
                    <a:pt x="0" y="126999"/>
                  </a:lnTo>
                  <a:lnTo>
                    <a:pt x="380999" y="126999"/>
                  </a:lnTo>
                  <a:lnTo>
                    <a:pt x="380999" y="211666"/>
                  </a:lnTo>
                  <a:lnTo>
                    <a:pt x="68262" y="211666"/>
                  </a:lnTo>
                  <a:lnTo>
                    <a:pt x="63499" y="216429"/>
                  </a:lnTo>
                  <a:lnTo>
                    <a:pt x="63499" y="228070"/>
                  </a:lnTo>
                  <a:lnTo>
                    <a:pt x="68262" y="232833"/>
                  </a:lnTo>
                  <a:lnTo>
                    <a:pt x="380999" y="232833"/>
                  </a:lnTo>
                  <a:lnTo>
                    <a:pt x="380999" y="253999"/>
                  </a:lnTo>
                  <a:lnTo>
                    <a:pt x="377668" y="270465"/>
                  </a:lnTo>
                  <a:lnTo>
                    <a:pt x="368589" y="283922"/>
                  </a:lnTo>
                  <a:lnTo>
                    <a:pt x="355131" y="293002"/>
                  </a:lnTo>
                  <a:lnTo>
                    <a:pt x="338666" y="296333"/>
                  </a:lnTo>
                  <a:close/>
                </a:path>
                <a:path w="381000" h="296544">
                  <a:moveTo>
                    <a:pt x="152929" y="232833"/>
                  </a:moveTo>
                  <a:lnTo>
                    <a:pt x="122237" y="232833"/>
                  </a:lnTo>
                  <a:lnTo>
                    <a:pt x="126999" y="228070"/>
                  </a:lnTo>
                  <a:lnTo>
                    <a:pt x="126999" y="216429"/>
                  </a:lnTo>
                  <a:lnTo>
                    <a:pt x="122237" y="211666"/>
                  </a:lnTo>
                  <a:lnTo>
                    <a:pt x="152929" y="211666"/>
                  </a:lnTo>
                  <a:lnTo>
                    <a:pt x="148166" y="216429"/>
                  </a:lnTo>
                  <a:lnTo>
                    <a:pt x="148166" y="228070"/>
                  </a:lnTo>
                  <a:lnTo>
                    <a:pt x="152929" y="232833"/>
                  </a:lnTo>
                  <a:close/>
                </a:path>
                <a:path w="381000" h="296544">
                  <a:moveTo>
                    <a:pt x="380999" y="232833"/>
                  </a:moveTo>
                  <a:lnTo>
                    <a:pt x="249237" y="232833"/>
                  </a:lnTo>
                  <a:lnTo>
                    <a:pt x="253999" y="228070"/>
                  </a:lnTo>
                  <a:lnTo>
                    <a:pt x="253999" y="216429"/>
                  </a:lnTo>
                  <a:lnTo>
                    <a:pt x="249237" y="211666"/>
                  </a:lnTo>
                  <a:lnTo>
                    <a:pt x="380999" y="211666"/>
                  </a:lnTo>
                  <a:lnTo>
                    <a:pt x="380999" y="2328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9568" y="2701948"/>
              <a:ext cx="201409" cy="17430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562474" y="23240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3" y="750581"/>
                  </a:lnTo>
                  <a:lnTo>
                    <a:pt x="243882" y="736471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2"/>
                  </a:lnTo>
                  <a:lnTo>
                    <a:pt x="92504" y="629860"/>
                  </a:lnTo>
                  <a:lnTo>
                    <a:pt x="64209" y="592671"/>
                  </a:lnTo>
                  <a:lnTo>
                    <a:pt x="40680" y="552299"/>
                  </a:lnTo>
                  <a:lnTo>
                    <a:pt x="22271" y="509355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4"/>
                  </a:lnTo>
                  <a:lnTo>
                    <a:pt x="29001" y="235197"/>
                  </a:lnTo>
                  <a:lnTo>
                    <a:pt x="49497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5" y="86483"/>
                  </a:lnTo>
                  <a:lnTo>
                    <a:pt x="177167" y="59109"/>
                  </a:lnTo>
                  <a:lnTo>
                    <a:pt x="218100" y="36579"/>
                  </a:lnTo>
                  <a:lnTo>
                    <a:pt x="261484" y="19230"/>
                  </a:lnTo>
                  <a:lnTo>
                    <a:pt x="306669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2" y="29001"/>
                  </a:lnTo>
                  <a:lnTo>
                    <a:pt x="568795" y="49498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6"/>
                  </a:lnTo>
                  <a:lnTo>
                    <a:pt x="702889" y="177167"/>
                  </a:lnTo>
                  <a:lnTo>
                    <a:pt x="725420" y="218101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2"/>
                  </a:lnTo>
                  <a:lnTo>
                    <a:pt x="712501" y="568796"/>
                  </a:lnTo>
                  <a:lnTo>
                    <a:pt x="687021" y="607961"/>
                  </a:lnTo>
                  <a:lnTo>
                    <a:pt x="656940" y="643712"/>
                  </a:lnTo>
                  <a:lnTo>
                    <a:pt x="622703" y="675516"/>
                  </a:lnTo>
                  <a:lnTo>
                    <a:pt x="584831" y="702890"/>
                  </a:lnTo>
                  <a:lnTo>
                    <a:pt x="543898" y="725419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72024" y="2555140"/>
              <a:ext cx="343535" cy="300355"/>
            </a:xfrm>
            <a:custGeom>
              <a:avLst/>
              <a:gdLst/>
              <a:ahLst/>
              <a:cxnLst/>
              <a:rect l="l" t="t" r="r" b="b"/>
              <a:pathLst>
                <a:path w="343535" h="300355">
                  <a:moveTo>
                    <a:pt x="190202" y="132077"/>
                  </a:moveTo>
                  <a:lnTo>
                    <a:pt x="163413" y="96380"/>
                  </a:lnTo>
                  <a:lnTo>
                    <a:pt x="184308" y="68520"/>
                  </a:lnTo>
                  <a:lnTo>
                    <a:pt x="194615" y="57664"/>
                  </a:lnTo>
                  <a:lnTo>
                    <a:pt x="206987" y="49583"/>
                  </a:lnTo>
                  <a:lnTo>
                    <a:pt x="221037" y="44484"/>
                  </a:lnTo>
                  <a:lnTo>
                    <a:pt x="221370" y="44484"/>
                  </a:lnTo>
                  <a:lnTo>
                    <a:pt x="235743" y="42802"/>
                  </a:lnTo>
                  <a:lnTo>
                    <a:pt x="257174" y="42802"/>
                  </a:lnTo>
                  <a:lnTo>
                    <a:pt x="257174" y="12732"/>
                  </a:lnTo>
                  <a:lnTo>
                    <a:pt x="262398" y="4896"/>
                  </a:lnTo>
                  <a:lnTo>
                    <a:pt x="270435" y="1547"/>
                  </a:lnTo>
                  <a:lnTo>
                    <a:pt x="276611" y="0"/>
                  </a:lnTo>
                  <a:lnTo>
                    <a:pt x="282825" y="317"/>
                  </a:lnTo>
                  <a:lnTo>
                    <a:pt x="288687" y="2404"/>
                  </a:lnTo>
                  <a:lnTo>
                    <a:pt x="293809" y="6168"/>
                  </a:lnTo>
                  <a:lnTo>
                    <a:pt x="340689" y="53049"/>
                  </a:lnTo>
                  <a:lnTo>
                    <a:pt x="342966" y="58474"/>
                  </a:lnTo>
                  <a:lnTo>
                    <a:pt x="342966" y="69859"/>
                  </a:lnTo>
                  <a:lnTo>
                    <a:pt x="340689" y="75284"/>
                  </a:lnTo>
                  <a:lnTo>
                    <a:pt x="330309" y="85665"/>
                  </a:lnTo>
                  <a:lnTo>
                    <a:pt x="228979" y="85665"/>
                  </a:lnTo>
                  <a:lnTo>
                    <a:pt x="222617" y="88813"/>
                  </a:lnTo>
                  <a:lnTo>
                    <a:pt x="218598" y="94237"/>
                  </a:lnTo>
                  <a:lnTo>
                    <a:pt x="190202" y="132077"/>
                  </a:lnTo>
                  <a:close/>
                </a:path>
                <a:path w="343535" h="300355">
                  <a:moveTo>
                    <a:pt x="276544" y="299927"/>
                  </a:moveTo>
                  <a:lnTo>
                    <a:pt x="270368" y="298370"/>
                  </a:lnTo>
                  <a:lnTo>
                    <a:pt x="262331" y="295021"/>
                  </a:lnTo>
                  <a:lnTo>
                    <a:pt x="257108" y="287253"/>
                  </a:lnTo>
                  <a:lnTo>
                    <a:pt x="257108" y="257115"/>
                  </a:lnTo>
                  <a:lnTo>
                    <a:pt x="235743" y="257115"/>
                  </a:lnTo>
                  <a:lnTo>
                    <a:pt x="194615" y="242253"/>
                  </a:lnTo>
                  <a:lnTo>
                    <a:pt x="81438" y="94237"/>
                  </a:lnTo>
                  <a:lnTo>
                    <a:pt x="77420" y="88813"/>
                  </a:lnTo>
                  <a:lnTo>
                    <a:pt x="71057" y="85665"/>
                  </a:lnTo>
                  <a:lnTo>
                    <a:pt x="21431" y="85665"/>
                  </a:lnTo>
                  <a:lnTo>
                    <a:pt x="13081" y="83983"/>
                  </a:lnTo>
                  <a:lnTo>
                    <a:pt x="6270" y="79395"/>
                  </a:lnTo>
                  <a:lnTo>
                    <a:pt x="1681" y="72583"/>
                  </a:lnTo>
                  <a:lnTo>
                    <a:pt x="0" y="64234"/>
                  </a:lnTo>
                  <a:lnTo>
                    <a:pt x="1681" y="55884"/>
                  </a:lnTo>
                  <a:lnTo>
                    <a:pt x="6270" y="49073"/>
                  </a:lnTo>
                  <a:lnTo>
                    <a:pt x="13081" y="44484"/>
                  </a:lnTo>
                  <a:lnTo>
                    <a:pt x="21431" y="42802"/>
                  </a:lnTo>
                  <a:lnTo>
                    <a:pt x="64293" y="42802"/>
                  </a:lnTo>
                  <a:lnTo>
                    <a:pt x="78666" y="44484"/>
                  </a:lnTo>
                  <a:lnTo>
                    <a:pt x="78999" y="44484"/>
                  </a:lnTo>
                  <a:lnTo>
                    <a:pt x="115728" y="68520"/>
                  </a:lnTo>
                  <a:lnTo>
                    <a:pt x="218598" y="205680"/>
                  </a:lnTo>
                  <a:lnTo>
                    <a:pt x="222617" y="211105"/>
                  </a:lnTo>
                  <a:lnTo>
                    <a:pt x="228979" y="214252"/>
                  </a:lnTo>
                  <a:lnTo>
                    <a:pt x="330443" y="214252"/>
                  </a:lnTo>
                  <a:lnTo>
                    <a:pt x="340689" y="224499"/>
                  </a:lnTo>
                  <a:lnTo>
                    <a:pt x="342966" y="229924"/>
                  </a:lnTo>
                  <a:lnTo>
                    <a:pt x="342966" y="241309"/>
                  </a:lnTo>
                  <a:lnTo>
                    <a:pt x="340689" y="246734"/>
                  </a:lnTo>
                  <a:lnTo>
                    <a:pt x="293809" y="293615"/>
                  </a:lnTo>
                  <a:lnTo>
                    <a:pt x="293742" y="293749"/>
                  </a:lnTo>
                  <a:lnTo>
                    <a:pt x="288620" y="297541"/>
                  </a:lnTo>
                  <a:lnTo>
                    <a:pt x="282758" y="299626"/>
                  </a:lnTo>
                  <a:lnTo>
                    <a:pt x="276544" y="299927"/>
                  </a:lnTo>
                  <a:close/>
                </a:path>
                <a:path w="343535" h="300355">
                  <a:moveTo>
                    <a:pt x="276611" y="128343"/>
                  </a:moveTo>
                  <a:lnTo>
                    <a:pt x="270435" y="126786"/>
                  </a:lnTo>
                  <a:lnTo>
                    <a:pt x="262398" y="123437"/>
                  </a:lnTo>
                  <a:lnTo>
                    <a:pt x="257174" y="115669"/>
                  </a:lnTo>
                  <a:lnTo>
                    <a:pt x="257174" y="85665"/>
                  </a:lnTo>
                  <a:lnTo>
                    <a:pt x="330309" y="85665"/>
                  </a:lnTo>
                  <a:lnTo>
                    <a:pt x="293809" y="122165"/>
                  </a:lnTo>
                  <a:lnTo>
                    <a:pt x="288687" y="125957"/>
                  </a:lnTo>
                  <a:lnTo>
                    <a:pt x="282825" y="128042"/>
                  </a:lnTo>
                  <a:lnTo>
                    <a:pt x="276611" y="128343"/>
                  </a:lnTo>
                  <a:close/>
                </a:path>
                <a:path w="343535" h="300355">
                  <a:moveTo>
                    <a:pt x="64293" y="257115"/>
                  </a:moveTo>
                  <a:lnTo>
                    <a:pt x="21431" y="257115"/>
                  </a:lnTo>
                  <a:lnTo>
                    <a:pt x="12795" y="255376"/>
                  </a:lnTo>
                  <a:lnTo>
                    <a:pt x="12996" y="255376"/>
                  </a:lnTo>
                  <a:lnTo>
                    <a:pt x="6270" y="250845"/>
                  </a:lnTo>
                  <a:lnTo>
                    <a:pt x="1681" y="244033"/>
                  </a:lnTo>
                  <a:lnTo>
                    <a:pt x="0" y="235684"/>
                  </a:lnTo>
                  <a:lnTo>
                    <a:pt x="1681" y="227334"/>
                  </a:lnTo>
                  <a:lnTo>
                    <a:pt x="6270" y="220523"/>
                  </a:lnTo>
                  <a:lnTo>
                    <a:pt x="13081" y="215934"/>
                  </a:lnTo>
                  <a:lnTo>
                    <a:pt x="21431" y="214252"/>
                  </a:lnTo>
                  <a:lnTo>
                    <a:pt x="71057" y="214252"/>
                  </a:lnTo>
                  <a:lnTo>
                    <a:pt x="77420" y="211105"/>
                  </a:lnTo>
                  <a:lnTo>
                    <a:pt x="81438" y="205680"/>
                  </a:lnTo>
                  <a:lnTo>
                    <a:pt x="109835" y="167840"/>
                  </a:lnTo>
                  <a:lnTo>
                    <a:pt x="136624" y="203537"/>
                  </a:lnTo>
                  <a:lnTo>
                    <a:pt x="115728" y="231397"/>
                  </a:lnTo>
                  <a:lnTo>
                    <a:pt x="105422" y="242253"/>
                  </a:lnTo>
                  <a:lnTo>
                    <a:pt x="93050" y="250334"/>
                  </a:lnTo>
                  <a:lnTo>
                    <a:pt x="79158" y="255376"/>
                  </a:lnTo>
                  <a:lnTo>
                    <a:pt x="64293" y="257115"/>
                  </a:lnTo>
                  <a:close/>
                </a:path>
                <a:path w="343535" h="300355">
                  <a:moveTo>
                    <a:pt x="330443" y="214252"/>
                  </a:moveTo>
                  <a:lnTo>
                    <a:pt x="257174" y="214252"/>
                  </a:lnTo>
                  <a:lnTo>
                    <a:pt x="257174" y="184182"/>
                  </a:lnTo>
                  <a:lnTo>
                    <a:pt x="262398" y="176346"/>
                  </a:lnTo>
                  <a:lnTo>
                    <a:pt x="270435" y="172997"/>
                  </a:lnTo>
                  <a:lnTo>
                    <a:pt x="276611" y="171449"/>
                  </a:lnTo>
                  <a:lnTo>
                    <a:pt x="282825" y="171767"/>
                  </a:lnTo>
                  <a:lnTo>
                    <a:pt x="288687" y="173854"/>
                  </a:lnTo>
                  <a:lnTo>
                    <a:pt x="293809" y="177618"/>
                  </a:lnTo>
                  <a:lnTo>
                    <a:pt x="330443" y="2142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 rot="19267735">
              <a:off x="5551818" y="2351445"/>
              <a:ext cx="366481" cy="21131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70050" y="1547209"/>
              <a:ext cx="694092" cy="676085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5"/>
                  </a:lnTo>
                  <a:lnTo>
                    <a:pt x="126995" y="523342"/>
                  </a:lnTo>
                  <a:lnTo>
                    <a:pt x="93851" y="497477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4205" y="1703480"/>
              <a:ext cx="256334" cy="32038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250229" y="3485226"/>
            <a:ext cx="56070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70" dirty="0">
                <a:solidFill>
                  <a:srgbClr val="FFFFFF"/>
                </a:solidFill>
                <a:latin typeface="DejaVu Sans"/>
                <a:cs typeface="DejaVu Sans"/>
              </a:rPr>
              <a:t>Cliente</a:t>
            </a:r>
            <a:endParaRPr sz="1350">
              <a:latin typeface="DejaVu Sans"/>
              <a:cs typeface="DejaVu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89322" y="3485226"/>
            <a:ext cx="88582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Pagamento</a:t>
            </a:r>
            <a:endParaRPr sz="1350">
              <a:latin typeface="DejaVu Sans"/>
              <a:cs typeface="DejaVu San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40198" y="3485226"/>
            <a:ext cx="150749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Divisão</a:t>
            </a:r>
            <a:r>
              <a:rPr sz="135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0" dirty="0">
                <a:solidFill>
                  <a:srgbClr val="FFFFFF"/>
                </a:solidFill>
                <a:latin typeface="DejaVu Sans"/>
                <a:cs typeface="DejaVu Sans"/>
              </a:rPr>
              <a:t>Automática</a:t>
            </a:r>
            <a:endParaRPr sz="1350">
              <a:latin typeface="DejaVu Sans"/>
              <a:cs typeface="DejaVu San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63125" y="2533346"/>
            <a:ext cx="69278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Empresa</a:t>
            </a:r>
            <a:endParaRPr sz="1350" dirty="0">
              <a:latin typeface="DejaVu Sans"/>
              <a:cs typeface="DejaVu San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38312" y="2773390"/>
            <a:ext cx="1142410" cy="215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3660">
              <a:lnSpc>
                <a:spcPct val="130400"/>
              </a:lnSpc>
              <a:spcBef>
                <a:spcPts val="95"/>
              </a:spcBef>
            </a:pP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(Valor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Líquido)</a:t>
            </a:r>
            <a:endParaRPr sz="1150" dirty="0">
              <a:latin typeface="DejaVu Sans"/>
              <a:cs typeface="DejaVu San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13150" y="3322209"/>
            <a:ext cx="694092" cy="676085"/>
            <a:chOff x="6867524" y="2190749"/>
            <a:chExt cx="571500" cy="571500"/>
          </a:xfrm>
        </p:grpSpPr>
        <p:sp>
          <p:nvSpPr>
            <p:cNvPr id="37" name="object 37"/>
            <p:cNvSpPr/>
            <p:nvPr/>
          </p:nvSpPr>
          <p:spPr>
            <a:xfrm>
              <a:off x="6867524" y="21907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5"/>
                  </a:lnTo>
                  <a:lnTo>
                    <a:pt x="126995" y="523342"/>
                  </a:lnTo>
                  <a:lnTo>
                    <a:pt x="93852" y="497477"/>
                  </a:lnTo>
                  <a:lnTo>
                    <a:pt x="64861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3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0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5" y="382016"/>
                  </a:lnTo>
                  <a:lnTo>
                    <a:pt x="537758" y="420451"/>
                  </a:lnTo>
                  <a:lnTo>
                    <a:pt x="515265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0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7768" y="2361574"/>
              <a:ext cx="231055" cy="22922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6030953" y="3971766"/>
            <a:ext cx="858485" cy="5060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495"/>
              </a:spcBef>
            </a:pPr>
            <a:r>
              <a:rPr sz="1350" spc="-55" dirty="0">
                <a:solidFill>
                  <a:srgbClr val="FFFFFF"/>
                </a:solidFill>
                <a:latin typeface="DejaVu Sans"/>
                <a:cs typeface="DejaVu Sans"/>
              </a:rPr>
              <a:t>Governo</a:t>
            </a:r>
            <a:endParaRPr sz="1350" dirty="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(Impostos)</a:t>
            </a:r>
            <a:endParaRPr sz="1150" dirty="0">
              <a:latin typeface="DejaVu Sans"/>
              <a:cs typeface="DejaVu Sans"/>
            </a:endParaRPr>
          </a:p>
        </p:txBody>
      </p:sp>
      <p:pic>
        <p:nvPicPr>
          <p:cNvPr id="44" name="object 28">
            <a:extLst>
              <a:ext uri="{FF2B5EF4-FFF2-40B4-BE49-F238E27FC236}">
                <a16:creationId xmlns="" xmlns:a16="http://schemas.microsoft.com/office/drawing/2014/main" id="{66B3153B-D05D-CED5-3295-A9E2BFACB5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 rot="2101560">
            <a:off x="5511935" y="3217846"/>
            <a:ext cx="364931" cy="210526"/>
          </a:xfrm>
          <a:prstGeom prst="rect">
            <a:avLst/>
          </a:prstGeom>
        </p:spPr>
      </p:pic>
      <p:sp>
        <p:nvSpPr>
          <p:cNvPr id="5" name="object 14">
            <a:extLst>
              <a:ext uri="{FF2B5EF4-FFF2-40B4-BE49-F238E27FC236}">
                <a16:creationId xmlns="" xmlns:a16="http://schemas.microsoft.com/office/drawing/2014/main" id="{0CA48BC0-69C3-BE2E-BABD-ACD1F59D2D59}"/>
              </a:ext>
            </a:extLst>
          </p:cNvPr>
          <p:cNvSpPr txBox="1"/>
          <p:nvPr/>
        </p:nvSpPr>
        <p:spPr>
          <a:xfrm>
            <a:off x="5210953" y="5032332"/>
            <a:ext cx="3801867" cy="7509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5440" algn="ctr">
              <a:lnSpc>
                <a:spcPct val="100000"/>
              </a:lnSpc>
              <a:spcBef>
                <a:spcPts val="105"/>
              </a:spcBef>
            </a:pPr>
            <a:r>
              <a:rPr lang="pt-BR" sz="1650" b="1" spc="-10" dirty="0">
                <a:solidFill>
                  <a:srgbClr val="A8D0FF"/>
                </a:solidFill>
                <a:latin typeface="DejaVu Sans"/>
                <a:cs typeface="DejaVu Sans"/>
              </a:rPr>
              <a:t>APLICAÇÃO</a:t>
            </a:r>
            <a:endParaRPr sz="1650" dirty="0">
              <a:latin typeface="DejaVu Sans"/>
              <a:cs typeface="DejaVu Sans"/>
            </a:endParaRPr>
          </a:p>
          <a:p>
            <a:pPr marL="12700" marR="5080" algn="ctr">
              <a:lnSpc>
                <a:spcPct val="108700"/>
              </a:lnSpc>
              <a:spcBef>
                <a:spcPts val="875"/>
              </a:spcBef>
            </a:pPr>
            <a:r>
              <a:rPr lang="pt-BR" sz="1150" spc="-70" dirty="0">
                <a:solidFill>
                  <a:srgbClr val="FFFFFF"/>
                </a:solidFill>
                <a:latin typeface="DejaVu Sans"/>
                <a:cs typeface="DejaVu Sans"/>
              </a:rPr>
              <a:t>Nas operações com cartões de crédito/débito, QR </a:t>
            </a:r>
            <a:r>
              <a:rPr lang="pt-BR" sz="1150" spc="-70" dirty="0" err="1">
                <a:solidFill>
                  <a:srgbClr val="FFFFFF"/>
                </a:solidFill>
                <a:latin typeface="DejaVu Sans"/>
                <a:cs typeface="DejaVu Sans"/>
              </a:rPr>
              <a:t>Code</a:t>
            </a:r>
            <a:r>
              <a:rPr lang="pt-BR" sz="1150" spc="-70" dirty="0">
                <a:solidFill>
                  <a:srgbClr val="FFFFFF"/>
                </a:solidFill>
                <a:latin typeface="DejaVu Sans"/>
                <a:cs typeface="DejaVu Sans"/>
              </a:rPr>
              <a:t>, Pix e outras formas eletrônicas de pagamento.</a:t>
            </a:r>
            <a:endParaRPr sz="1150" dirty="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374548" y="-215132"/>
            <a:ext cx="10199005" cy="7315199"/>
            <a:chOff x="766546" y="223995"/>
            <a:chExt cx="10199005" cy="731519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8" y="223995"/>
              <a:ext cx="9753599" cy="73151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6546" y="1695233"/>
              <a:ext cx="8291830" cy="4258945"/>
            </a:xfrm>
            <a:custGeom>
              <a:avLst/>
              <a:gdLst/>
              <a:ahLst/>
              <a:cxnLst/>
              <a:rect l="l" t="t" r="r" b="b"/>
              <a:pathLst>
                <a:path w="8291830" h="4258945">
                  <a:moveTo>
                    <a:pt x="880656" y="4033850"/>
                  </a:moveTo>
                  <a:lnTo>
                    <a:pt x="877874" y="3987254"/>
                  </a:lnTo>
                  <a:lnTo>
                    <a:pt x="846975" y="3871950"/>
                  </a:lnTo>
                  <a:lnTo>
                    <a:pt x="831519" y="3814292"/>
                  </a:lnTo>
                  <a:lnTo>
                    <a:pt x="800620" y="3698976"/>
                  </a:lnTo>
                  <a:lnTo>
                    <a:pt x="785177" y="3641318"/>
                  </a:lnTo>
                  <a:lnTo>
                    <a:pt x="749515" y="3650881"/>
                  </a:lnTo>
                  <a:lnTo>
                    <a:pt x="749515" y="3975633"/>
                  </a:lnTo>
                  <a:lnTo>
                    <a:pt x="749414" y="3979608"/>
                  </a:lnTo>
                  <a:lnTo>
                    <a:pt x="748499" y="3987736"/>
                  </a:lnTo>
                  <a:lnTo>
                    <a:pt x="747382" y="3990670"/>
                  </a:lnTo>
                  <a:lnTo>
                    <a:pt x="744829" y="3997922"/>
                  </a:lnTo>
                  <a:lnTo>
                    <a:pt x="719620" y="4027030"/>
                  </a:lnTo>
                  <a:lnTo>
                    <a:pt x="712546" y="4030243"/>
                  </a:lnTo>
                  <a:lnTo>
                    <a:pt x="709142" y="4032466"/>
                  </a:lnTo>
                  <a:lnTo>
                    <a:pt x="701586" y="4034498"/>
                  </a:lnTo>
                  <a:lnTo>
                    <a:pt x="697522" y="4034269"/>
                  </a:lnTo>
                  <a:lnTo>
                    <a:pt x="689787" y="4035031"/>
                  </a:lnTo>
                  <a:lnTo>
                    <a:pt x="653402" y="4022420"/>
                  </a:lnTo>
                  <a:lnTo>
                    <a:pt x="647560" y="4017416"/>
                  </a:lnTo>
                  <a:lnTo>
                    <a:pt x="630301" y="3976014"/>
                  </a:lnTo>
                  <a:lnTo>
                    <a:pt x="630415" y="3972052"/>
                  </a:lnTo>
                  <a:lnTo>
                    <a:pt x="647623" y="3933253"/>
                  </a:lnTo>
                  <a:lnTo>
                    <a:pt x="650608" y="3931132"/>
                  </a:lnTo>
                  <a:lnTo>
                    <a:pt x="656602" y="3925582"/>
                  </a:lnTo>
                  <a:lnTo>
                    <a:pt x="660196" y="3924617"/>
                  </a:lnTo>
                  <a:lnTo>
                    <a:pt x="666940" y="3920198"/>
                  </a:lnTo>
                  <a:lnTo>
                    <a:pt x="681977" y="3916172"/>
                  </a:lnTo>
                  <a:lnTo>
                    <a:pt x="690041" y="3916629"/>
                  </a:lnTo>
                  <a:lnTo>
                    <a:pt x="693635" y="3915664"/>
                  </a:lnTo>
                  <a:lnTo>
                    <a:pt x="701598" y="3917467"/>
                  </a:lnTo>
                  <a:lnTo>
                    <a:pt x="739559" y="3942804"/>
                  </a:lnTo>
                  <a:lnTo>
                    <a:pt x="749515" y="3975633"/>
                  </a:lnTo>
                  <a:lnTo>
                    <a:pt x="749515" y="3650881"/>
                  </a:lnTo>
                  <a:lnTo>
                    <a:pt x="703173" y="3663302"/>
                  </a:lnTo>
                  <a:lnTo>
                    <a:pt x="703173" y="3802659"/>
                  </a:lnTo>
                  <a:lnTo>
                    <a:pt x="703072" y="3806634"/>
                  </a:lnTo>
                  <a:lnTo>
                    <a:pt x="702144" y="3814775"/>
                  </a:lnTo>
                  <a:lnTo>
                    <a:pt x="701370" y="3818928"/>
                  </a:lnTo>
                  <a:lnTo>
                    <a:pt x="698817" y="3826179"/>
                  </a:lnTo>
                  <a:lnTo>
                    <a:pt x="697090" y="3829278"/>
                  </a:lnTo>
                  <a:lnTo>
                    <a:pt x="693394" y="3836835"/>
                  </a:lnTo>
                  <a:lnTo>
                    <a:pt x="691146" y="3840073"/>
                  </a:lnTo>
                  <a:lnTo>
                    <a:pt x="685850" y="3845433"/>
                  </a:lnTo>
                  <a:lnTo>
                    <a:pt x="682866" y="3847554"/>
                  </a:lnTo>
                  <a:lnTo>
                    <a:pt x="676871" y="3853103"/>
                  </a:lnTo>
                  <a:lnTo>
                    <a:pt x="673608" y="3855288"/>
                  </a:lnTo>
                  <a:lnTo>
                    <a:pt x="666534" y="3858501"/>
                  </a:lnTo>
                  <a:lnTo>
                    <a:pt x="651497" y="3862527"/>
                  </a:lnTo>
                  <a:lnTo>
                    <a:pt x="643763" y="3863289"/>
                  </a:lnTo>
                  <a:lnTo>
                    <a:pt x="639838" y="3863022"/>
                  </a:lnTo>
                  <a:lnTo>
                    <a:pt x="631875" y="3861206"/>
                  </a:lnTo>
                  <a:lnTo>
                    <a:pt x="628230" y="3860876"/>
                  </a:lnTo>
                  <a:lnTo>
                    <a:pt x="620966" y="3858869"/>
                  </a:lnTo>
                  <a:lnTo>
                    <a:pt x="617410" y="3857193"/>
                  </a:lnTo>
                  <a:lnTo>
                    <a:pt x="610425" y="3852494"/>
                  </a:lnTo>
                  <a:lnTo>
                    <a:pt x="607390" y="3850678"/>
                  </a:lnTo>
                  <a:lnTo>
                    <a:pt x="585076" y="3814584"/>
                  </a:lnTo>
                  <a:lnTo>
                    <a:pt x="583958" y="3803053"/>
                  </a:lnTo>
                  <a:lnTo>
                    <a:pt x="584060" y="3799078"/>
                  </a:lnTo>
                  <a:lnTo>
                    <a:pt x="584987" y="3790950"/>
                  </a:lnTo>
                  <a:lnTo>
                    <a:pt x="586092" y="3788016"/>
                  </a:lnTo>
                  <a:lnTo>
                    <a:pt x="588645" y="3780764"/>
                  </a:lnTo>
                  <a:lnTo>
                    <a:pt x="590042" y="3776434"/>
                  </a:lnTo>
                  <a:lnTo>
                    <a:pt x="594067" y="3770096"/>
                  </a:lnTo>
                  <a:lnTo>
                    <a:pt x="596315" y="3766870"/>
                  </a:lnTo>
                  <a:lnTo>
                    <a:pt x="601611" y="3761511"/>
                  </a:lnTo>
                  <a:lnTo>
                    <a:pt x="604266" y="3758171"/>
                  </a:lnTo>
                  <a:lnTo>
                    <a:pt x="610590" y="3753840"/>
                  </a:lnTo>
                  <a:lnTo>
                    <a:pt x="613854" y="3751656"/>
                  </a:lnTo>
                  <a:lnTo>
                    <a:pt x="620928" y="3748443"/>
                  </a:lnTo>
                  <a:lnTo>
                    <a:pt x="624332" y="3746220"/>
                  </a:lnTo>
                  <a:lnTo>
                    <a:pt x="631888" y="3744201"/>
                  </a:lnTo>
                  <a:lnTo>
                    <a:pt x="635965" y="3744417"/>
                  </a:lnTo>
                  <a:lnTo>
                    <a:pt x="643699" y="3743655"/>
                  </a:lnTo>
                  <a:lnTo>
                    <a:pt x="647623" y="3743922"/>
                  </a:lnTo>
                  <a:lnTo>
                    <a:pt x="655256" y="3744506"/>
                  </a:lnTo>
                  <a:lnTo>
                    <a:pt x="659231" y="3746068"/>
                  </a:lnTo>
                  <a:lnTo>
                    <a:pt x="666496" y="3748062"/>
                  </a:lnTo>
                  <a:lnTo>
                    <a:pt x="670052" y="3749738"/>
                  </a:lnTo>
                  <a:lnTo>
                    <a:pt x="676706" y="3753218"/>
                  </a:lnTo>
                  <a:lnTo>
                    <a:pt x="680072" y="3756266"/>
                  </a:lnTo>
                  <a:lnTo>
                    <a:pt x="685914" y="3761270"/>
                  </a:lnTo>
                  <a:lnTo>
                    <a:pt x="703173" y="3802659"/>
                  </a:lnTo>
                  <a:lnTo>
                    <a:pt x="703173" y="3663302"/>
                  </a:lnTo>
                  <a:lnTo>
                    <a:pt x="576313" y="3697287"/>
                  </a:lnTo>
                  <a:lnTo>
                    <a:pt x="576313" y="4029926"/>
                  </a:lnTo>
                  <a:lnTo>
                    <a:pt x="568934" y="4051630"/>
                  </a:lnTo>
                  <a:lnTo>
                    <a:pt x="532879" y="4079697"/>
                  </a:lnTo>
                  <a:lnTo>
                    <a:pt x="360349" y="4125925"/>
                  </a:lnTo>
                  <a:lnTo>
                    <a:pt x="336626" y="4127030"/>
                  </a:lnTo>
                  <a:lnTo>
                    <a:pt x="315061" y="4119651"/>
                  </a:lnTo>
                  <a:lnTo>
                    <a:pt x="297827" y="4104551"/>
                  </a:lnTo>
                  <a:lnTo>
                    <a:pt x="287388" y="4083685"/>
                  </a:lnTo>
                  <a:lnTo>
                    <a:pt x="285991" y="4060393"/>
                  </a:lnTo>
                  <a:lnTo>
                    <a:pt x="293370" y="4038689"/>
                  </a:lnTo>
                  <a:lnTo>
                    <a:pt x="308356" y="4021531"/>
                  </a:lnTo>
                  <a:lnTo>
                    <a:pt x="329450" y="4010622"/>
                  </a:lnTo>
                  <a:lnTo>
                    <a:pt x="501967" y="3964394"/>
                  </a:lnTo>
                  <a:lnTo>
                    <a:pt x="525678" y="3963301"/>
                  </a:lnTo>
                  <a:lnTo>
                    <a:pt x="547230" y="3970667"/>
                  </a:lnTo>
                  <a:lnTo>
                    <a:pt x="564476" y="3985768"/>
                  </a:lnTo>
                  <a:lnTo>
                    <a:pt x="574903" y="4006646"/>
                  </a:lnTo>
                  <a:lnTo>
                    <a:pt x="576313" y="4029926"/>
                  </a:lnTo>
                  <a:lnTo>
                    <a:pt x="576313" y="3697287"/>
                  </a:lnTo>
                  <a:lnTo>
                    <a:pt x="530669" y="3709517"/>
                  </a:lnTo>
                  <a:lnTo>
                    <a:pt x="530669" y="3848887"/>
                  </a:lnTo>
                  <a:lnTo>
                    <a:pt x="530555" y="3852862"/>
                  </a:lnTo>
                  <a:lnTo>
                    <a:pt x="529640" y="3860990"/>
                  </a:lnTo>
                  <a:lnTo>
                    <a:pt x="528853" y="3865143"/>
                  </a:lnTo>
                  <a:lnTo>
                    <a:pt x="526300" y="3872407"/>
                  </a:lnTo>
                  <a:lnTo>
                    <a:pt x="524573" y="3875494"/>
                  </a:lnTo>
                  <a:lnTo>
                    <a:pt x="520877" y="3883063"/>
                  </a:lnTo>
                  <a:lnTo>
                    <a:pt x="518629" y="3886301"/>
                  </a:lnTo>
                  <a:lnTo>
                    <a:pt x="513346" y="3891661"/>
                  </a:lnTo>
                  <a:lnTo>
                    <a:pt x="510362" y="3893769"/>
                  </a:lnTo>
                  <a:lnTo>
                    <a:pt x="504367" y="3899319"/>
                  </a:lnTo>
                  <a:lnTo>
                    <a:pt x="501103" y="3901516"/>
                  </a:lnTo>
                  <a:lnTo>
                    <a:pt x="494042" y="3904716"/>
                  </a:lnTo>
                  <a:lnTo>
                    <a:pt x="478993" y="3908755"/>
                  </a:lnTo>
                  <a:lnTo>
                    <a:pt x="471258" y="3909504"/>
                  </a:lnTo>
                  <a:lnTo>
                    <a:pt x="467334" y="3909250"/>
                  </a:lnTo>
                  <a:lnTo>
                    <a:pt x="459371" y="3907434"/>
                  </a:lnTo>
                  <a:lnTo>
                    <a:pt x="455726" y="3907091"/>
                  </a:lnTo>
                  <a:lnTo>
                    <a:pt x="448462" y="3905097"/>
                  </a:lnTo>
                  <a:lnTo>
                    <a:pt x="444906" y="3903421"/>
                  </a:lnTo>
                  <a:lnTo>
                    <a:pt x="437921" y="3898722"/>
                  </a:lnTo>
                  <a:lnTo>
                    <a:pt x="434873" y="3896906"/>
                  </a:lnTo>
                  <a:lnTo>
                    <a:pt x="412572" y="3860812"/>
                  </a:lnTo>
                  <a:lnTo>
                    <a:pt x="411454" y="3849281"/>
                  </a:lnTo>
                  <a:lnTo>
                    <a:pt x="411556" y="3845306"/>
                  </a:lnTo>
                  <a:lnTo>
                    <a:pt x="412470" y="3837165"/>
                  </a:lnTo>
                  <a:lnTo>
                    <a:pt x="413588" y="3834244"/>
                  </a:lnTo>
                  <a:lnTo>
                    <a:pt x="416140" y="3826980"/>
                  </a:lnTo>
                  <a:lnTo>
                    <a:pt x="417537" y="3822662"/>
                  </a:lnTo>
                  <a:lnTo>
                    <a:pt x="421563" y="3816324"/>
                  </a:lnTo>
                  <a:lnTo>
                    <a:pt x="423811" y="3813098"/>
                  </a:lnTo>
                  <a:lnTo>
                    <a:pt x="429107" y="3807726"/>
                  </a:lnTo>
                  <a:lnTo>
                    <a:pt x="431761" y="3804386"/>
                  </a:lnTo>
                  <a:lnTo>
                    <a:pt x="438073" y="3800068"/>
                  </a:lnTo>
                  <a:lnTo>
                    <a:pt x="441350" y="3797871"/>
                  </a:lnTo>
                  <a:lnTo>
                    <a:pt x="448424" y="3794671"/>
                  </a:lnTo>
                  <a:lnTo>
                    <a:pt x="451815" y="3792448"/>
                  </a:lnTo>
                  <a:lnTo>
                    <a:pt x="459384" y="3790416"/>
                  </a:lnTo>
                  <a:lnTo>
                    <a:pt x="463448" y="3790632"/>
                  </a:lnTo>
                  <a:lnTo>
                    <a:pt x="471182" y="3789883"/>
                  </a:lnTo>
                  <a:lnTo>
                    <a:pt x="475107" y="3790150"/>
                  </a:lnTo>
                  <a:lnTo>
                    <a:pt x="482739" y="3790721"/>
                  </a:lnTo>
                  <a:lnTo>
                    <a:pt x="486714" y="3792296"/>
                  </a:lnTo>
                  <a:lnTo>
                    <a:pt x="493979" y="3794290"/>
                  </a:lnTo>
                  <a:lnTo>
                    <a:pt x="497547" y="3795966"/>
                  </a:lnTo>
                  <a:lnTo>
                    <a:pt x="504202" y="3799446"/>
                  </a:lnTo>
                  <a:lnTo>
                    <a:pt x="507568" y="3802481"/>
                  </a:lnTo>
                  <a:lnTo>
                    <a:pt x="513410" y="3807498"/>
                  </a:lnTo>
                  <a:lnTo>
                    <a:pt x="530669" y="3848887"/>
                  </a:lnTo>
                  <a:lnTo>
                    <a:pt x="530669" y="3709517"/>
                  </a:lnTo>
                  <a:lnTo>
                    <a:pt x="447675" y="3731755"/>
                  </a:lnTo>
                  <a:lnTo>
                    <a:pt x="432650" y="3735781"/>
                  </a:lnTo>
                  <a:lnTo>
                    <a:pt x="424903" y="3736543"/>
                  </a:lnTo>
                  <a:lnTo>
                    <a:pt x="420979" y="3736276"/>
                  </a:lnTo>
                  <a:lnTo>
                    <a:pt x="413346" y="3735692"/>
                  </a:lnTo>
                  <a:lnTo>
                    <a:pt x="409384" y="3734130"/>
                  </a:lnTo>
                  <a:lnTo>
                    <a:pt x="402120" y="3732123"/>
                  </a:lnTo>
                  <a:lnTo>
                    <a:pt x="398551" y="3730460"/>
                  </a:lnTo>
                  <a:lnTo>
                    <a:pt x="391896" y="3726980"/>
                  </a:lnTo>
                  <a:lnTo>
                    <a:pt x="388531" y="3723932"/>
                  </a:lnTo>
                  <a:lnTo>
                    <a:pt x="382689" y="3718928"/>
                  </a:lnTo>
                  <a:lnTo>
                    <a:pt x="365607" y="3684066"/>
                  </a:lnTo>
                  <a:lnTo>
                    <a:pt x="365099" y="3676307"/>
                  </a:lnTo>
                  <a:lnTo>
                    <a:pt x="365544" y="3673564"/>
                  </a:lnTo>
                  <a:lnTo>
                    <a:pt x="366458" y="3665423"/>
                  </a:lnTo>
                  <a:lnTo>
                    <a:pt x="367245" y="3661270"/>
                  </a:lnTo>
                  <a:lnTo>
                    <a:pt x="369798" y="3654018"/>
                  </a:lnTo>
                  <a:lnTo>
                    <a:pt x="371525" y="3650919"/>
                  </a:lnTo>
                  <a:lnTo>
                    <a:pt x="375221" y="3643363"/>
                  </a:lnTo>
                  <a:lnTo>
                    <a:pt x="377456" y="3640124"/>
                  </a:lnTo>
                  <a:lnTo>
                    <a:pt x="382752" y="3634765"/>
                  </a:lnTo>
                  <a:lnTo>
                    <a:pt x="385406" y="3631425"/>
                  </a:lnTo>
                  <a:lnTo>
                    <a:pt x="391731" y="3627094"/>
                  </a:lnTo>
                  <a:lnTo>
                    <a:pt x="394995" y="3624910"/>
                  </a:lnTo>
                  <a:lnTo>
                    <a:pt x="402069" y="3621709"/>
                  </a:lnTo>
                  <a:lnTo>
                    <a:pt x="417106" y="3617671"/>
                  </a:lnTo>
                  <a:lnTo>
                    <a:pt x="424840" y="3616909"/>
                  </a:lnTo>
                  <a:lnTo>
                    <a:pt x="428764" y="3617176"/>
                  </a:lnTo>
                  <a:lnTo>
                    <a:pt x="436397" y="3617760"/>
                  </a:lnTo>
                  <a:lnTo>
                    <a:pt x="440372" y="3619322"/>
                  </a:lnTo>
                  <a:lnTo>
                    <a:pt x="447636" y="3621328"/>
                  </a:lnTo>
                  <a:lnTo>
                    <a:pt x="451192" y="3622992"/>
                  </a:lnTo>
                  <a:lnTo>
                    <a:pt x="458177" y="3627704"/>
                  </a:lnTo>
                  <a:lnTo>
                    <a:pt x="461225" y="3629520"/>
                  </a:lnTo>
                  <a:lnTo>
                    <a:pt x="467055" y="3634524"/>
                  </a:lnTo>
                  <a:lnTo>
                    <a:pt x="469823" y="3637724"/>
                  </a:lnTo>
                  <a:lnTo>
                    <a:pt x="474675" y="3644315"/>
                  </a:lnTo>
                  <a:lnTo>
                    <a:pt x="476427" y="3646474"/>
                  </a:lnTo>
                  <a:lnTo>
                    <a:pt x="484644" y="3677145"/>
                  </a:lnTo>
                  <a:lnTo>
                    <a:pt x="484543" y="3681120"/>
                  </a:lnTo>
                  <a:lnTo>
                    <a:pt x="483298" y="3688029"/>
                  </a:lnTo>
                  <a:lnTo>
                    <a:pt x="482511" y="3692182"/>
                  </a:lnTo>
                  <a:lnTo>
                    <a:pt x="479958" y="3699433"/>
                  </a:lnTo>
                  <a:lnTo>
                    <a:pt x="478561" y="3703751"/>
                  </a:lnTo>
                  <a:lnTo>
                    <a:pt x="474535" y="3710089"/>
                  </a:lnTo>
                  <a:lnTo>
                    <a:pt x="472287" y="3713327"/>
                  </a:lnTo>
                  <a:lnTo>
                    <a:pt x="466991" y="3718687"/>
                  </a:lnTo>
                  <a:lnTo>
                    <a:pt x="464337" y="3722027"/>
                  </a:lnTo>
                  <a:lnTo>
                    <a:pt x="458025" y="3726357"/>
                  </a:lnTo>
                  <a:lnTo>
                    <a:pt x="454748" y="3728542"/>
                  </a:lnTo>
                  <a:lnTo>
                    <a:pt x="447675" y="3731755"/>
                  </a:lnTo>
                  <a:lnTo>
                    <a:pt x="605155" y="3689553"/>
                  </a:lnTo>
                  <a:lnTo>
                    <a:pt x="597420" y="3690315"/>
                  </a:lnTo>
                  <a:lnTo>
                    <a:pt x="593496" y="3690048"/>
                  </a:lnTo>
                  <a:lnTo>
                    <a:pt x="585863" y="3689464"/>
                  </a:lnTo>
                  <a:lnTo>
                    <a:pt x="581888" y="3687902"/>
                  </a:lnTo>
                  <a:lnTo>
                    <a:pt x="574624" y="3685908"/>
                  </a:lnTo>
                  <a:lnTo>
                    <a:pt x="571055" y="3684232"/>
                  </a:lnTo>
                  <a:lnTo>
                    <a:pt x="564413" y="3680752"/>
                  </a:lnTo>
                  <a:lnTo>
                    <a:pt x="561035" y="3677716"/>
                  </a:lnTo>
                  <a:lnTo>
                    <a:pt x="555193" y="3672700"/>
                  </a:lnTo>
                  <a:lnTo>
                    <a:pt x="538111" y="3637838"/>
                  </a:lnTo>
                  <a:lnTo>
                    <a:pt x="537616" y="3630079"/>
                  </a:lnTo>
                  <a:lnTo>
                    <a:pt x="538048" y="3627336"/>
                  </a:lnTo>
                  <a:lnTo>
                    <a:pt x="538962" y="3619208"/>
                  </a:lnTo>
                  <a:lnTo>
                    <a:pt x="539750" y="3615042"/>
                  </a:lnTo>
                  <a:lnTo>
                    <a:pt x="542302" y="3607790"/>
                  </a:lnTo>
                  <a:lnTo>
                    <a:pt x="544029" y="3604691"/>
                  </a:lnTo>
                  <a:lnTo>
                    <a:pt x="547725" y="3597135"/>
                  </a:lnTo>
                  <a:lnTo>
                    <a:pt x="549973" y="3593896"/>
                  </a:lnTo>
                  <a:lnTo>
                    <a:pt x="555269" y="3588537"/>
                  </a:lnTo>
                  <a:lnTo>
                    <a:pt x="557923" y="3585197"/>
                  </a:lnTo>
                  <a:lnTo>
                    <a:pt x="597344" y="3570694"/>
                  </a:lnTo>
                  <a:lnTo>
                    <a:pt x="601268" y="3570948"/>
                  </a:lnTo>
                  <a:lnTo>
                    <a:pt x="608901" y="3571532"/>
                  </a:lnTo>
                  <a:lnTo>
                    <a:pt x="612876" y="3573107"/>
                  </a:lnTo>
                  <a:lnTo>
                    <a:pt x="620141" y="3575100"/>
                  </a:lnTo>
                  <a:lnTo>
                    <a:pt x="623709" y="3576777"/>
                  </a:lnTo>
                  <a:lnTo>
                    <a:pt x="630694" y="3581476"/>
                  </a:lnTo>
                  <a:lnTo>
                    <a:pt x="633730" y="3583292"/>
                  </a:lnTo>
                  <a:lnTo>
                    <a:pt x="639572" y="3588296"/>
                  </a:lnTo>
                  <a:lnTo>
                    <a:pt x="642327" y="3591509"/>
                  </a:lnTo>
                  <a:lnTo>
                    <a:pt x="647192" y="3598087"/>
                  </a:lnTo>
                  <a:lnTo>
                    <a:pt x="648931" y="3600259"/>
                  </a:lnTo>
                  <a:lnTo>
                    <a:pt x="657148" y="3630917"/>
                  </a:lnTo>
                  <a:lnTo>
                    <a:pt x="657047" y="3634892"/>
                  </a:lnTo>
                  <a:lnTo>
                    <a:pt x="655802" y="3641801"/>
                  </a:lnTo>
                  <a:lnTo>
                    <a:pt x="655015" y="3645954"/>
                  </a:lnTo>
                  <a:lnTo>
                    <a:pt x="652462" y="3653218"/>
                  </a:lnTo>
                  <a:lnTo>
                    <a:pt x="651065" y="3657536"/>
                  </a:lnTo>
                  <a:lnTo>
                    <a:pt x="647039" y="3663873"/>
                  </a:lnTo>
                  <a:lnTo>
                    <a:pt x="644791" y="3667099"/>
                  </a:lnTo>
                  <a:lnTo>
                    <a:pt x="639508" y="3672471"/>
                  </a:lnTo>
                  <a:lnTo>
                    <a:pt x="636841" y="3675811"/>
                  </a:lnTo>
                  <a:lnTo>
                    <a:pt x="630529" y="3680129"/>
                  </a:lnTo>
                  <a:lnTo>
                    <a:pt x="627265" y="3682327"/>
                  </a:lnTo>
                  <a:lnTo>
                    <a:pt x="620179" y="3685527"/>
                  </a:lnTo>
                  <a:lnTo>
                    <a:pt x="785177" y="3641318"/>
                  </a:lnTo>
                  <a:lnTo>
                    <a:pt x="754608" y="3527234"/>
                  </a:lnTo>
                  <a:lnTo>
                    <a:pt x="739152" y="3469576"/>
                  </a:lnTo>
                  <a:lnTo>
                    <a:pt x="692810" y="3296615"/>
                  </a:lnTo>
                  <a:lnTo>
                    <a:pt x="671931" y="3254870"/>
                  </a:lnTo>
                  <a:lnTo>
                    <a:pt x="637400" y="3224682"/>
                  </a:lnTo>
                  <a:lnTo>
                    <a:pt x="610108" y="3215360"/>
                  </a:lnTo>
                  <a:lnTo>
                    <a:pt x="610108" y="3466033"/>
                  </a:lnTo>
                  <a:lnTo>
                    <a:pt x="602729" y="3487724"/>
                  </a:lnTo>
                  <a:lnTo>
                    <a:pt x="587743" y="3504895"/>
                  </a:lnTo>
                  <a:lnTo>
                    <a:pt x="566661" y="3515804"/>
                  </a:lnTo>
                  <a:lnTo>
                    <a:pt x="358152" y="3571671"/>
                  </a:lnTo>
                  <a:lnTo>
                    <a:pt x="358152" y="3895115"/>
                  </a:lnTo>
                  <a:lnTo>
                    <a:pt x="358051" y="3899077"/>
                  </a:lnTo>
                  <a:lnTo>
                    <a:pt x="357136" y="3907218"/>
                  </a:lnTo>
                  <a:lnTo>
                    <a:pt x="356349" y="3911371"/>
                  </a:lnTo>
                  <a:lnTo>
                    <a:pt x="353796" y="3918635"/>
                  </a:lnTo>
                  <a:lnTo>
                    <a:pt x="352069" y="3921722"/>
                  </a:lnTo>
                  <a:lnTo>
                    <a:pt x="348373" y="3929291"/>
                  </a:lnTo>
                  <a:lnTo>
                    <a:pt x="346125" y="3932517"/>
                  </a:lnTo>
                  <a:lnTo>
                    <a:pt x="340829" y="3937876"/>
                  </a:lnTo>
                  <a:lnTo>
                    <a:pt x="337845" y="3939997"/>
                  </a:lnTo>
                  <a:lnTo>
                    <a:pt x="331863" y="3945547"/>
                  </a:lnTo>
                  <a:lnTo>
                    <a:pt x="328587" y="3947731"/>
                  </a:lnTo>
                  <a:lnTo>
                    <a:pt x="321513" y="3950944"/>
                  </a:lnTo>
                  <a:lnTo>
                    <a:pt x="306489" y="3954970"/>
                  </a:lnTo>
                  <a:lnTo>
                    <a:pt x="298742" y="3955732"/>
                  </a:lnTo>
                  <a:lnTo>
                    <a:pt x="294817" y="3955465"/>
                  </a:lnTo>
                  <a:lnTo>
                    <a:pt x="286867" y="3953662"/>
                  </a:lnTo>
                  <a:lnTo>
                    <a:pt x="283222" y="3953319"/>
                  </a:lnTo>
                  <a:lnTo>
                    <a:pt x="275958" y="3951325"/>
                  </a:lnTo>
                  <a:lnTo>
                    <a:pt x="272389" y="3949649"/>
                  </a:lnTo>
                  <a:lnTo>
                    <a:pt x="265404" y="3944937"/>
                  </a:lnTo>
                  <a:lnTo>
                    <a:pt x="262369" y="3943134"/>
                  </a:lnTo>
                  <a:lnTo>
                    <a:pt x="240055" y="3907028"/>
                  </a:lnTo>
                  <a:lnTo>
                    <a:pt x="238937" y="3895496"/>
                  </a:lnTo>
                  <a:lnTo>
                    <a:pt x="239052" y="3891521"/>
                  </a:lnTo>
                  <a:lnTo>
                    <a:pt x="239966" y="3883393"/>
                  </a:lnTo>
                  <a:lnTo>
                    <a:pt x="241084" y="3880459"/>
                  </a:lnTo>
                  <a:lnTo>
                    <a:pt x="243636" y="3873208"/>
                  </a:lnTo>
                  <a:lnTo>
                    <a:pt x="245033" y="3868890"/>
                  </a:lnTo>
                  <a:lnTo>
                    <a:pt x="249059" y="3862552"/>
                  </a:lnTo>
                  <a:lnTo>
                    <a:pt x="251307" y="3859314"/>
                  </a:lnTo>
                  <a:lnTo>
                    <a:pt x="256590" y="3853954"/>
                  </a:lnTo>
                  <a:lnTo>
                    <a:pt x="259245" y="3850614"/>
                  </a:lnTo>
                  <a:lnTo>
                    <a:pt x="265569" y="3846296"/>
                  </a:lnTo>
                  <a:lnTo>
                    <a:pt x="268833" y="3844099"/>
                  </a:lnTo>
                  <a:lnTo>
                    <a:pt x="275920" y="3840886"/>
                  </a:lnTo>
                  <a:lnTo>
                    <a:pt x="279323" y="3838664"/>
                  </a:lnTo>
                  <a:lnTo>
                    <a:pt x="286893" y="3836644"/>
                  </a:lnTo>
                  <a:lnTo>
                    <a:pt x="290944" y="3836860"/>
                  </a:lnTo>
                  <a:lnTo>
                    <a:pt x="298678" y="3836098"/>
                  </a:lnTo>
                  <a:lnTo>
                    <a:pt x="302602" y="3836365"/>
                  </a:lnTo>
                  <a:lnTo>
                    <a:pt x="310235" y="3836949"/>
                  </a:lnTo>
                  <a:lnTo>
                    <a:pt x="314210" y="3838511"/>
                  </a:lnTo>
                  <a:lnTo>
                    <a:pt x="321475" y="3840518"/>
                  </a:lnTo>
                  <a:lnTo>
                    <a:pt x="325031" y="3842194"/>
                  </a:lnTo>
                  <a:lnTo>
                    <a:pt x="331685" y="3845661"/>
                  </a:lnTo>
                  <a:lnTo>
                    <a:pt x="335064" y="3848709"/>
                  </a:lnTo>
                  <a:lnTo>
                    <a:pt x="340893" y="3853713"/>
                  </a:lnTo>
                  <a:lnTo>
                    <a:pt x="358152" y="3895115"/>
                  </a:lnTo>
                  <a:lnTo>
                    <a:pt x="358152" y="3571671"/>
                  </a:lnTo>
                  <a:lnTo>
                    <a:pt x="312140" y="3584003"/>
                  </a:lnTo>
                  <a:lnTo>
                    <a:pt x="312140" y="3723373"/>
                  </a:lnTo>
                  <a:lnTo>
                    <a:pt x="312026" y="3727335"/>
                  </a:lnTo>
                  <a:lnTo>
                    <a:pt x="310781" y="3734244"/>
                  </a:lnTo>
                  <a:lnTo>
                    <a:pt x="310007" y="3738410"/>
                  </a:lnTo>
                  <a:lnTo>
                    <a:pt x="307454" y="3745661"/>
                  </a:lnTo>
                  <a:lnTo>
                    <a:pt x="306057" y="3749979"/>
                  </a:lnTo>
                  <a:lnTo>
                    <a:pt x="302031" y="3756317"/>
                  </a:lnTo>
                  <a:lnTo>
                    <a:pt x="299783" y="3759555"/>
                  </a:lnTo>
                  <a:lnTo>
                    <a:pt x="294487" y="3764915"/>
                  </a:lnTo>
                  <a:lnTo>
                    <a:pt x="291833" y="3768255"/>
                  </a:lnTo>
                  <a:lnTo>
                    <a:pt x="285508" y="3772573"/>
                  </a:lnTo>
                  <a:lnTo>
                    <a:pt x="282244" y="3774770"/>
                  </a:lnTo>
                  <a:lnTo>
                    <a:pt x="275183" y="3777983"/>
                  </a:lnTo>
                  <a:lnTo>
                    <a:pt x="260134" y="3782009"/>
                  </a:lnTo>
                  <a:lnTo>
                    <a:pt x="252399" y="3782758"/>
                  </a:lnTo>
                  <a:lnTo>
                    <a:pt x="248475" y="3782504"/>
                  </a:lnTo>
                  <a:lnTo>
                    <a:pt x="240842" y="3781920"/>
                  </a:lnTo>
                  <a:lnTo>
                    <a:pt x="236867" y="3780345"/>
                  </a:lnTo>
                  <a:lnTo>
                    <a:pt x="229603" y="3778351"/>
                  </a:lnTo>
                  <a:lnTo>
                    <a:pt x="226047" y="3776675"/>
                  </a:lnTo>
                  <a:lnTo>
                    <a:pt x="219392" y="3773208"/>
                  </a:lnTo>
                  <a:lnTo>
                    <a:pt x="216027" y="3770160"/>
                  </a:lnTo>
                  <a:lnTo>
                    <a:pt x="210185" y="3765156"/>
                  </a:lnTo>
                  <a:lnTo>
                    <a:pt x="193090" y="3730282"/>
                  </a:lnTo>
                  <a:lnTo>
                    <a:pt x="192595" y="3722535"/>
                  </a:lnTo>
                  <a:lnTo>
                    <a:pt x="193027" y="3719779"/>
                  </a:lnTo>
                  <a:lnTo>
                    <a:pt x="193954" y="3711651"/>
                  </a:lnTo>
                  <a:lnTo>
                    <a:pt x="194729" y="3707498"/>
                  </a:lnTo>
                  <a:lnTo>
                    <a:pt x="197281" y="3700234"/>
                  </a:lnTo>
                  <a:lnTo>
                    <a:pt x="199009" y="3697147"/>
                  </a:lnTo>
                  <a:lnTo>
                    <a:pt x="202704" y="3689578"/>
                  </a:lnTo>
                  <a:lnTo>
                    <a:pt x="204952" y="3686352"/>
                  </a:lnTo>
                  <a:lnTo>
                    <a:pt x="210248" y="3680980"/>
                  </a:lnTo>
                  <a:lnTo>
                    <a:pt x="212902" y="3677640"/>
                  </a:lnTo>
                  <a:lnTo>
                    <a:pt x="252336" y="3663137"/>
                  </a:lnTo>
                  <a:lnTo>
                    <a:pt x="256260" y="3663404"/>
                  </a:lnTo>
                  <a:lnTo>
                    <a:pt x="263893" y="3663988"/>
                  </a:lnTo>
                  <a:lnTo>
                    <a:pt x="267868" y="3665550"/>
                  </a:lnTo>
                  <a:lnTo>
                    <a:pt x="275132" y="3667544"/>
                  </a:lnTo>
                  <a:lnTo>
                    <a:pt x="278688" y="3669220"/>
                  </a:lnTo>
                  <a:lnTo>
                    <a:pt x="285673" y="3673919"/>
                  </a:lnTo>
                  <a:lnTo>
                    <a:pt x="288709" y="3675735"/>
                  </a:lnTo>
                  <a:lnTo>
                    <a:pt x="294551" y="3680752"/>
                  </a:lnTo>
                  <a:lnTo>
                    <a:pt x="297307" y="3683952"/>
                  </a:lnTo>
                  <a:lnTo>
                    <a:pt x="302171" y="3690543"/>
                  </a:lnTo>
                  <a:lnTo>
                    <a:pt x="303923" y="3692702"/>
                  </a:lnTo>
                  <a:lnTo>
                    <a:pt x="312140" y="3723373"/>
                  </a:lnTo>
                  <a:lnTo>
                    <a:pt x="312140" y="3584003"/>
                  </a:lnTo>
                  <a:lnTo>
                    <a:pt x="221627" y="3608247"/>
                  </a:lnTo>
                  <a:lnTo>
                    <a:pt x="197916" y="3609352"/>
                  </a:lnTo>
                  <a:lnTo>
                    <a:pt x="176352" y="3601974"/>
                  </a:lnTo>
                  <a:lnTo>
                    <a:pt x="159105" y="3586873"/>
                  </a:lnTo>
                  <a:lnTo>
                    <a:pt x="148678" y="3566007"/>
                  </a:lnTo>
                  <a:lnTo>
                    <a:pt x="133235" y="3508349"/>
                  </a:lnTo>
                  <a:lnTo>
                    <a:pt x="131826" y="3485057"/>
                  </a:lnTo>
                  <a:lnTo>
                    <a:pt x="139204" y="3463353"/>
                  </a:lnTo>
                  <a:lnTo>
                    <a:pt x="154203" y="3446195"/>
                  </a:lnTo>
                  <a:lnTo>
                    <a:pt x="175285" y="3435286"/>
                  </a:lnTo>
                  <a:lnTo>
                    <a:pt x="520331" y="3342830"/>
                  </a:lnTo>
                  <a:lnTo>
                    <a:pt x="544017" y="3341738"/>
                  </a:lnTo>
                  <a:lnTo>
                    <a:pt x="565581" y="3349104"/>
                  </a:lnTo>
                  <a:lnTo>
                    <a:pt x="582828" y="3364217"/>
                  </a:lnTo>
                  <a:lnTo>
                    <a:pt x="593255" y="3385083"/>
                  </a:lnTo>
                  <a:lnTo>
                    <a:pt x="608698" y="3442741"/>
                  </a:lnTo>
                  <a:lnTo>
                    <a:pt x="610108" y="3466033"/>
                  </a:lnTo>
                  <a:lnTo>
                    <a:pt x="610108" y="3215360"/>
                  </a:lnTo>
                  <a:lnTo>
                    <a:pt x="594271" y="3209937"/>
                  </a:lnTo>
                  <a:lnTo>
                    <a:pt x="547243" y="3213341"/>
                  </a:lnTo>
                  <a:lnTo>
                    <a:pt x="87210" y="3336607"/>
                  </a:lnTo>
                  <a:lnTo>
                    <a:pt x="44780" y="3357181"/>
                  </a:lnTo>
                  <a:lnTo>
                    <a:pt x="14795" y="3391509"/>
                  </a:lnTo>
                  <a:lnTo>
                    <a:pt x="0" y="3434918"/>
                  </a:lnTo>
                  <a:lnTo>
                    <a:pt x="2781" y="3481501"/>
                  </a:lnTo>
                  <a:lnTo>
                    <a:pt x="187833" y="4172153"/>
                  </a:lnTo>
                  <a:lnTo>
                    <a:pt x="208724" y="4213885"/>
                  </a:lnTo>
                  <a:lnTo>
                    <a:pt x="243243" y="4244086"/>
                  </a:lnTo>
                  <a:lnTo>
                    <a:pt x="286385" y="4258818"/>
                  </a:lnTo>
                  <a:lnTo>
                    <a:pt x="333413" y="4255427"/>
                  </a:lnTo>
                  <a:lnTo>
                    <a:pt x="793432" y="4132161"/>
                  </a:lnTo>
                  <a:lnTo>
                    <a:pt x="835863" y="4111587"/>
                  </a:lnTo>
                  <a:lnTo>
                    <a:pt x="865847" y="4077258"/>
                  </a:lnTo>
                  <a:lnTo>
                    <a:pt x="880656" y="4033850"/>
                  </a:lnTo>
                  <a:close/>
                </a:path>
                <a:path w="8291830" h="4258945">
                  <a:moveTo>
                    <a:pt x="7887094" y="911796"/>
                  </a:moveTo>
                  <a:lnTo>
                    <a:pt x="7836763" y="933869"/>
                  </a:lnTo>
                  <a:lnTo>
                    <a:pt x="7780883" y="949807"/>
                  </a:lnTo>
                  <a:lnTo>
                    <a:pt x="7739342" y="957961"/>
                  </a:lnTo>
                  <a:lnTo>
                    <a:pt x="7695120" y="963053"/>
                  </a:lnTo>
                  <a:lnTo>
                    <a:pt x="7648334" y="966419"/>
                  </a:lnTo>
                  <a:lnTo>
                    <a:pt x="7599807" y="965593"/>
                  </a:lnTo>
                  <a:lnTo>
                    <a:pt x="7549413" y="963155"/>
                  </a:lnTo>
                  <a:lnTo>
                    <a:pt x="7497737" y="957910"/>
                  </a:lnTo>
                  <a:lnTo>
                    <a:pt x="7445134" y="949934"/>
                  </a:lnTo>
                  <a:lnTo>
                    <a:pt x="7392975" y="939444"/>
                  </a:lnTo>
                  <a:lnTo>
                    <a:pt x="7342632" y="926693"/>
                  </a:lnTo>
                  <a:lnTo>
                    <a:pt x="7294448" y="911745"/>
                  </a:lnTo>
                  <a:lnTo>
                    <a:pt x="7248550" y="895921"/>
                  </a:lnTo>
                  <a:lnTo>
                    <a:pt x="7205751" y="876769"/>
                  </a:lnTo>
                  <a:lnTo>
                    <a:pt x="7165937" y="856856"/>
                  </a:lnTo>
                  <a:lnTo>
                    <a:pt x="7129678" y="834986"/>
                  </a:lnTo>
                  <a:lnTo>
                    <a:pt x="7082701" y="800912"/>
                  </a:lnTo>
                  <a:lnTo>
                    <a:pt x="7042874" y="762939"/>
                  </a:lnTo>
                  <a:lnTo>
                    <a:pt x="7029196" y="840473"/>
                  </a:lnTo>
                  <a:lnTo>
                    <a:pt x="7038035" y="894905"/>
                  </a:lnTo>
                  <a:lnTo>
                    <a:pt x="7080466" y="947521"/>
                  </a:lnTo>
                  <a:lnTo>
                    <a:pt x="7112482" y="973810"/>
                  </a:lnTo>
                  <a:lnTo>
                    <a:pt x="7151040" y="998664"/>
                  </a:lnTo>
                  <a:lnTo>
                    <a:pt x="7195477" y="1021969"/>
                  </a:lnTo>
                  <a:lnTo>
                    <a:pt x="7245388" y="1042377"/>
                  </a:lnTo>
                  <a:lnTo>
                    <a:pt x="7299655" y="1062266"/>
                  </a:lnTo>
                  <a:lnTo>
                    <a:pt x="7358304" y="1077760"/>
                  </a:lnTo>
                  <a:lnTo>
                    <a:pt x="7420216" y="1091260"/>
                  </a:lnTo>
                  <a:lnTo>
                    <a:pt x="7483018" y="1099756"/>
                  </a:lnTo>
                  <a:lnTo>
                    <a:pt x="7543419" y="1105242"/>
                  </a:lnTo>
                  <a:lnTo>
                    <a:pt x="7601217" y="1105115"/>
                  </a:lnTo>
                  <a:lnTo>
                    <a:pt x="7655103" y="1103007"/>
                  </a:lnTo>
                  <a:lnTo>
                    <a:pt x="7704836" y="1096314"/>
                  </a:lnTo>
                  <a:lnTo>
                    <a:pt x="7749565" y="1086142"/>
                  </a:lnTo>
                  <a:lnTo>
                    <a:pt x="7788643" y="1072400"/>
                  </a:lnTo>
                  <a:lnTo>
                    <a:pt x="7846504" y="1037463"/>
                  </a:lnTo>
                  <a:lnTo>
                    <a:pt x="7873428" y="989342"/>
                  </a:lnTo>
                  <a:lnTo>
                    <a:pt x="7887094" y="911796"/>
                  </a:lnTo>
                  <a:close/>
                </a:path>
                <a:path w="8291830" h="4258945">
                  <a:moveTo>
                    <a:pt x="7924368" y="700430"/>
                  </a:moveTo>
                  <a:lnTo>
                    <a:pt x="7882369" y="720102"/>
                  </a:lnTo>
                  <a:lnTo>
                    <a:pt x="7845120" y="732878"/>
                  </a:lnTo>
                  <a:lnTo>
                    <a:pt x="7831772" y="735685"/>
                  </a:lnTo>
                  <a:lnTo>
                    <a:pt x="7817929" y="739686"/>
                  </a:lnTo>
                  <a:lnTo>
                    <a:pt x="7776604" y="746594"/>
                  </a:lnTo>
                  <a:lnTo>
                    <a:pt x="7732382" y="751687"/>
                  </a:lnTo>
                  <a:lnTo>
                    <a:pt x="7685608" y="755040"/>
                  </a:lnTo>
                  <a:lnTo>
                    <a:pt x="7637069" y="754227"/>
                  </a:lnTo>
                  <a:lnTo>
                    <a:pt x="7586688" y="751789"/>
                  </a:lnTo>
                  <a:lnTo>
                    <a:pt x="7535011" y="746544"/>
                  </a:lnTo>
                  <a:lnTo>
                    <a:pt x="7482408" y="738555"/>
                  </a:lnTo>
                  <a:lnTo>
                    <a:pt x="7430249" y="728078"/>
                  </a:lnTo>
                  <a:lnTo>
                    <a:pt x="7379894" y="715327"/>
                  </a:lnTo>
                  <a:lnTo>
                    <a:pt x="7331710" y="700379"/>
                  </a:lnTo>
                  <a:lnTo>
                    <a:pt x="7285825" y="684555"/>
                  </a:lnTo>
                  <a:lnTo>
                    <a:pt x="7243013" y="665403"/>
                  </a:lnTo>
                  <a:lnTo>
                    <a:pt x="7203199" y="645477"/>
                  </a:lnTo>
                  <a:lnTo>
                    <a:pt x="7166737" y="624865"/>
                  </a:lnTo>
                  <a:lnTo>
                    <a:pt x="7119760" y="590791"/>
                  </a:lnTo>
                  <a:lnTo>
                    <a:pt x="7080148" y="551561"/>
                  </a:lnTo>
                  <a:lnTo>
                    <a:pt x="7066470" y="629107"/>
                  </a:lnTo>
                  <a:lnTo>
                    <a:pt x="7078891" y="689330"/>
                  </a:lnTo>
                  <a:lnTo>
                    <a:pt x="7132142" y="750303"/>
                  </a:lnTo>
                  <a:lnTo>
                    <a:pt x="7164972" y="772858"/>
                  </a:lnTo>
                  <a:lnTo>
                    <a:pt x="7202856" y="796302"/>
                  </a:lnTo>
                  <a:lnTo>
                    <a:pt x="7245947" y="816800"/>
                  </a:lnTo>
                  <a:lnTo>
                    <a:pt x="7293483" y="835494"/>
                  </a:lnTo>
                  <a:lnTo>
                    <a:pt x="7344727" y="853554"/>
                  </a:lnTo>
                  <a:lnTo>
                    <a:pt x="7399795" y="867130"/>
                  </a:lnTo>
                  <a:lnTo>
                    <a:pt x="7457491" y="879894"/>
                  </a:lnTo>
                  <a:lnTo>
                    <a:pt x="7512939" y="888377"/>
                  </a:lnTo>
                  <a:lnTo>
                    <a:pt x="7566901" y="892733"/>
                  </a:lnTo>
                  <a:lnTo>
                    <a:pt x="7618704" y="894130"/>
                  </a:lnTo>
                  <a:lnTo>
                    <a:pt x="7667676" y="893737"/>
                  </a:lnTo>
                  <a:lnTo>
                    <a:pt x="7713789" y="888974"/>
                  </a:lnTo>
                  <a:lnTo>
                    <a:pt x="7756157" y="882256"/>
                  </a:lnTo>
                  <a:lnTo>
                    <a:pt x="7794333" y="873518"/>
                  </a:lnTo>
                  <a:lnTo>
                    <a:pt x="7803350" y="869950"/>
                  </a:lnTo>
                  <a:lnTo>
                    <a:pt x="7807528" y="869391"/>
                  </a:lnTo>
                  <a:lnTo>
                    <a:pt x="7847266" y="851903"/>
                  </a:lnTo>
                  <a:lnTo>
                    <a:pt x="7878432" y="830313"/>
                  </a:lnTo>
                  <a:lnTo>
                    <a:pt x="7895006" y="811314"/>
                  </a:lnTo>
                  <a:lnTo>
                    <a:pt x="7899882" y="805726"/>
                  </a:lnTo>
                  <a:lnTo>
                    <a:pt x="7910703" y="777963"/>
                  </a:lnTo>
                  <a:lnTo>
                    <a:pt x="7924368" y="700430"/>
                  </a:lnTo>
                  <a:close/>
                </a:path>
                <a:path w="8291830" h="4258945">
                  <a:moveTo>
                    <a:pt x="7947965" y="566597"/>
                  </a:moveTo>
                  <a:lnTo>
                    <a:pt x="7935138" y="505015"/>
                  </a:lnTo>
                  <a:lnTo>
                    <a:pt x="7879867" y="444982"/>
                  </a:lnTo>
                  <a:lnTo>
                    <a:pt x="7847266" y="421170"/>
                  </a:lnTo>
                  <a:lnTo>
                    <a:pt x="7809306" y="399008"/>
                  </a:lnTo>
                  <a:lnTo>
                    <a:pt x="7766507" y="378561"/>
                  </a:lnTo>
                  <a:lnTo>
                    <a:pt x="7719377" y="359930"/>
                  </a:lnTo>
                  <a:lnTo>
                    <a:pt x="7668400" y="343204"/>
                  </a:lnTo>
                  <a:lnTo>
                    <a:pt x="7614082" y="328472"/>
                  </a:lnTo>
                  <a:lnTo>
                    <a:pt x="7556728" y="317068"/>
                  </a:lnTo>
                  <a:lnTo>
                    <a:pt x="7450429" y="303491"/>
                  </a:lnTo>
                  <a:lnTo>
                    <a:pt x="7414260" y="302272"/>
                  </a:lnTo>
                  <a:lnTo>
                    <a:pt x="7353097" y="303085"/>
                  </a:lnTo>
                  <a:lnTo>
                    <a:pt x="7296683" y="307327"/>
                  </a:lnTo>
                  <a:lnTo>
                    <a:pt x="7245642" y="316382"/>
                  </a:lnTo>
                  <a:lnTo>
                    <a:pt x="7201027" y="329145"/>
                  </a:lnTo>
                  <a:lnTo>
                    <a:pt x="7163435" y="347014"/>
                  </a:lnTo>
                  <a:lnTo>
                    <a:pt x="7113956" y="391172"/>
                  </a:lnTo>
                  <a:lnTo>
                    <a:pt x="7103745" y="417741"/>
                  </a:lnTo>
                  <a:lnTo>
                    <a:pt x="7104189" y="448767"/>
                  </a:lnTo>
                  <a:lnTo>
                    <a:pt x="7115911" y="479209"/>
                  </a:lnTo>
                  <a:lnTo>
                    <a:pt x="7137971" y="508889"/>
                  </a:lnTo>
                  <a:lnTo>
                    <a:pt x="7169201" y="538899"/>
                  </a:lnTo>
                  <a:lnTo>
                    <a:pt x="7176452" y="544042"/>
                  </a:lnTo>
                  <a:lnTo>
                    <a:pt x="7180186" y="547281"/>
                  </a:lnTo>
                  <a:lnTo>
                    <a:pt x="7213143" y="568566"/>
                  </a:lnTo>
                  <a:lnTo>
                    <a:pt x="7250722" y="589381"/>
                  </a:lnTo>
                  <a:lnTo>
                    <a:pt x="7292467" y="609638"/>
                  </a:lnTo>
                  <a:lnTo>
                    <a:pt x="7338149" y="628015"/>
                  </a:lnTo>
                  <a:lnTo>
                    <a:pt x="7387539" y="643166"/>
                  </a:lnTo>
                  <a:lnTo>
                    <a:pt x="7439749" y="657529"/>
                  </a:lnTo>
                  <a:lnTo>
                    <a:pt x="7494752" y="668515"/>
                  </a:lnTo>
                  <a:lnTo>
                    <a:pt x="7553338" y="676275"/>
                  </a:lnTo>
                  <a:lnTo>
                    <a:pt x="7609726" y="682345"/>
                  </a:lnTo>
                  <a:lnTo>
                    <a:pt x="7664056" y="682891"/>
                  </a:lnTo>
                  <a:lnTo>
                    <a:pt x="7715123" y="681583"/>
                  </a:lnTo>
                  <a:lnTo>
                    <a:pt x="7762621" y="677062"/>
                  </a:lnTo>
                  <a:lnTo>
                    <a:pt x="7806245" y="667994"/>
                  </a:lnTo>
                  <a:lnTo>
                    <a:pt x="7844803" y="658025"/>
                  </a:lnTo>
                  <a:lnTo>
                    <a:pt x="7845679" y="656894"/>
                  </a:lnTo>
                  <a:lnTo>
                    <a:pt x="7847660" y="657237"/>
                  </a:lnTo>
                  <a:lnTo>
                    <a:pt x="7848092" y="656031"/>
                  </a:lnTo>
                  <a:lnTo>
                    <a:pt x="7878483" y="643331"/>
                  </a:lnTo>
                  <a:lnTo>
                    <a:pt x="7904010" y="628484"/>
                  </a:lnTo>
                  <a:lnTo>
                    <a:pt x="7938719" y="592048"/>
                  </a:lnTo>
                  <a:lnTo>
                    <a:pt x="7947165" y="570331"/>
                  </a:lnTo>
                  <a:lnTo>
                    <a:pt x="7947965" y="566597"/>
                  </a:lnTo>
                  <a:close/>
                </a:path>
                <a:path w="8291830" h="4258945">
                  <a:moveTo>
                    <a:pt x="8185302" y="356984"/>
                  </a:moveTo>
                  <a:lnTo>
                    <a:pt x="7638212" y="260515"/>
                  </a:lnTo>
                  <a:lnTo>
                    <a:pt x="7671803" y="269011"/>
                  </a:lnTo>
                  <a:lnTo>
                    <a:pt x="7719974" y="283959"/>
                  </a:lnTo>
                  <a:lnTo>
                    <a:pt x="7765618" y="301028"/>
                  </a:lnTo>
                  <a:lnTo>
                    <a:pt x="7808608" y="318922"/>
                  </a:lnTo>
                  <a:lnTo>
                    <a:pt x="7848371" y="338836"/>
                  </a:lnTo>
                  <a:lnTo>
                    <a:pt x="7890446" y="364312"/>
                  </a:lnTo>
                  <a:lnTo>
                    <a:pt x="7907388" y="376326"/>
                  </a:lnTo>
                  <a:lnTo>
                    <a:pt x="7961770" y="380758"/>
                  </a:lnTo>
                  <a:lnTo>
                    <a:pt x="8013967" y="380936"/>
                  </a:lnTo>
                  <a:lnTo>
                    <a:pt x="8063090" y="379272"/>
                  </a:lnTo>
                  <a:lnTo>
                    <a:pt x="8108848" y="374446"/>
                  </a:lnTo>
                  <a:lnTo>
                    <a:pt x="8150784" y="366369"/>
                  </a:lnTo>
                  <a:lnTo>
                    <a:pt x="8185302" y="356984"/>
                  </a:lnTo>
                  <a:close/>
                </a:path>
                <a:path w="8291830" h="4258945">
                  <a:moveTo>
                    <a:pt x="8230705" y="608711"/>
                  </a:moveTo>
                  <a:lnTo>
                    <a:pt x="8180146" y="632040"/>
                  </a:lnTo>
                  <a:lnTo>
                    <a:pt x="8124266" y="647979"/>
                  </a:lnTo>
                  <a:lnTo>
                    <a:pt x="8066265" y="658380"/>
                  </a:lnTo>
                  <a:lnTo>
                    <a:pt x="8003540" y="662800"/>
                  </a:lnTo>
                  <a:lnTo>
                    <a:pt x="7980096" y="795362"/>
                  </a:lnTo>
                  <a:lnTo>
                    <a:pt x="8038046" y="795261"/>
                  </a:lnTo>
                  <a:lnTo>
                    <a:pt x="8090662" y="785202"/>
                  </a:lnTo>
                  <a:lnTo>
                    <a:pt x="8135899" y="768680"/>
                  </a:lnTo>
                  <a:lnTo>
                    <a:pt x="8172132" y="749274"/>
                  </a:lnTo>
                  <a:lnTo>
                    <a:pt x="8202638" y="719836"/>
                  </a:lnTo>
                  <a:lnTo>
                    <a:pt x="8216811" y="687514"/>
                  </a:lnTo>
                  <a:lnTo>
                    <a:pt x="8230705" y="608711"/>
                  </a:lnTo>
                  <a:close/>
                </a:path>
                <a:path w="8291830" h="4258945">
                  <a:moveTo>
                    <a:pt x="8267751" y="398602"/>
                  </a:moveTo>
                  <a:lnTo>
                    <a:pt x="8217408" y="420674"/>
                  </a:lnTo>
                  <a:lnTo>
                    <a:pt x="8161528" y="436613"/>
                  </a:lnTo>
                  <a:lnTo>
                    <a:pt x="8121053" y="444944"/>
                  </a:lnTo>
                  <a:lnTo>
                    <a:pt x="8078114" y="450278"/>
                  </a:lnTo>
                  <a:lnTo>
                    <a:pt x="8033017" y="452640"/>
                  </a:lnTo>
                  <a:lnTo>
                    <a:pt x="7985849" y="453351"/>
                  </a:lnTo>
                  <a:lnTo>
                    <a:pt x="8002460" y="480783"/>
                  </a:lnTo>
                  <a:lnTo>
                    <a:pt x="8014424" y="511263"/>
                  </a:lnTo>
                  <a:lnTo>
                    <a:pt x="8020164" y="544512"/>
                  </a:lnTo>
                  <a:lnTo>
                    <a:pt x="8018323" y="579005"/>
                  </a:lnTo>
                  <a:lnTo>
                    <a:pt x="8017434" y="584009"/>
                  </a:lnTo>
                  <a:lnTo>
                    <a:pt x="8015668" y="591439"/>
                  </a:lnTo>
                  <a:lnTo>
                    <a:pt x="8049260" y="588327"/>
                  </a:lnTo>
                  <a:lnTo>
                    <a:pt x="8110588" y="578510"/>
                  </a:lnTo>
                  <a:lnTo>
                    <a:pt x="8182711" y="553834"/>
                  </a:lnTo>
                  <a:lnTo>
                    <a:pt x="8217852" y="531660"/>
                  </a:lnTo>
                  <a:lnTo>
                    <a:pt x="8254073" y="476135"/>
                  </a:lnTo>
                  <a:lnTo>
                    <a:pt x="8267751" y="398602"/>
                  </a:lnTo>
                  <a:close/>
                </a:path>
                <a:path w="8291830" h="4258945">
                  <a:moveTo>
                    <a:pt x="8291398" y="237705"/>
                  </a:moveTo>
                  <a:lnTo>
                    <a:pt x="8265109" y="184061"/>
                  </a:lnTo>
                  <a:lnTo>
                    <a:pt x="8208073" y="131445"/>
                  </a:lnTo>
                  <a:lnTo>
                    <a:pt x="8169516" y="106591"/>
                  </a:lnTo>
                  <a:lnTo>
                    <a:pt x="8125066" y="83273"/>
                  </a:lnTo>
                  <a:lnTo>
                    <a:pt x="8075155" y="62877"/>
                  </a:lnTo>
                  <a:lnTo>
                    <a:pt x="8020888" y="42989"/>
                  </a:lnTo>
                  <a:lnTo>
                    <a:pt x="7962239" y="27495"/>
                  </a:lnTo>
                  <a:lnTo>
                    <a:pt x="7900111" y="15240"/>
                  </a:lnTo>
                  <a:lnTo>
                    <a:pt x="7837525" y="5499"/>
                  </a:lnTo>
                  <a:lnTo>
                    <a:pt x="7777124" y="0"/>
                  </a:lnTo>
                  <a:lnTo>
                    <a:pt x="7719327" y="127"/>
                  </a:lnTo>
                  <a:lnTo>
                    <a:pt x="7665453" y="2235"/>
                  </a:lnTo>
                  <a:lnTo>
                    <a:pt x="7615707" y="8940"/>
                  </a:lnTo>
                  <a:lnTo>
                    <a:pt x="7570978" y="19113"/>
                  </a:lnTo>
                  <a:lnTo>
                    <a:pt x="7531900" y="32854"/>
                  </a:lnTo>
                  <a:lnTo>
                    <a:pt x="7474039" y="67779"/>
                  </a:lnTo>
                  <a:lnTo>
                    <a:pt x="7447115" y="115912"/>
                  </a:lnTo>
                  <a:lnTo>
                    <a:pt x="7447788" y="145694"/>
                  </a:lnTo>
                  <a:lnTo>
                    <a:pt x="7459535" y="176136"/>
                  </a:lnTo>
                  <a:lnTo>
                    <a:pt x="7481443" y="207073"/>
                  </a:lnTo>
                  <a:lnTo>
                    <a:pt x="7512799" y="237109"/>
                  </a:lnTo>
                  <a:lnTo>
                    <a:pt x="7528560" y="239890"/>
                  </a:lnTo>
                  <a:lnTo>
                    <a:pt x="7621460" y="256273"/>
                  </a:lnTo>
                  <a:lnTo>
                    <a:pt x="8188172" y="356196"/>
                  </a:lnTo>
                  <a:lnTo>
                    <a:pt x="8227911" y="338696"/>
                  </a:lnTo>
                  <a:lnTo>
                    <a:pt x="8259077" y="317119"/>
                  </a:lnTo>
                  <a:lnTo>
                    <a:pt x="8280527" y="292531"/>
                  </a:lnTo>
                  <a:lnTo>
                    <a:pt x="8291347" y="264769"/>
                  </a:lnTo>
                  <a:lnTo>
                    <a:pt x="8291398" y="237705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6546" y="6254411"/>
              <a:ext cx="10199005" cy="971550"/>
            </a:xfrm>
            <a:custGeom>
              <a:avLst/>
              <a:gdLst/>
              <a:ahLst/>
              <a:cxnLst/>
              <a:rect l="l" t="t" r="r" b="b"/>
              <a:pathLst>
                <a:path w="8572500" h="971550">
                  <a:moveTo>
                    <a:pt x="0" y="971549"/>
                  </a:moveTo>
                  <a:lnTo>
                    <a:pt x="8572499" y="971549"/>
                  </a:lnTo>
                  <a:lnTo>
                    <a:pt x="8572499" y="0"/>
                  </a:lnTo>
                  <a:lnTo>
                    <a:pt x="0" y="0"/>
                  </a:lnTo>
                  <a:lnTo>
                    <a:pt x="0" y="971549"/>
                  </a:lnTo>
                  <a:close/>
                </a:path>
              </a:pathLst>
            </a:custGeom>
            <a:solidFill>
              <a:srgbClr val="A8D0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1141094" y="6262051"/>
              <a:ext cx="38100" cy="971550"/>
            </a:xfrm>
            <a:custGeom>
              <a:avLst/>
              <a:gdLst/>
              <a:ahLst/>
              <a:cxnLst/>
              <a:rect l="l" t="t" r="r" b="b"/>
              <a:pathLst>
                <a:path w="38100" h="971550">
                  <a:moveTo>
                    <a:pt x="38099" y="971549"/>
                  </a:moveTo>
                  <a:lnTo>
                    <a:pt x="0" y="9715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971549"/>
                  </a:lnTo>
                  <a:close/>
                </a:path>
              </a:pathLst>
            </a:custGeom>
            <a:solidFill>
              <a:srgbClr val="A8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58800" y="608806"/>
            <a:ext cx="8575674" cy="10567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640"/>
              </a:spcBef>
            </a:pPr>
            <a:r>
              <a:rPr sz="3500" spc="-254" dirty="0"/>
              <a:t>DESAFIOS</a:t>
            </a:r>
            <a:r>
              <a:rPr sz="3500" spc="-100" dirty="0"/>
              <a:t> </a:t>
            </a:r>
            <a:r>
              <a:rPr sz="3500" spc="-295" dirty="0"/>
              <a:t>DO</a:t>
            </a:r>
            <a:r>
              <a:rPr sz="3500" spc="-95" dirty="0"/>
              <a:t> </a:t>
            </a:r>
            <a:r>
              <a:rPr sz="3500" spc="-245" dirty="0"/>
              <a:t>SPLIT</a:t>
            </a:r>
            <a:r>
              <a:rPr sz="3500" spc="-95" dirty="0"/>
              <a:t> </a:t>
            </a:r>
            <a:r>
              <a:rPr sz="3500" spc="-375" dirty="0"/>
              <a:t>PAYMENT</a:t>
            </a:r>
            <a:r>
              <a:rPr sz="3500" spc="-100" dirty="0"/>
              <a:t> </a:t>
            </a:r>
            <a:r>
              <a:rPr sz="3500" spc="-370" dirty="0"/>
              <a:t>PARA</a:t>
            </a:r>
            <a:r>
              <a:rPr lang="pt-BR" sz="3500" spc="-370" dirty="0"/>
              <a:t> SUA</a:t>
            </a:r>
            <a:r>
              <a:rPr sz="3500" spc="-370" dirty="0"/>
              <a:t> </a:t>
            </a:r>
            <a:r>
              <a:rPr sz="3500" spc="-285" dirty="0"/>
              <a:t>EMPRESA</a:t>
            </a:r>
            <a:endParaRPr sz="3500" dirty="0"/>
          </a:p>
        </p:txBody>
      </p:sp>
      <p:sp>
        <p:nvSpPr>
          <p:cNvPr id="11" name="object 11"/>
          <p:cNvSpPr txBox="1"/>
          <p:nvPr/>
        </p:nvSpPr>
        <p:spPr>
          <a:xfrm>
            <a:off x="558800" y="1751806"/>
            <a:ext cx="4370705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55" dirty="0">
                <a:solidFill>
                  <a:srgbClr val="A8D0FF"/>
                </a:solidFill>
                <a:latin typeface="DejaVu Sans"/>
                <a:cs typeface="DejaVu Sans"/>
              </a:rPr>
              <a:t>Como</a:t>
            </a:r>
            <a:r>
              <a:rPr spc="-3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5" dirty="0">
                <a:solidFill>
                  <a:srgbClr val="A8D0FF"/>
                </a:solidFill>
                <a:latin typeface="DejaVu Sans"/>
                <a:cs typeface="DejaVu Sans"/>
              </a:rPr>
              <a:t>se</a:t>
            </a:r>
            <a:r>
              <a:rPr spc="-3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5" dirty="0">
                <a:solidFill>
                  <a:srgbClr val="A8D0FF"/>
                </a:solidFill>
                <a:latin typeface="DejaVu Sans"/>
                <a:cs typeface="DejaVu Sans"/>
              </a:rPr>
              <a:t>preparar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0" dirty="0">
                <a:solidFill>
                  <a:srgbClr val="A8D0FF"/>
                </a:solidFill>
                <a:latin typeface="DejaVu Sans"/>
                <a:cs typeface="DejaVu Sans"/>
              </a:rPr>
              <a:t>para</a:t>
            </a:r>
            <a:r>
              <a:rPr spc="-3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14" dirty="0">
                <a:solidFill>
                  <a:srgbClr val="A8D0FF"/>
                </a:solidFill>
                <a:latin typeface="DejaVu Sans"/>
                <a:cs typeface="DejaVu Sans"/>
              </a:rPr>
              <a:t>esta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5" dirty="0">
                <a:solidFill>
                  <a:srgbClr val="A8D0FF"/>
                </a:solidFill>
                <a:latin typeface="DejaVu Sans"/>
                <a:cs typeface="DejaVu Sans"/>
              </a:rPr>
              <a:t>mudança</a:t>
            </a:r>
            <a:endParaRPr dirty="0">
              <a:latin typeface="DejaVu Sans"/>
              <a:cs typeface="DejaVu San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1499" y="2438399"/>
            <a:ext cx="4210050" cy="1647825"/>
            <a:chOff x="571499" y="2438399"/>
            <a:chExt cx="4210050" cy="1647825"/>
          </a:xfrm>
        </p:grpSpPr>
        <p:sp>
          <p:nvSpPr>
            <p:cNvPr id="13" name="object 13"/>
            <p:cNvSpPr/>
            <p:nvPr/>
          </p:nvSpPr>
          <p:spPr>
            <a:xfrm>
              <a:off x="571499" y="2438399"/>
              <a:ext cx="4210050" cy="1647825"/>
            </a:xfrm>
            <a:custGeom>
              <a:avLst/>
              <a:gdLst/>
              <a:ahLst/>
              <a:cxnLst/>
              <a:rect l="l" t="t" r="r" b="b"/>
              <a:pathLst>
                <a:path w="4210050" h="1647825">
                  <a:moveTo>
                    <a:pt x="4138852" y="1647824"/>
                  </a:moveTo>
                  <a:lnTo>
                    <a:pt x="71196" y="1647824"/>
                  </a:lnTo>
                  <a:lnTo>
                    <a:pt x="66241" y="1647336"/>
                  </a:lnTo>
                  <a:lnTo>
                    <a:pt x="29705" y="1632202"/>
                  </a:lnTo>
                  <a:lnTo>
                    <a:pt x="3885" y="1596162"/>
                  </a:lnTo>
                  <a:lnTo>
                    <a:pt x="0" y="1576628"/>
                  </a:lnTo>
                  <a:lnTo>
                    <a:pt x="0" y="15716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138852" y="0"/>
                  </a:lnTo>
                  <a:lnTo>
                    <a:pt x="4180343" y="15621"/>
                  </a:lnTo>
                  <a:lnTo>
                    <a:pt x="4206163" y="51661"/>
                  </a:lnTo>
                  <a:lnTo>
                    <a:pt x="4210049" y="71196"/>
                  </a:lnTo>
                  <a:lnTo>
                    <a:pt x="4210049" y="1576628"/>
                  </a:lnTo>
                  <a:lnTo>
                    <a:pt x="4194427" y="1618119"/>
                  </a:lnTo>
                  <a:lnTo>
                    <a:pt x="4158386" y="1643938"/>
                  </a:lnTo>
                  <a:lnTo>
                    <a:pt x="4143807" y="1647336"/>
                  </a:lnTo>
                  <a:lnTo>
                    <a:pt x="4138852" y="16478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1999" y="26288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1" y="497477"/>
                  </a:lnTo>
                  <a:lnTo>
                    <a:pt x="64862" y="467028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05589" y="2803921"/>
              <a:ext cx="281940" cy="223520"/>
            </a:xfrm>
            <a:custGeom>
              <a:avLst/>
              <a:gdLst/>
              <a:ahLst/>
              <a:cxnLst/>
              <a:rect l="l" t="t" r="r" b="b"/>
              <a:pathLst>
                <a:path w="281940" h="223519">
                  <a:moveTo>
                    <a:pt x="107022" y="30480"/>
                  </a:moveTo>
                  <a:lnTo>
                    <a:pt x="34468" y="30480"/>
                  </a:lnTo>
                  <a:lnTo>
                    <a:pt x="39245" y="26670"/>
                  </a:lnTo>
                  <a:lnTo>
                    <a:pt x="44693" y="22860"/>
                  </a:lnTo>
                  <a:lnTo>
                    <a:pt x="50631" y="20320"/>
                  </a:lnTo>
                  <a:lnTo>
                    <a:pt x="54203" y="3810"/>
                  </a:lnTo>
                  <a:lnTo>
                    <a:pt x="57417" y="0"/>
                  </a:lnTo>
                  <a:lnTo>
                    <a:pt x="84073" y="0"/>
                  </a:lnTo>
                  <a:lnTo>
                    <a:pt x="87287" y="3810"/>
                  </a:lnTo>
                  <a:lnTo>
                    <a:pt x="88136" y="7620"/>
                  </a:lnTo>
                  <a:lnTo>
                    <a:pt x="90859" y="20320"/>
                  </a:lnTo>
                  <a:lnTo>
                    <a:pt x="96753" y="22860"/>
                  </a:lnTo>
                  <a:lnTo>
                    <a:pt x="102244" y="26670"/>
                  </a:lnTo>
                  <a:lnTo>
                    <a:pt x="107022" y="30480"/>
                  </a:lnTo>
                  <a:close/>
                </a:path>
                <a:path w="281940" h="223519">
                  <a:moveTo>
                    <a:pt x="17814" y="124460"/>
                  </a:moveTo>
                  <a:lnTo>
                    <a:pt x="13349" y="123190"/>
                  </a:lnTo>
                  <a:lnTo>
                    <a:pt x="10804" y="119380"/>
                  </a:lnTo>
                  <a:lnTo>
                    <a:pt x="9197" y="116840"/>
                  </a:lnTo>
                  <a:lnTo>
                    <a:pt x="7724" y="115570"/>
                  </a:lnTo>
                  <a:lnTo>
                    <a:pt x="5045" y="110490"/>
                  </a:lnTo>
                  <a:lnTo>
                    <a:pt x="3795" y="107950"/>
                  </a:lnTo>
                  <a:lnTo>
                    <a:pt x="2678" y="106680"/>
                  </a:lnTo>
                  <a:lnTo>
                    <a:pt x="1651" y="104140"/>
                  </a:lnTo>
                  <a:lnTo>
                    <a:pt x="0" y="100330"/>
                  </a:lnTo>
                  <a:lnTo>
                    <a:pt x="1250" y="95250"/>
                  </a:lnTo>
                  <a:lnTo>
                    <a:pt x="14332" y="83820"/>
                  </a:lnTo>
                  <a:lnTo>
                    <a:pt x="13841" y="81280"/>
                  </a:lnTo>
                  <a:lnTo>
                    <a:pt x="13573" y="77470"/>
                  </a:lnTo>
                  <a:lnTo>
                    <a:pt x="13573" y="71120"/>
                  </a:lnTo>
                  <a:lnTo>
                    <a:pt x="13841" y="68580"/>
                  </a:lnTo>
                  <a:lnTo>
                    <a:pt x="14332" y="64770"/>
                  </a:lnTo>
                  <a:lnTo>
                    <a:pt x="4364" y="55835"/>
                  </a:lnTo>
                  <a:lnTo>
                    <a:pt x="1250" y="53340"/>
                  </a:lnTo>
                  <a:lnTo>
                    <a:pt x="0" y="49530"/>
                  </a:lnTo>
                  <a:lnTo>
                    <a:pt x="2678" y="43180"/>
                  </a:lnTo>
                  <a:lnTo>
                    <a:pt x="3795" y="40640"/>
                  </a:lnTo>
                  <a:lnTo>
                    <a:pt x="6384" y="35560"/>
                  </a:lnTo>
                  <a:lnTo>
                    <a:pt x="7768" y="33020"/>
                  </a:lnTo>
                  <a:lnTo>
                    <a:pt x="9242" y="31750"/>
                  </a:lnTo>
                  <a:lnTo>
                    <a:pt x="13349" y="25400"/>
                  </a:lnTo>
                  <a:lnTo>
                    <a:pt x="17814" y="24130"/>
                  </a:lnTo>
                  <a:lnTo>
                    <a:pt x="21833" y="26670"/>
                  </a:lnTo>
                  <a:lnTo>
                    <a:pt x="34468" y="30480"/>
                  </a:lnTo>
                  <a:lnTo>
                    <a:pt x="131382" y="30480"/>
                  </a:lnTo>
                  <a:lnTo>
                    <a:pt x="132204" y="31750"/>
                  </a:lnTo>
                  <a:lnTo>
                    <a:pt x="133677" y="33020"/>
                  </a:lnTo>
                  <a:lnTo>
                    <a:pt x="135016" y="35560"/>
                  </a:lnTo>
                  <a:lnTo>
                    <a:pt x="136400" y="38100"/>
                  </a:lnTo>
                  <a:lnTo>
                    <a:pt x="137651" y="40640"/>
                  </a:lnTo>
                  <a:lnTo>
                    <a:pt x="138767" y="43180"/>
                  </a:lnTo>
                  <a:lnTo>
                    <a:pt x="139794" y="44450"/>
                  </a:lnTo>
                  <a:lnTo>
                    <a:pt x="141446" y="49530"/>
                  </a:lnTo>
                  <a:lnTo>
                    <a:pt x="140196" y="53340"/>
                  </a:lnTo>
                  <a:lnTo>
                    <a:pt x="65147" y="53340"/>
                  </a:lnTo>
                  <a:lnTo>
                    <a:pt x="59987" y="55835"/>
                  </a:lnTo>
                  <a:lnTo>
                    <a:pt x="49291" y="71120"/>
                  </a:lnTo>
                  <a:lnTo>
                    <a:pt x="49291" y="77470"/>
                  </a:lnTo>
                  <a:lnTo>
                    <a:pt x="65147" y="95250"/>
                  </a:lnTo>
                  <a:lnTo>
                    <a:pt x="140106" y="95250"/>
                  </a:lnTo>
                  <a:lnTo>
                    <a:pt x="141356" y="100330"/>
                  </a:lnTo>
                  <a:lnTo>
                    <a:pt x="138678" y="105410"/>
                  </a:lnTo>
                  <a:lnTo>
                    <a:pt x="137561" y="107950"/>
                  </a:lnTo>
                  <a:lnTo>
                    <a:pt x="136311" y="110490"/>
                  </a:lnTo>
                  <a:lnTo>
                    <a:pt x="134927" y="113030"/>
                  </a:lnTo>
                  <a:lnTo>
                    <a:pt x="133588" y="115570"/>
                  </a:lnTo>
                  <a:lnTo>
                    <a:pt x="132114" y="116840"/>
                  </a:lnTo>
                  <a:lnTo>
                    <a:pt x="131293" y="118110"/>
                  </a:lnTo>
                  <a:lnTo>
                    <a:pt x="34423" y="118110"/>
                  </a:lnTo>
                  <a:lnTo>
                    <a:pt x="17814" y="124460"/>
                  </a:lnTo>
                  <a:close/>
                </a:path>
                <a:path w="281940" h="223519">
                  <a:moveTo>
                    <a:pt x="131382" y="30480"/>
                  </a:moveTo>
                  <a:lnTo>
                    <a:pt x="107022" y="30480"/>
                  </a:lnTo>
                  <a:lnTo>
                    <a:pt x="123631" y="24130"/>
                  </a:lnTo>
                  <a:lnTo>
                    <a:pt x="128096" y="25400"/>
                  </a:lnTo>
                  <a:lnTo>
                    <a:pt x="131382" y="30480"/>
                  </a:lnTo>
                  <a:close/>
                </a:path>
                <a:path w="281940" h="223519">
                  <a:moveTo>
                    <a:pt x="140106" y="95250"/>
                  </a:moveTo>
                  <a:lnTo>
                    <a:pt x="76298" y="95250"/>
                  </a:lnTo>
                  <a:lnTo>
                    <a:pt x="81550" y="92710"/>
                  </a:lnTo>
                  <a:lnTo>
                    <a:pt x="83867" y="91440"/>
                  </a:lnTo>
                  <a:lnTo>
                    <a:pt x="87886" y="87630"/>
                  </a:lnTo>
                  <a:lnTo>
                    <a:pt x="89435" y="85090"/>
                  </a:lnTo>
                  <a:lnTo>
                    <a:pt x="91610" y="80010"/>
                  </a:lnTo>
                  <a:lnTo>
                    <a:pt x="92154" y="77470"/>
                  </a:lnTo>
                  <a:lnTo>
                    <a:pt x="92154" y="71120"/>
                  </a:lnTo>
                  <a:lnTo>
                    <a:pt x="76298" y="53340"/>
                  </a:lnTo>
                  <a:lnTo>
                    <a:pt x="140196" y="53340"/>
                  </a:lnTo>
                  <a:lnTo>
                    <a:pt x="136188" y="56550"/>
                  </a:lnTo>
                  <a:lnTo>
                    <a:pt x="127024" y="64770"/>
                  </a:lnTo>
                  <a:lnTo>
                    <a:pt x="127515" y="68580"/>
                  </a:lnTo>
                  <a:lnTo>
                    <a:pt x="127783" y="71120"/>
                  </a:lnTo>
                  <a:lnTo>
                    <a:pt x="127783" y="77470"/>
                  </a:lnTo>
                  <a:lnTo>
                    <a:pt x="127515" y="80010"/>
                  </a:lnTo>
                  <a:lnTo>
                    <a:pt x="127024" y="83820"/>
                  </a:lnTo>
                  <a:lnTo>
                    <a:pt x="136936" y="92710"/>
                  </a:lnTo>
                  <a:lnTo>
                    <a:pt x="140106" y="95250"/>
                  </a:lnTo>
                  <a:close/>
                </a:path>
                <a:path w="281940" h="223519">
                  <a:moveTo>
                    <a:pt x="181049" y="223520"/>
                  </a:moveTo>
                  <a:lnTo>
                    <a:pt x="174798" y="220980"/>
                  </a:lnTo>
                  <a:lnTo>
                    <a:pt x="172438" y="219687"/>
                  </a:lnTo>
                  <a:lnTo>
                    <a:pt x="170244" y="218440"/>
                  </a:lnTo>
                  <a:lnTo>
                    <a:pt x="167833" y="217170"/>
                  </a:lnTo>
                  <a:lnTo>
                    <a:pt x="165556" y="215900"/>
                  </a:lnTo>
                  <a:lnTo>
                    <a:pt x="163413" y="214630"/>
                  </a:lnTo>
                  <a:lnTo>
                    <a:pt x="157921" y="210820"/>
                  </a:lnTo>
                  <a:lnTo>
                    <a:pt x="156805" y="205740"/>
                  </a:lnTo>
                  <a:lnTo>
                    <a:pt x="162297" y="189230"/>
                  </a:lnTo>
                  <a:lnTo>
                    <a:pt x="158368" y="184150"/>
                  </a:lnTo>
                  <a:lnTo>
                    <a:pt x="155197" y="179070"/>
                  </a:lnTo>
                  <a:lnTo>
                    <a:pt x="152965" y="172720"/>
                  </a:lnTo>
                  <a:lnTo>
                    <a:pt x="135865" y="168910"/>
                  </a:lnTo>
                  <a:lnTo>
                    <a:pt x="132516" y="166370"/>
                  </a:lnTo>
                  <a:lnTo>
                    <a:pt x="131668" y="158750"/>
                  </a:lnTo>
                  <a:lnTo>
                    <a:pt x="131668" y="147320"/>
                  </a:lnTo>
                  <a:lnTo>
                    <a:pt x="132516" y="139700"/>
                  </a:lnTo>
                  <a:lnTo>
                    <a:pt x="135820" y="135890"/>
                  </a:lnTo>
                  <a:lnTo>
                    <a:pt x="152965" y="133350"/>
                  </a:lnTo>
                  <a:lnTo>
                    <a:pt x="155153" y="127000"/>
                  </a:lnTo>
                  <a:lnTo>
                    <a:pt x="158368" y="121920"/>
                  </a:lnTo>
                  <a:lnTo>
                    <a:pt x="162297" y="116840"/>
                  </a:lnTo>
                  <a:lnTo>
                    <a:pt x="156805" y="100330"/>
                  </a:lnTo>
                  <a:lnTo>
                    <a:pt x="181049" y="82550"/>
                  </a:lnTo>
                  <a:lnTo>
                    <a:pt x="185469" y="83820"/>
                  </a:lnTo>
                  <a:lnTo>
                    <a:pt x="197122" y="96520"/>
                  </a:lnTo>
                  <a:lnTo>
                    <a:pt x="255310" y="96520"/>
                  </a:lnTo>
                  <a:lnTo>
                    <a:pt x="256148" y="100330"/>
                  </a:lnTo>
                  <a:lnTo>
                    <a:pt x="250656" y="116840"/>
                  </a:lnTo>
                  <a:lnTo>
                    <a:pt x="254585" y="121920"/>
                  </a:lnTo>
                  <a:lnTo>
                    <a:pt x="257755" y="127000"/>
                  </a:lnTo>
                  <a:lnTo>
                    <a:pt x="259541" y="132080"/>
                  </a:lnTo>
                  <a:lnTo>
                    <a:pt x="200878" y="132080"/>
                  </a:lnTo>
                  <a:lnTo>
                    <a:pt x="195627" y="134620"/>
                  </a:lnTo>
                  <a:lnTo>
                    <a:pt x="185023" y="149860"/>
                  </a:lnTo>
                  <a:lnTo>
                    <a:pt x="185023" y="156210"/>
                  </a:lnTo>
                  <a:lnTo>
                    <a:pt x="200878" y="173990"/>
                  </a:lnTo>
                  <a:lnTo>
                    <a:pt x="259550" y="173990"/>
                  </a:lnTo>
                  <a:lnTo>
                    <a:pt x="257800" y="179070"/>
                  </a:lnTo>
                  <a:lnTo>
                    <a:pt x="254585" y="184150"/>
                  </a:lnTo>
                  <a:lnTo>
                    <a:pt x="250656" y="189230"/>
                  </a:lnTo>
                  <a:lnTo>
                    <a:pt x="256148" y="205740"/>
                  </a:lnTo>
                  <a:lnTo>
                    <a:pt x="255310" y="209550"/>
                  </a:lnTo>
                  <a:lnTo>
                    <a:pt x="197167" y="209550"/>
                  </a:lnTo>
                  <a:lnTo>
                    <a:pt x="188346" y="219687"/>
                  </a:lnTo>
                  <a:lnTo>
                    <a:pt x="185469" y="222250"/>
                  </a:lnTo>
                  <a:lnTo>
                    <a:pt x="181049" y="223520"/>
                  </a:lnTo>
                  <a:close/>
                </a:path>
                <a:path w="281940" h="223519">
                  <a:moveTo>
                    <a:pt x="255310" y="96520"/>
                  </a:moveTo>
                  <a:lnTo>
                    <a:pt x="215785" y="96520"/>
                  </a:lnTo>
                  <a:lnTo>
                    <a:pt x="224626" y="86360"/>
                  </a:lnTo>
                  <a:lnTo>
                    <a:pt x="227483" y="83820"/>
                  </a:lnTo>
                  <a:lnTo>
                    <a:pt x="231904" y="82550"/>
                  </a:lnTo>
                  <a:lnTo>
                    <a:pt x="238199" y="85090"/>
                  </a:lnTo>
                  <a:lnTo>
                    <a:pt x="245119" y="88900"/>
                  </a:lnTo>
                  <a:lnTo>
                    <a:pt x="249540" y="91440"/>
                  </a:lnTo>
                  <a:lnTo>
                    <a:pt x="255031" y="95250"/>
                  </a:lnTo>
                  <a:lnTo>
                    <a:pt x="255310" y="96520"/>
                  </a:lnTo>
                  <a:close/>
                </a:path>
                <a:path w="281940" h="223519">
                  <a:moveTo>
                    <a:pt x="212749" y="96520"/>
                  </a:moveTo>
                  <a:lnTo>
                    <a:pt x="200158" y="96520"/>
                  </a:lnTo>
                  <a:lnTo>
                    <a:pt x="203284" y="95250"/>
                  </a:lnTo>
                  <a:lnTo>
                    <a:pt x="209624" y="95250"/>
                  </a:lnTo>
                  <a:lnTo>
                    <a:pt x="212749" y="96520"/>
                  </a:lnTo>
                  <a:close/>
                </a:path>
                <a:path w="281940" h="223519">
                  <a:moveTo>
                    <a:pt x="83983" y="148590"/>
                  </a:moveTo>
                  <a:lnTo>
                    <a:pt x="57373" y="148590"/>
                  </a:lnTo>
                  <a:lnTo>
                    <a:pt x="54158" y="144780"/>
                  </a:lnTo>
                  <a:lnTo>
                    <a:pt x="53310" y="140970"/>
                  </a:lnTo>
                  <a:lnTo>
                    <a:pt x="50586" y="128270"/>
                  </a:lnTo>
                  <a:lnTo>
                    <a:pt x="44693" y="125730"/>
                  </a:lnTo>
                  <a:lnTo>
                    <a:pt x="39201" y="121920"/>
                  </a:lnTo>
                  <a:lnTo>
                    <a:pt x="34423" y="118110"/>
                  </a:lnTo>
                  <a:lnTo>
                    <a:pt x="106933" y="118110"/>
                  </a:lnTo>
                  <a:lnTo>
                    <a:pt x="102155" y="121920"/>
                  </a:lnTo>
                  <a:lnTo>
                    <a:pt x="96708" y="125730"/>
                  </a:lnTo>
                  <a:lnTo>
                    <a:pt x="90770" y="128270"/>
                  </a:lnTo>
                  <a:lnTo>
                    <a:pt x="87198" y="144780"/>
                  </a:lnTo>
                  <a:lnTo>
                    <a:pt x="83983" y="148590"/>
                  </a:lnTo>
                  <a:close/>
                </a:path>
                <a:path w="281940" h="223519">
                  <a:moveTo>
                    <a:pt x="123542" y="124460"/>
                  </a:moveTo>
                  <a:lnTo>
                    <a:pt x="106933" y="118110"/>
                  </a:lnTo>
                  <a:lnTo>
                    <a:pt x="131293" y="118110"/>
                  </a:lnTo>
                  <a:lnTo>
                    <a:pt x="128007" y="123190"/>
                  </a:lnTo>
                  <a:lnTo>
                    <a:pt x="123542" y="124460"/>
                  </a:lnTo>
                  <a:close/>
                </a:path>
                <a:path w="281940" h="223519">
                  <a:moveTo>
                    <a:pt x="259550" y="173990"/>
                  </a:moveTo>
                  <a:lnTo>
                    <a:pt x="212030" y="173990"/>
                  </a:lnTo>
                  <a:lnTo>
                    <a:pt x="217281" y="171450"/>
                  </a:lnTo>
                  <a:lnTo>
                    <a:pt x="219598" y="170180"/>
                  </a:lnTo>
                  <a:lnTo>
                    <a:pt x="223618" y="166370"/>
                  </a:lnTo>
                  <a:lnTo>
                    <a:pt x="225166" y="163830"/>
                  </a:lnTo>
                  <a:lnTo>
                    <a:pt x="227341" y="158750"/>
                  </a:lnTo>
                  <a:lnTo>
                    <a:pt x="227885" y="156210"/>
                  </a:lnTo>
                  <a:lnTo>
                    <a:pt x="227885" y="149860"/>
                  </a:lnTo>
                  <a:lnTo>
                    <a:pt x="212030" y="132080"/>
                  </a:lnTo>
                  <a:lnTo>
                    <a:pt x="259541" y="132080"/>
                  </a:lnTo>
                  <a:lnTo>
                    <a:pt x="259987" y="133350"/>
                  </a:lnTo>
                  <a:lnTo>
                    <a:pt x="272980" y="135890"/>
                  </a:lnTo>
                  <a:lnTo>
                    <a:pt x="277088" y="135890"/>
                  </a:lnTo>
                  <a:lnTo>
                    <a:pt x="280436" y="139700"/>
                  </a:lnTo>
                  <a:lnTo>
                    <a:pt x="281285" y="147320"/>
                  </a:lnTo>
                  <a:lnTo>
                    <a:pt x="281374" y="148590"/>
                  </a:lnTo>
                  <a:lnTo>
                    <a:pt x="281463" y="156210"/>
                  </a:lnTo>
                  <a:lnTo>
                    <a:pt x="281285" y="158750"/>
                  </a:lnTo>
                  <a:lnTo>
                    <a:pt x="280436" y="166370"/>
                  </a:lnTo>
                  <a:lnTo>
                    <a:pt x="277132" y="168910"/>
                  </a:lnTo>
                  <a:lnTo>
                    <a:pt x="272980" y="170180"/>
                  </a:lnTo>
                  <a:lnTo>
                    <a:pt x="259987" y="172720"/>
                  </a:lnTo>
                  <a:lnTo>
                    <a:pt x="259550" y="173990"/>
                  </a:lnTo>
                  <a:close/>
                </a:path>
                <a:path w="281940" h="223519">
                  <a:moveTo>
                    <a:pt x="73759" y="149860"/>
                  </a:moveTo>
                  <a:lnTo>
                    <a:pt x="67597" y="149860"/>
                  </a:lnTo>
                  <a:lnTo>
                    <a:pt x="64561" y="148590"/>
                  </a:lnTo>
                  <a:lnTo>
                    <a:pt x="76795" y="148590"/>
                  </a:lnTo>
                  <a:lnTo>
                    <a:pt x="73759" y="149860"/>
                  </a:lnTo>
                  <a:close/>
                </a:path>
                <a:path w="281940" h="223519">
                  <a:moveTo>
                    <a:pt x="231859" y="223520"/>
                  </a:moveTo>
                  <a:lnTo>
                    <a:pt x="227439" y="222250"/>
                  </a:lnTo>
                  <a:lnTo>
                    <a:pt x="224834" y="219898"/>
                  </a:lnTo>
                  <a:lnTo>
                    <a:pt x="215830" y="209550"/>
                  </a:lnTo>
                  <a:lnTo>
                    <a:pt x="255310" y="209550"/>
                  </a:lnTo>
                  <a:lnTo>
                    <a:pt x="255031" y="210820"/>
                  </a:lnTo>
                  <a:lnTo>
                    <a:pt x="249540" y="214630"/>
                  </a:lnTo>
                  <a:lnTo>
                    <a:pt x="245119" y="217170"/>
                  </a:lnTo>
                  <a:lnTo>
                    <a:pt x="242708" y="218440"/>
                  </a:lnTo>
                  <a:lnTo>
                    <a:pt x="240515" y="219687"/>
                  </a:lnTo>
                  <a:lnTo>
                    <a:pt x="235788" y="222250"/>
                  </a:lnTo>
                  <a:lnTo>
                    <a:pt x="231859" y="223520"/>
                  </a:lnTo>
                  <a:close/>
                </a:path>
              </a:pathLst>
            </a:custGeom>
            <a:solidFill>
              <a:srgbClr val="A8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63674" y="2665863"/>
            <a:ext cx="3129280" cy="1215397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60"/>
              </a:spcBef>
            </a:pPr>
            <a:r>
              <a:rPr sz="1650" b="1" spc="-114" dirty="0">
                <a:solidFill>
                  <a:srgbClr val="DFF0FF"/>
                </a:solidFill>
                <a:latin typeface="DejaVu Sans"/>
                <a:cs typeface="DejaVu Sans"/>
              </a:rPr>
              <a:t>Adaptação</a:t>
            </a:r>
            <a:r>
              <a:rPr sz="1650" b="1" spc="20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650" b="1" spc="-20" dirty="0">
                <a:solidFill>
                  <a:srgbClr val="DFF0FF"/>
                </a:solidFill>
                <a:latin typeface="DejaVu Sans"/>
                <a:cs typeface="DejaVu Sans"/>
              </a:rPr>
              <a:t>Tecnológica</a:t>
            </a:r>
            <a:endParaRPr sz="1650" dirty="0">
              <a:latin typeface="DejaVu Sans"/>
              <a:cs typeface="DejaVu Sans"/>
            </a:endParaRPr>
          </a:p>
          <a:p>
            <a:pPr marL="12700" marR="5080" algn="just">
              <a:lnSpc>
                <a:spcPct val="114000"/>
              </a:lnSpc>
              <a:spcBef>
                <a:spcPts val="450"/>
              </a:spcBef>
            </a:pP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Sistemas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9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gestão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precisarão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ser</a:t>
            </a:r>
            <a:r>
              <a:rPr sz="115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atualizados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para</a:t>
            </a:r>
            <a:r>
              <a:rPr sz="11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FFFFFF"/>
                </a:solidFill>
                <a:latin typeface="DejaVu Sans"/>
                <a:cs typeface="DejaVu Sans"/>
              </a:rPr>
              <a:t>receber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valores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30" dirty="0">
                <a:solidFill>
                  <a:srgbClr val="FFFFFF"/>
                </a:solidFill>
                <a:latin typeface="DejaVu Sans"/>
                <a:cs typeface="DejaVu Sans"/>
              </a:rPr>
              <a:t>já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líquidos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9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impostos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e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integrar-</a:t>
            </a:r>
            <a:r>
              <a:rPr sz="1150" spc="-85" dirty="0">
                <a:solidFill>
                  <a:srgbClr val="FFFFFF"/>
                </a:solidFill>
                <a:latin typeface="DejaVu Sans"/>
                <a:cs typeface="DejaVu Sans"/>
              </a:rPr>
              <a:t>se</a:t>
            </a:r>
            <a:r>
              <a:rPr sz="1150" spc="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às</a:t>
            </a:r>
            <a:r>
              <a:rPr sz="1150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plataformas</a:t>
            </a:r>
            <a:r>
              <a:rPr sz="1150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9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50" spc="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FFFFFF"/>
                </a:solidFill>
                <a:latin typeface="DejaVu Sans"/>
                <a:cs typeface="DejaVu Sans"/>
              </a:rPr>
              <a:t>pagamento</a:t>
            </a:r>
            <a:r>
              <a:rPr sz="1150" spc="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que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implementarão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Split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Payment.</a:t>
            </a:r>
            <a:endParaRPr sz="1150" dirty="0">
              <a:latin typeface="DejaVu Sans"/>
              <a:cs typeface="DejaVu San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24424" y="2438399"/>
            <a:ext cx="4210050" cy="1647825"/>
            <a:chOff x="4924424" y="2438399"/>
            <a:chExt cx="4210050" cy="1647825"/>
          </a:xfrm>
        </p:grpSpPr>
        <p:sp>
          <p:nvSpPr>
            <p:cNvPr id="18" name="object 18"/>
            <p:cNvSpPr/>
            <p:nvPr/>
          </p:nvSpPr>
          <p:spPr>
            <a:xfrm>
              <a:off x="4924424" y="2438399"/>
              <a:ext cx="4210050" cy="1647825"/>
            </a:xfrm>
            <a:custGeom>
              <a:avLst/>
              <a:gdLst/>
              <a:ahLst/>
              <a:cxnLst/>
              <a:rect l="l" t="t" r="r" b="b"/>
              <a:pathLst>
                <a:path w="4210050" h="1647825">
                  <a:moveTo>
                    <a:pt x="4138852" y="1647824"/>
                  </a:moveTo>
                  <a:lnTo>
                    <a:pt x="71196" y="1647824"/>
                  </a:lnTo>
                  <a:lnTo>
                    <a:pt x="66241" y="1647336"/>
                  </a:lnTo>
                  <a:lnTo>
                    <a:pt x="29705" y="1632202"/>
                  </a:lnTo>
                  <a:lnTo>
                    <a:pt x="3885" y="1596162"/>
                  </a:lnTo>
                  <a:lnTo>
                    <a:pt x="0" y="1576628"/>
                  </a:lnTo>
                  <a:lnTo>
                    <a:pt x="0" y="15716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138852" y="0"/>
                  </a:lnTo>
                  <a:lnTo>
                    <a:pt x="4180343" y="15621"/>
                  </a:lnTo>
                  <a:lnTo>
                    <a:pt x="4206163" y="51661"/>
                  </a:lnTo>
                  <a:lnTo>
                    <a:pt x="4210049" y="71196"/>
                  </a:lnTo>
                  <a:lnTo>
                    <a:pt x="4210049" y="1576628"/>
                  </a:lnTo>
                  <a:lnTo>
                    <a:pt x="4194427" y="1618119"/>
                  </a:lnTo>
                  <a:lnTo>
                    <a:pt x="4158387" y="1643938"/>
                  </a:lnTo>
                  <a:lnTo>
                    <a:pt x="4143807" y="1647336"/>
                  </a:lnTo>
                  <a:lnTo>
                    <a:pt x="4138852" y="16478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14924" y="26288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1" y="497477"/>
                  </a:lnTo>
                  <a:lnTo>
                    <a:pt x="64861" y="467028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8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6374" y="2814637"/>
              <a:ext cx="228600" cy="20002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861685" y="2628899"/>
            <a:ext cx="3289936" cy="1215397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650" b="1" spc="-100" dirty="0">
                <a:solidFill>
                  <a:srgbClr val="DFF0FF"/>
                </a:solidFill>
                <a:latin typeface="DejaVu Sans"/>
                <a:cs typeface="DejaVu Sans"/>
              </a:rPr>
              <a:t>Fluxo</a:t>
            </a:r>
            <a:r>
              <a:rPr sz="1650" b="1" spc="-3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650" b="1" spc="-114" dirty="0">
                <a:solidFill>
                  <a:srgbClr val="DFF0FF"/>
                </a:solidFill>
                <a:latin typeface="DejaVu Sans"/>
                <a:cs typeface="DejaVu Sans"/>
              </a:rPr>
              <a:t>de</a:t>
            </a:r>
            <a:r>
              <a:rPr sz="1650" b="1" spc="-3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650" b="1" spc="-20" dirty="0">
                <a:solidFill>
                  <a:srgbClr val="DFF0FF"/>
                </a:solidFill>
                <a:latin typeface="DejaVu Sans"/>
                <a:cs typeface="DejaVu Sans"/>
              </a:rPr>
              <a:t>Caixa</a:t>
            </a:r>
            <a:endParaRPr sz="1650" dirty="0">
              <a:latin typeface="DejaVu Sans"/>
              <a:cs typeface="DejaVu Sans"/>
            </a:endParaRPr>
          </a:p>
          <a:p>
            <a:pPr marL="12700" marR="5080">
              <a:lnSpc>
                <a:spcPct val="114000"/>
              </a:lnSpc>
              <a:spcBef>
                <a:spcPts val="459"/>
              </a:spcBef>
            </a:pP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Empresas</a:t>
            </a:r>
            <a:r>
              <a:rPr sz="11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que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5" dirty="0" err="1">
                <a:solidFill>
                  <a:srgbClr val="FFFFFF"/>
                </a:solidFill>
                <a:latin typeface="DejaVu Sans"/>
                <a:cs typeface="DejaVu Sans"/>
              </a:rPr>
              <a:t>usam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150" dirty="0">
                <a:solidFill>
                  <a:srgbClr val="FFFFFF"/>
                </a:solidFill>
                <a:latin typeface="Arial"/>
                <a:cs typeface="Arial"/>
              </a:rPr>
              <a:t>dinheiro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dos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impostos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precisarão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reorganizar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suas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-35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150" spc="-35" dirty="0">
                <a:solidFill>
                  <a:srgbClr val="FFFFFF"/>
                </a:solidFill>
                <a:latin typeface="DejaVu Sans"/>
                <a:cs typeface="DejaVu Sans"/>
              </a:rPr>
              <a:t>nanças,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pois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o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valor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dos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tributos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será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direcionado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diretamente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ao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governo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no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FFFFFF"/>
                </a:solidFill>
                <a:latin typeface="DejaVu Sans"/>
                <a:cs typeface="DejaVu Sans"/>
              </a:rPr>
              <a:t>momento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da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venda.</a:t>
            </a:r>
            <a:endParaRPr sz="1150" dirty="0">
              <a:latin typeface="DejaVu Sans"/>
              <a:cs typeface="DejaVu San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71499" y="4371974"/>
            <a:ext cx="4210050" cy="1457325"/>
            <a:chOff x="571499" y="4371974"/>
            <a:chExt cx="4210050" cy="1457325"/>
          </a:xfrm>
        </p:grpSpPr>
        <p:sp>
          <p:nvSpPr>
            <p:cNvPr id="23" name="object 23"/>
            <p:cNvSpPr/>
            <p:nvPr/>
          </p:nvSpPr>
          <p:spPr>
            <a:xfrm>
              <a:off x="571499" y="4371974"/>
              <a:ext cx="4210050" cy="1457325"/>
            </a:xfrm>
            <a:custGeom>
              <a:avLst/>
              <a:gdLst/>
              <a:ahLst/>
              <a:cxnLst/>
              <a:rect l="l" t="t" r="r" b="b"/>
              <a:pathLst>
                <a:path w="4210050" h="1457325">
                  <a:moveTo>
                    <a:pt x="4138852" y="1457324"/>
                  </a:moveTo>
                  <a:lnTo>
                    <a:pt x="71196" y="1457324"/>
                  </a:lnTo>
                  <a:lnTo>
                    <a:pt x="66241" y="1456836"/>
                  </a:lnTo>
                  <a:lnTo>
                    <a:pt x="29705" y="1441703"/>
                  </a:lnTo>
                  <a:lnTo>
                    <a:pt x="3885" y="1405661"/>
                  </a:lnTo>
                  <a:lnTo>
                    <a:pt x="0" y="1386128"/>
                  </a:lnTo>
                  <a:lnTo>
                    <a:pt x="0" y="13811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138852" y="0"/>
                  </a:lnTo>
                  <a:lnTo>
                    <a:pt x="4180343" y="15621"/>
                  </a:lnTo>
                  <a:lnTo>
                    <a:pt x="4206163" y="51661"/>
                  </a:lnTo>
                  <a:lnTo>
                    <a:pt x="4210049" y="71196"/>
                  </a:lnTo>
                  <a:lnTo>
                    <a:pt x="4210049" y="1386128"/>
                  </a:lnTo>
                  <a:lnTo>
                    <a:pt x="4194427" y="1427618"/>
                  </a:lnTo>
                  <a:lnTo>
                    <a:pt x="4158386" y="1453438"/>
                  </a:lnTo>
                  <a:lnTo>
                    <a:pt x="4143807" y="1456836"/>
                  </a:lnTo>
                  <a:lnTo>
                    <a:pt x="4138852" y="14573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1999" y="45624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8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1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2"/>
                  </a:lnTo>
                  <a:lnTo>
                    <a:pt x="566009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499" y="4748256"/>
              <a:ext cx="195314" cy="19531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463674" y="4453094"/>
            <a:ext cx="2924810" cy="120218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650" b="1" spc="-10" dirty="0">
                <a:solidFill>
                  <a:srgbClr val="DFF0FF"/>
                </a:solidFill>
                <a:latin typeface="DejaVu Sans"/>
                <a:cs typeface="DejaVu Sans"/>
              </a:rPr>
              <a:t>Preci</a:t>
            </a:r>
            <a:r>
              <a:rPr sz="1500" b="1" spc="-10" dirty="0">
                <a:solidFill>
                  <a:srgbClr val="DFF0FF"/>
                </a:solidFill>
                <a:latin typeface="Arial"/>
                <a:cs typeface="Arial"/>
              </a:rPr>
              <a:t>ﬁ</a:t>
            </a:r>
            <a:r>
              <a:rPr sz="1650" b="1" spc="-10" dirty="0">
                <a:solidFill>
                  <a:srgbClr val="DFF0FF"/>
                </a:solidFill>
                <a:latin typeface="DejaVu Sans"/>
                <a:cs typeface="DejaVu Sans"/>
              </a:rPr>
              <a:t>cação</a:t>
            </a:r>
            <a:endParaRPr sz="1650" dirty="0">
              <a:latin typeface="DejaVu Sans"/>
              <a:cs typeface="DejaVu Sans"/>
            </a:endParaRPr>
          </a:p>
          <a:p>
            <a:pPr marL="12700" marR="5080">
              <a:lnSpc>
                <a:spcPct val="112000"/>
              </a:lnSpc>
              <a:spcBef>
                <a:spcPts val="450"/>
              </a:spcBef>
            </a:pP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Necessidade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revisar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45" dirty="0">
                <a:solidFill>
                  <a:srgbClr val="FFFFFF"/>
                </a:solidFill>
                <a:latin typeface="DejaVu Sans"/>
                <a:cs typeface="DejaVu Sans"/>
              </a:rPr>
              <a:t>política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preços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considerando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separação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automática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dos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tributos,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garantindo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margens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adequadas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e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comunicação</a:t>
            </a:r>
            <a:r>
              <a:rPr sz="11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transparente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FFFFFF"/>
                </a:solidFill>
                <a:latin typeface="DejaVu Sans"/>
                <a:cs typeface="DejaVu Sans"/>
              </a:rPr>
              <a:t>com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clientes.</a:t>
            </a:r>
            <a:endParaRPr sz="1150" dirty="0">
              <a:latin typeface="DejaVu Sans"/>
              <a:cs typeface="DejaVu San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924424" y="4371974"/>
            <a:ext cx="4210050" cy="1457325"/>
            <a:chOff x="4924424" y="4371974"/>
            <a:chExt cx="4210050" cy="1457325"/>
          </a:xfrm>
        </p:grpSpPr>
        <p:sp>
          <p:nvSpPr>
            <p:cNvPr id="28" name="object 28"/>
            <p:cNvSpPr/>
            <p:nvPr/>
          </p:nvSpPr>
          <p:spPr>
            <a:xfrm>
              <a:off x="4924424" y="4371974"/>
              <a:ext cx="4210050" cy="1457325"/>
            </a:xfrm>
            <a:custGeom>
              <a:avLst/>
              <a:gdLst/>
              <a:ahLst/>
              <a:cxnLst/>
              <a:rect l="l" t="t" r="r" b="b"/>
              <a:pathLst>
                <a:path w="4210050" h="1457325">
                  <a:moveTo>
                    <a:pt x="4138852" y="1457324"/>
                  </a:moveTo>
                  <a:lnTo>
                    <a:pt x="71196" y="1457324"/>
                  </a:lnTo>
                  <a:lnTo>
                    <a:pt x="66241" y="1456836"/>
                  </a:lnTo>
                  <a:lnTo>
                    <a:pt x="29705" y="1441703"/>
                  </a:lnTo>
                  <a:lnTo>
                    <a:pt x="3885" y="1405661"/>
                  </a:lnTo>
                  <a:lnTo>
                    <a:pt x="0" y="1386128"/>
                  </a:lnTo>
                  <a:lnTo>
                    <a:pt x="0" y="1381124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138852" y="0"/>
                  </a:lnTo>
                  <a:lnTo>
                    <a:pt x="4180343" y="15621"/>
                  </a:lnTo>
                  <a:lnTo>
                    <a:pt x="4206163" y="51661"/>
                  </a:lnTo>
                  <a:lnTo>
                    <a:pt x="4210049" y="71196"/>
                  </a:lnTo>
                  <a:lnTo>
                    <a:pt x="4210049" y="1386128"/>
                  </a:lnTo>
                  <a:lnTo>
                    <a:pt x="4194427" y="1427618"/>
                  </a:lnTo>
                  <a:lnTo>
                    <a:pt x="4158387" y="1453438"/>
                  </a:lnTo>
                  <a:lnTo>
                    <a:pt x="4143807" y="1456836"/>
                  </a:lnTo>
                  <a:lnTo>
                    <a:pt x="4138852" y="14573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14924" y="45624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1" y="467028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9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5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2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4949" y="4733924"/>
              <a:ext cx="171450" cy="2286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816599" y="4453094"/>
            <a:ext cx="3138805" cy="120218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650" b="1" spc="-100" dirty="0">
                <a:solidFill>
                  <a:srgbClr val="DFF0FF"/>
                </a:solidFill>
                <a:latin typeface="DejaVu Sans"/>
                <a:cs typeface="DejaVu Sans"/>
              </a:rPr>
              <a:t>Controles</a:t>
            </a:r>
            <a:r>
              <a:rPr sz="1650" b="1" spc="2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650" b="1" spc="-10" dirty="0">
                <a:solidFill>
                  <a:srgbClr val="DFF0FF"/>
                </a:solidFill>
                <a:latin typeface="DejaVu Sans"/>
                <a:cs typeface="DejaVu Sans"/>
              </a:rPr>
              <a:t>Internos</a:t>
            </a:r>
            <a:endParaRPr sz="1650" dirty="0">
              <a:latin typeface="DejaVu Sans"/>
              <a:cs typeface="DejaVu Sans"/>
            </a:endParaRPr>
          </a:p>
          <a:p>
            <a:pPr marL="12700" marR="5080">
              <a:lnSpc>
                <a:spcPct val="112000"/>
              </a:lnSpc>
              <a:spcBef>
                <a:spcPts val="450"/>
              </a:spcBef>
            </a:pP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Novos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procedimentos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para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conciliação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contábil</a:t>
            </a:r>
            <a:r>
              <a:rPr sz="11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1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scal,</a:t>
            </a:r>
            <a:r>
              <a:rPr sz="11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garantindo</a:t>
            </a:r>
            <a:r>
              <a:rPr sz="11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que</a:t>
            </a:r>
            <a:r>
              <a:rPr sz="11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os</a:t>
            </a:r>
            <a:r>
              <a:rPr sz="11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valores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separados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automaticamente</a:t>
            </a:r>
            <a:r>
              <a:rPr sz="1150" spc="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DejaVu Sans"/>
                <a:cs typeface="DejaVu Sans"/>
              </a:rPr>
              <a:t>correspondam</a:t>
            </a:r>
            <a:r>
              <a:rPr sz="1150" spc="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às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obrigações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tributárias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da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DejaVu Sans"/>
                <a:cs typeface="DejaVu Sans"/>
              </a:rPr>
              <a:t>empresa.</a:t>
            </a:r>
            <a:endParaRPr sz="1150" dirty="0">
              <a:latin typeface="DejaVu Sans"/>
              <a:cs typeface="DejaVu Sans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800" y="6400007"/>
            <a:ext cx="133349" cy="15239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00843" y="6368660"/>
            <a:ext cx="9047162" cy="10219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marR="218440" indent="257810" algn="ctr">
              <a:lnSpc>
                <a:spcPct val="112000"/>
              </a:lnSpc>
              <a:spcBef>
                <a:spcPts val="100"/>
              </a:spcBef>
            </a:pPr>
            <a:r>
              <a:rPr lang="pt-BR" sz="1350" b="1" spc="-110" dirty="0">
                <a:solidFill>
                  <a:srgbClr val="FFFFFF"/>
                </a:solidFill>
                <a:latin typeface="DejaVu Sans"/>
                <a:cs typeface="DejaVu Sans"/>
              </a:rPr>
              <a:t>Nosso Papel</a:t>
            </a:r>
            <a:r>
              <a:rPr sz="1350" b="1" spc="-100" dirty="0">
                <a:solidFill>
                  <a:srgbClr val="FFFFFF"/>
                </a:solidFill>
                <a:latin typeface="DejaVu Sans"/>
                <a:cs typeface="DejaVu Sans"/>
              </a:rPr>
              <a:t>:</a:t>
            </a:r>
            <a:r>
              <a:rPr sz="1350" b="1" spc="-7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350" spc="-70" dirty="0">
                <a:solidFill>
                  <a:srgbClr val="FFFFFF"/>
                </a:solidFill>
                <a:latin typeface="DejaVu Sans"/>
                <a:cs typeface="DejaVu Sans"/>
              </a:rPr>
              <a:t>Estamos preparados p</a:t>
            </a:r>
            <a:r>
              <a:rPr lang="pt-BR" sz="1350" spc="-110" dirty="0">
                <a:solidFill>
                  <a:srgbClr val="FFFFFF"/>
                </a:solidFill>
                <a:latin typeface="DejaVu Sans"/>
                <a:cs typeface="DejaVu Sans"/>
              </a:rPr>
              <a:t>ara lhe ajudar a </a:t>
            </a:r>
            <a:r>
              <a:rPr sz="1350" spc="-95" dirty="0" err="1">
                <a:solidFill>
                  <a:srgbClr val="FFFFFF"/>
                </a:solidFill>
                <a:latin typeface="DejaVu Sans"/>
                <a:cs typeface="DejaVu Sans"/>
              </a:rPr>
              <a:t>navegar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estas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mudanças,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DejaVu Sans"/>
                <a:cs typeface="DejaVu Sans"/>
              </a:rPr>
              <a:t>auxiliando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na </a:t>
            </a: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adaptação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dos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sistemas,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reorganização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350" spc="-70" dirty="0">
                <a:solidFill>
                  <a:srgbClr val="FFFFFF"/>
                </a:solidFill>
                <a:latin typeface="DejaVu Sans"/>
                <a:cs typeface="DejaVu Sans"/>
              </a:rPr>
              <a:t>nanceira,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DejaVu Sans"/>
                <a:cs typeface="DejaVu Sans"/>
              </a:rPr>
              <a:t>revisão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DejaVu Sans"/>
                <a:cs typeface="DejaVu Sans"/>
              </a:rPr>
              <a:t>da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75" dirty="0">
                <a:solidFill>
                  <a:srgbClr val="FFFFFF"/>
                </a:solidFill>
                <a:latin typeface="DejaVu Sans"/>
                <a:cs typeface="DejaVu Sans"/>
              </a:rPr>
              <a:t>política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preços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implementação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" dirty="0" err="1">
                <a:solidFill>
                  <a:srgbClr val="FFFFFF"/>
                </a:solidFill>
                <a:latin typeface="DejaVu Sans"/>
                <a:cs typeface="DejaVu Sans"/>
              </a:rPr>
              <a:t>novos</a:t>
            </a:r>
            <a:r>
              <a:rPr lang="pt-BR" sz="1350" spc="-10" dirty="0">
                <a:solidFill>
                  <a:srgbClr val="FFFFFF"/>
                </a:solidFill>
                <a:latin typeface="DejaVu Sans"/>
                <a:cs typeface="DejaVu Sans"/>
              </a:rPr>
              <a:t> controles internos</a:t>
            </a:r>
            <a:endParaRPr sz="1350" dirty="0">
              <a:latin typeface="DejaVu Sans"/>
              <a:cs typeface="DejaVu Sans"/>
            </a:endParaRPr>
          </a:p>
          <a:p>
            <a:pPr marL="25400">
              <a:lnSpc>
                <a:spcPct val="100000"/>
              </a:lnSpc>
              <a:spcBef>
                <a:spcPts val="480"/>
              </a:spcBef>
              <a:tabLst>
                <a:tab pos="6642734" algn="l"/>
              </a:tabLst>
            </a:pPr>
            <a:endParaRPr lang="pt-BR" sz="1350" spc="-65" dirty="0">
              <a:solidFill>
                <a:srgbClr val="A8D0FF"/>
              </a:solidFill>
              <a:latin typeface="DejaVu Sans"/>
              <a:cs typeface="DejaVu Sans"/>
            </a:endParaRPr>
          </a:p>
          <a:p>
            <a:pPr marL="25400">
              <a:lnSpc>
                <a:spcPct val="100000"/>
              </a:lnSpc>
              <a:spcBef>
                <a:spcPts val="480"/>
              </a:spcBef>
              <a:tabLst>
                <a:tab pos="6642734" algn="l"/>
              </a:tabLst>
            </a:pPr>
            <a:r>
              <a:rPr sz="1350" dirty="0">
                <a:solidFill>
                  <a:srgbClr val="A8D0FF"/>
                </a:solidFill>
                <a:latin typeface="DejaVu Sans"/>
                <a:cs typeface="DejaVu Sans"/>
              </a:rPr>
              <a:t>	</a:t>
            </a:r>
            <a:endParaRPr sz="1350" dirty="0">
              <a:latin typeface="DejaVu Sans"/>
              <a:cs typeface="DejaVu San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58800" y="171544"/>
            <a:ext cx="293370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pt-BR" sz="1500" dirty="0" smtClean="0">
                <a:solidFill>
                  <a:schemeClr val="bg1"/>
                </a:solidFill>
                <a:latin typeface="DejaVu Sans"/>
                <a:cs typeface="DejaVu Sans"/>
              </a:rPr>
              <a:t>VSR - CONTABILIDADE</a:t>
            </a:r>
            <a:endParaRPr lang="pt-BR" sz="1500" dirty="0">
              <a:solidFill>
                <a:schemeClr val="bg1"/>
              </a:solidFill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599" cy="731519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58800" y="179102"/>
            <a:ext cx="3632200" cy="11849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1450" b="1" spc="-95" dirty="0" smtClean="0">
                <a:solidFill>
                  <a:srgbClr val="DFF0FF"/>
                </a:solidFill>
                <a:latin typeface="DejaVu Sans"/>
                <a:cs typeface="DejaVu Sans"/>
              </a:rPr>
              <a:t>VSR – CONTABILIDADE</a:t>
            </a: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endParaRPr lang="pt-BR" sz="1450" b="1" spc="-95" dirty="0">
              <a:solidFill>
                <a:srgbClr val="DFF0FF"/>
              </a:solidFill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endParaRPr lang="pt-BR" sz="1450" b="1" spc="-95" dirty="0" smtClean="0">
              <a:solidFill>
                <a:srgbClr val="DFF0FF"/>
              </a:solidFill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endParaRPr lang="pt-BR" sz="1450" b="1" spc="-95" dirty="0">
              <a:solidFill>
                <a:srgbClr val="DFF0FF"/>
              </a:solidFill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endParaRPr sz="1450" dirty="0">
              <a:latin typeface="DejaVu Sans"/>
              <a:cs typeface="DejaVu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9007" y="1669186"/>
            <a:ext cx="8169909" cy="4262120"/>
          </a:xfrm>
          <a:custGeom>
            <a:avLst/>
            <a:gdLst/>
            <a:ahLst/>
            <a:cxnLst/>
            <a:rect l="l" t="t" r="r" b="b"/>
            <a:pathLst>
              <a:path w="8169909" h="4262120">
                <a:moveTo>
                  <a:pt x="1173187" y="3880053"/>
                </a:moveTo>
                <a:lnTo>
                  <a:pt x="1158074" y="3823627"/>
                </a:lnTo>
                <a:lnTo>
                  <a:pt x="1127252" y="3708628"/>
                </a:lnTo>
                <a:lnTo>
                  <a:pt x="1043051" y="3394354"/>
                </a:lnTo>
                <a:lnTo>
                  <a:pt x="1043051" y="3854450"/>
                </a:lnTo>
                <a:lnTo>
                  <a:pt x="928065" y="3885260"/>
                </a:lnTo>
                <a:lnTo>
                  <a:pt x="925131" y="3838105"/>
                </a:lnTo>
                <a:lnTo>
                  <a:pt x="939990" y="3794937"/>
                </a:lnTo>
                <a:lnTo>
                  <a:pt x="969949" y="3760482"/>
                </a:lnTo>
                <a:lnTo>
                  <a:pt x="1012253" y="3739438"/>
                </a:lnTo>
                <a:lnTo>
                  <a:pt x="1043051" y="3854450"/>
                </a:lnTo>
                <a:lnTo>
                  <a:pt x="1043051" y="3394354"/>
                </a:lnTo>
                <a:lnTo>
                  <a:pt x="1027112" y="3334855"/>
                </a:lnTo>
                <a:lnTo>
                  <a:pt x="1024077" y="3323539"/>
                </a:lnTo>
                <a:lnTo>
                  <a:pt x="1023137" y="3321329"/>
                </a:lnTo>
                <a:lnTo>
                  <a:pt x="1014425" y="3300780"/>
                </a:lnTo>
                <a:lnTo>
                  <a:pt x="999147" y="3281997"/>
                </a:lnTo>
                <a:lnTo>
                  <a:pt x="979233" y="3268688"/>
                </a:lnTo>
                <a:lnTo>
                  <a:pt x="955675" y="3262325"/>
                </a:lnTo>
                <a:lnTo>
                  <a:pt x="942911" y="3261804"/>
                </a:lnTo>
                <a:lnTo>
                  <a:pt x="942911" y="3480676"/>
                </a:lnTo>
                <a:lnTo>
                  <a:pt x="895756" y="3483610"/>
                </a:lnTo>
                <a:lnTo>
                  <a:pt x="861275" y="3471735"/>
                </a:lnTo>
                <a:lnTo>
                  <a:pt x="852589" y="3468751"/>
                </a:lnTo>
                <a:lnTo>
                  <a:pt x="818134" y="3438791"/>
                </a:lnTo>
                <a:lnTo>
                  <a:pt x="797090" y="3396488"/>
                </a:lnTo>
                <a:lnTo>
                  <a:pt x="912101" y="3365677"/>
                </a:lnTo>
                <a:lnTo>
                  <a:pt x="942911" y="3480676"/>
                </a:lnTo>
                <a:lnTo>
                  <a:pt x="942911" y="3261804"/>
                </a:lnTo>
                <a:lnTo>
                  <a:pt x="904836" y="3260217"/>
                </a:lnTo>
                <a:lnTo>
                  <a:pt x="855433" y="3263430"/>
                </a:lnTo>
                <a:lnTo>
                  <a:pt x="807288" y="3271355"/>
                </a:lnTo>
                <a:lnTo>
                  <a:pt x="760247" y="3283394"/>
                </a:lnTo>
                <a:lnTo>
                  <a:pt x="737527" y="3291090"/>
                </a:lnTo>
                <a:lnTo>
                  <a:pt x="737527" y="3769741"/>
                </a:lnTo>
                <a:lnTo>
                  <a:pt x="734085" y="3814838"/>
                </a:lnTo>
                <a:lnTo>
                  <a:pt x="720966" y="3855770"/>
                </a:lnTo>
                <a:lnTo>
                  <a:pt x="699096" y="3890543"/>
                </a:lnTo>
                <a:lnTo>
                  <a:pt x="669417" y="3917150"/>
                </a:lnTo>
                <a:lnTo>
                  <a:pt x="632841" y="3933545"/>
                </a:lnTo>
                <a:lnTo>
                  <a:pt x="592963" y="3937635"/>
                </a:lnTo>
                <a:lnTo>
                  <a:pt x="553961" y="3929430"/>
                </a:lnTo>
                <a:lnTo>
                  <a:pt x="517639" y="3910253"/>
                </a:lnTo>
                <a:lnTo>
                  <a:pt x="485813" y="3881361"/>
                </a:lnTo>
                <a:lnTo>
                  <a:pt x="460286" y="3844036"/>
                </a:lnTo>
                <a:lnTo>
                  <a:pt x="442861" y="3799560"/>
                </a:lnTo>
                <a:lnTo>
                  <a:pt x="435711" y="3752342"/>
                </a:lnTo>
                <a:lnTo>
                  <a:pt x="439089" y="3708120"/>
                </a:lnTo>
                <a:lnTo>
                  <a:pt x="439153" y="3707257"/>
                </a:lnTo>
                <a:lnTo>
                  <a:pt x="452272" y="3666312"/>
                </a:lnTo>
                <a:lnTo>
                  <a:pt x="474141" y="3631539"/>
                </a:lnTo>
                <a:lnTo>
                  <a:pt x="503821" y="3604945"/>
                </a:lnTo>
                <a:lnTo>
                  <a:pt x="540397" y="3588537"/>
                </a:lnTo>
                <a:lnTo>
                  <a:pt x="580275" y="3584460"/>
                </a:lnTo>
                <a:lnTo>
                  <a:pt x="619277" y="3592652"/>
                </a:lnTo>
                <a:lnTo>
                  <a:pt x="655599" y="3611829"/>
                </a:lnTo>
                <a:lnTo>
                  <a:pt x="687438" y="3640734"/>
                </a:lnTo>
                <a:lnTo>
                  <a:pt x="712965" y="3678047"/>
                </a:lnTo>
                <a:lnTo>
                  <a:pt x="730377" y="3722522"/>
                </a:lnTo>
                <a:lnTo>
                  <a:pt x="737527" y="3769741"/>
                </a:lnTo>
                <a:lnTo>
                  <a:pt x="737527" y="3291090"/>
                </a:lnTo>
                <a:lnTo>
                  <a:pt x="668858" y="3317532"/>
                </a:lnTo>
                <a:lnTo>
                  <a:pt x="624179" y="3338423"/>
                </a:lnTo>
                <a:lnTo>
                  <a:pt x="579996" y="3361093"/>
                </a:lnTo>
                <a:lnTo>
                  <a:pt x="536117" y="3384943"/>
                </a:lnTo>
                <a:lnTo>
                  <a:pt x="447827" y="3434245"/>
                </a:lnTo>
                <a:lnTo>
                  <a:pt x="403085" y="3458476"/>
                </a:lnTo>
                <a:lnTo>
                  <a:pt x="358025" y="3481476"/>
                </a:lnTo>
                <a:lnTo>
                  <a:pt x="312470" y="3502596"/>
                </a:lnTo>
                <a:lnTo>
                  <a:pt x="266242" y="3521227"/>
                </a:lnTo>
                <a:lnTo>
                  <a:pt x="248119" y="3527209"/>
                </a:lnTo>
                <a:lnTo>
                  <a:pt x="248119" y="3683978"/>
                </a:lnTo>
                <a:lnTo>
                  <a:pt x="233248" y="3727145"/>
                </a:lnTo>
                <a:lnTo>
                  <a:pt x="203301" y="3761613"/>
                </a:lnTo>
                <a:lnTo>
                  <a:pt x="160985" y="3782644"/>
                </a:lnTo>
                <a:lnTo>
                  <a:pt x="130175" y="3667633"/>
                </a:lnTo>
                <a:lnTo>
                  <a:pt x="245186" y="3636822"/>
                </a:lnTo>
                <a:lnTo>
                  <a:pt x="248119" y="3683978"/>
                </a:lnTo>
                <a:lnTo>
                  <a:pt x="248119" y="3527209"/>
                </a:lnTo>
                <a:lnTo>
                  <a:pt x="219189" y="3536746"/>
                </a:lnTo>
                <a:lnTo>
                  <a:pt x="171157" y="3548532"/>
                </a:lnTo>
                <a:lnTo>
                  <a:pt x="121958" y="3555949"/>
                </a:lnTo>
                <a:lnTo>
                  <a:pt x="70916" y="3558413"/>
                </a:lnTo>
                <a:lnTo>
                  <a:pt x="69088" y="3558895"/>
                </a:lnTo>
                <a:lnTo>
                  <a:pt x="39865" y="3565296"/>
                </a:lnTo>
                <a:lnTo>
                  <a:pt x="14693" y="3583940"/>
                </a:lnTo>
                <a:lnTo>
                  <a:pt x="38" y="3610660"/>
                </a:lnTo>
                <a:lnTo>
                  <a:pt x="0" y="3641852"/>
                </a:lnTo>
                <a:lnTo>
                  <a:pt x="149174" y="4198543"/>
                </a:lnTo>
                <a:lnTo>
                  <a:pt x="174091" y="4240085"/>
                </a:lnTo>
                <a:lnTo>
                  <a:pt x="217576" y="4259758"/>
                </a:lnTo>
                <a:lnTo>
                  <a:pt x="268401" y="4261866"/>
                </a:lnTo>
                <a:lnTo>
                  <a:pt x="317817" y="4258665"/>
                </a:lnTo>
                <a:lnTo>
                  <a:pt x="365963" y="4250741"/>
                </a:lnTo>
                <a:lnTo>
                  <a:pt x="412991" y="4238688"/>
                </a:lnTo>
                <a:lnTo>
                  <a:pt x="459092" y="4223093"/>
                </a:lnTo>
                <a:lnTo>
                  <a:pt x="504393" y="4204551"/>
                </a:lnTo>
                <a:lnTo>
                  <a:pt x="549059" y="4183659"/>
                </a:lnTo>
                <a:lnTo>
                  <a:pt x="593255" y="4160990"/>
                </a:lnTo>
                <a:lnTo>
                  <a:pt x="637133" y="4137139"/>
                </a:lnTo>
                <a:lnTo>
                  <a:pt x="725411" y="4087838"/>
                </a:lnTo>
                <a:lnTo>
                  <a:pt x="770140" y="4063581"/>
                </a:lnTo>
                <a:lnTo>
                  <a:pt x="815200" y="4040568"/>
                </a:lnTo>
                <a:lnTo>
                  <a:pt x="860755" y="4019410"/>
                </a:lnTo>
                <a:lnTo>
                  <a:pt x="906970" y="4000754"/>
                </a:lnTo>
                <a:lnTo>
                  <a:pt x="954011" y="3985196"/>
                </a:lnTo>
                <a:lnTo>
                  <a:pt x="1002042" y="3973398"/>
                </a:lnTo>
                <a:lnTo>
                  <a:pt x="1051242" y="3965968"/>
                </a:lnTo>
                <a:lnTo>
                  <a:pt x="1101763" y="3963530"/>
                </a:lnTo>
                <a:lnTo>
                  <a:pt x="1133259" y="3956621"/>
                </a:lnTo>
                <a:lnTo>
                  <a:pt x="1158430" y="3937990"/>
                </a:lnTo>
                <a:lnTo>
                  <a:pt x="1163307" y="3929126"/>
                </a:lnTo>
                <a:lnTo>
                  <a:pt x="1172616" y="3912184"/>
                </a:lnTo>
                <a:lnTo>
                  <a:pt x="261137" y="4156418"/>
                </a:lnTo>
                <a:lnTo>
                  <a:pt x="230327" y="4041406"/>
                </a:lnTo>
                <a:lnTo>
                  <a:pt x="277482" y="4038473"/>
                </a:lnTo>
                <a:lnTo>
                  <a:pt x="320649" y="4053344"/>
                </a:lnTo>
                <a:lnTo>
                  <a:pt x="355117" y="4083291"/>
                </a:lnTo>
                <a:lnTo>
                  <a:pt x="376148" y="4125595"/>
                </a:lnTo>
                <a:lnTo>
                  <a:pt x="1172616" y="3912184"/>
                </a:lnTo>
                <a:lnTo>
                  <a:pt x="1173124" y="3911257"/>
                </a:lnTo>
                <a:lnTo>
                  <a:pt x="1173187" y="3880053"/>
                </a:lnTo>
                <a:close/>
              </a:path>
              <a:path w="8169909" h="4262120">
                <a:moveTo>
                  <a:pt x="8116087" y="1100645"/>
                </a:moveTo>
                <a:lnTo>
                  <a:pt x="8104276" y="1047254"/>
                </a:lnTo>
                <a:lnTo>
                  <a:pt x="8058137" y="1017892"/>
                </a:lnTo>
                <a:lnTo>
                  <a:pt x="7178738" y="862838"/>
                </a:lnTo>
                <a:lnTo>
                  <a:pt x="7165568" y="857643"/>
                </a:lnTo>
                <a:lnTo>
                  <a:pt x="7155713" y="848118"/>
                </a:lnTo>
                <a:lnTo>
                  <a:pt x="7150138" y="835596"/>
                </a:lnTo>
                <a:lnTo>
                  <a:pt x="7149770" y="821448"/>
                </a:lnTo>
                <a:lnTo>
                  <a:pt x="7280021" y="82753"/>
                </a:lnTo>
                <a:lnTo>
                  <a:pt x="7279335" y="54368"/>
                </a:lnTo>
                <a:lnTo>
                  <a:pt x="7268210" y="29362"/>
                </a:lnTo>
                <a:lnTo>
                  <a:pt x="7248512" y="10350"/>
                </a:lnTo>
                <a:lnTo>
                  <a:pt x="7222071" y="0"/>
                </a:lnTo>
                <a:lnTo>
                  <a:pt x="7193686" y="685"/>
                </a:lnTo>
                <a:lnTo>
                  <a:pt x="7149668" y="31508"/>
                </a:lnTo>
                <a:lnTo>
                  <a:pt x="7009066" y="796645"/>
                </a:lnTo>
                <a:lnTo>
                  <a:pt x="7007098" y="844524"/>
                </a:lnTo>
                <a:lnTo>
                  <a:pt x="7017410" y="889660"/>
                </a:lnTo>
                <a:lnTo>
                  <a:pt x="7038632" y="930109"/>
                </a:lnTo>
                <a:lnTo>
                  <a:pt x="7069379" y="963879"/>
                </a:lnTo>
                <a:lnTo>
                  <a:pt x="7108266" y="989012"/>
                </a:lnTo>
                <a:lnTo>
                  <a:pt x="7153935" y="1003541"/>
                </a:lnTo>
                <a:lnTo>
                  <a:pt x="8033334" y="1158595"/>
                </a:lnTo>
                <a:lnTo>
                  <a:pt x="8061719" y="1157909"/>
                </a:lnTo>
                <a:lnTo>
                  <a:pt x="8086725" y="1146797"/>
                </a:lnTo>
                <a:lnTo>
                  <a:pt x="8105737" y="1127086"/>
                </a:lnTo>
                <a:lnTo>
                  <a:pt x="8116087" y="1100645"/>
                </a:lnTo>
                <a:close/>
              </a:path>
              <a:path w="8169909" h="4262120">
                <a:moveTo>
                  <a:pt x="8169745" y="384606"/>
                </a:moveTo>
                <a:lnTo>
                  <a:pt x="8169275" y="357187"/>
                </a:lnTo>
                <a:lnTo>
                  <a:pt x="8157921" y="331177"/>
                </a:lnTo>
                <a:lnTo>
                  <a:pt x="8137360" y="311607"/>
                </a:lnTo>
                <a:lnTo>
                  <a:pt x="8111757" y="301777"/>
                </a:lnTo>
                <a:lnTo>
                  <a:pt x="8084350" y="302260"/>
                </a:lnTo>
                <a:lnTo>
                  <a:pt x="8058328" y="313613"/>
                </a:lnTo>
                <a:lnTo>
                  <a:pt x="7785963" y="504520"/>
                </a:lnTo>
                <a:lnTo>
                  <a:pt x="7682027" y="356069"/>
                </a:lnTo>
                <a:lnTo>
                  <a:pt x="7661453" y="336499"/>
                </a:lnTo>
                <a:lnTo>
                  <a:pt x="7635862" y="326682"/>
                </a:lnTo>
                <a:lnTo>
                  <a:pt x="7608443" y="327152"/>
                </a:lnTo>
                <a:lnTo>
                  <a:pt x="7582433" y="338505"/>
                </a:lnTo>
                <a:lnTo>
                  <a:pt x="7292784" y="541324"/>
                </a:lnTo>
                <a:lnTo>
                  <a:pt x="7273214" y="561886"/>
                </a:lnTo>
                <a:lnTo>
                  <a:pt x="7263384" y="587489"/>
                </a:lnTo>
                <a:lnTo>
                  <a:pt x="7263397" y="587768"/>
                </a:lnTo>
                <a:lnTo>
                  <a:pt x="7263866" y="614895"/>
                </a:lnTo>
                <a:lnTo>
                  <a:pt x="7275220" y="640918"/>
                </a:lnTo>
                <a:lnTo>
                  <a:pt x="7295782" y="660476"/>
                </a:lnTo>
                <a:lnTo>
                  <a:pt x="7321385" y="670306"/>
                </a:lnTo>
                <a:lnTo>
                  <a:pt x="7348791" y="669823"/>
                </a:lnTo>
                <a:lnTo>
                  <a:pt x="7374814" y="658482"/>
                </a:lnTo>
                <a:lnTo>
                  <a:pt x="7605979" y="496811"/>
                </a:lnTo>
                <a:lnTo>
                  <a:pt x="7709916" y="645248"/>
                </a:lnTo>
                <a:lnTo>
                  <a:pt x="7730490" y="664819"/>
                </a:lnTo>
                <a:lnTo>
                  <a:pt x="7756080" y="674649"/>
                </a:lnTo>
                <a:lnTo>
                  <a:pt x="7783500" y="674166"/>
                </a:lnTo>
                <a:lnTo>
                  <a:pt x="7809509" y="662813"/>
                </a:lnTo>
                <a:lnTo>
                  <a:pt x="7957960" y="558876"/>
                </a:lnTo>
                <a:lnTo>
                  <a:pt x="7985366" y="539673"/>
                </a:lnTo>
                <a:lnTo>
                  <a:pt x="8140535" y="431025"/>
                </a:lnTo>
                <a:lnTo>
                  <a:pt x="8140357" y="430771"/>
                </a:lnTo>
                <a:lnTo>
                  <a:pt x="8159928" y="410197"/>
                </a:lnTo>
                <a:lnTo>
                  <a:pt x="8169745" y="384606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58800" y="608806"/>
            <a:ext cx="7670800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65" dirty="0"/>
              <a:t>IMPACTOS</a:t>
            </a:r>
            <a:r>
              <a:rPr spc="-105" dirty="0"/>
              <a:t> </a:t>
            </a:r>
            <a:r>
              <a:rPr spc="-265" dirty="0"/>
              <a:t>NO</a:t>
            </a:r>
            <a:r>
              <a:rPr spc="-95" dirty="0"/>
              <a:t> </a:t>
            </a:r>
            <a:r>
              <a:rPr spc="-280" dirty="0"/>
              <a:t>FLUXO</a:t>
            </a:r>
            <a:r>
              <a:rPr spc="-95" dirty="0"/>
              <a:t> </a:t>
            </a:r>
            <a:r>
              <a:rPr spc="-245" dirty="0"/>
              <a:t>DE</a:t>
            </a:r>
            <a:r>
              <a:rPr spc="-95" dirty="0"/>
              <a:t> </a:t>
            </a:r>
            <a:r>
              <a:rPr spc="-185" dirty="0"/>
              <a:t>CAIXA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9" y="1751806"/>
            <a:ext cx="8610599" cy="34248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58800" y="1183130"/>
            <a:ext cx="5156835" cy="7360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5" dirty="0">
                <a:solidFill>
                  <a:srgbClr val="A8D0FF"/>
                </a:solidFill>
                <a:latin typeface="DejaVu Sans"/>
                <a:cs typeface="DejaVu Sans"/>
              </a:rPr>
              <a:t>Prepare-</a:t>
            </a:r>
            <a:r>
              <a:rPr spc="-125" dirty="0">
                <a:solidFill>
                  <a:srgbClr val="A8D0FF"/>
                </a:solidFill>
                <a:latin typeface="DejaVu Sans"/>
                <a:cs typeface="DejaVu Sans"/>
              </a:rPr>
              <a:t>se</a:t>
            </a:r>
            <a:r>
              <a:rPr spc="-2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0" dirty="0">
                <a:solidFill>
                  <a:srgbClr val="A8D0FF"/>
                </a:solidFill>
                <a:latin typeface="DejaVu Sans"/>
                <a:cs typeface="DejaVu Sans"/>
              </a:rPr>
              <a:t>para</a:t>
            </a:r>
            <a:r>
              <a:rPr spc="-1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5" dirty="0">
                <a:solidFill>
                  <a:srgbClr val="A8D0FF"/>
                </a:solidFill>
                <a:latin typeface="DejaVu Sans"/>
                <a:cs typeface="DejaVu Sans"/>
              </a:rPr>
              <a:t>novas</a:t>
            </a:r>
            <a:r>
              <a:rPr spc="-1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0" dirty="0">
                <a:solidFill>
                  <a:srgbClr val="A8D0FF"/>
                </a:solidFill>
                <a:latin typeface="DejaVu Sans"/>
                <a:cs typeface="DejaVu Sans"/>
              </a:rPr>
              <a:t>dinâmicas</a:t>
            </a:r>
            <a:r>
              <a:rPr spc="-1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65" dirty="0">
                <a:solidFill>
                  <a:srgbClr val="A8D0FF"/>
                </a:solidFill>
                <a:latin typeface="Arial"/>
                <a:cs typeface="Arial"/>
              </a:rPr>
              <a:t>ﬁ</a:t>
            </a:r>
            <a:r>
              <a:rPr spc="-65" dirty="0">
                <a:solidFill>
                  <a:srgbClr val="A8D0FF"/>
                </a:solidFill>
                <a:latin typeface="DejaVu Sans"/>
                <a:cs typeface="DejaVu Sans"/>
              </a:rPr>
              <a:t>nanceiras</a:t>
            </a:r>
            <a:endParaRPr dirty="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800" dirty="0">
              <a:latin typeface="DejaVu Sans"/>
              <a:cs typeface="DejaVu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5525" y="2351981"/>
            <a:ext cx="589280" cy="227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spc="-70" dirty="0">
                <a:solidFill>
                  <a:srgbClr val="FFFFFF"/>
                </a:solidFill>
                <a:latin typeface="DejaVu Sans"/>
                <a:cs typeface="DejaVu Sans"/>
              </a:rPr>
              <a:t>ANTES</a:t>
            </a:r>
            <a:endParaRPr sz="1300">
              <a:latin typeface="DejaVu Sans"/>
              <a:cs typeface="DejaVu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3125" y="2732257"/>
            <a:ext cx="3678388" cy="1936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BR" sz="1150" spc="-55" dirty="0">
                <a:solidFill>
                  <a:srgbClr val="FFFFFF"/>
                </a:solidFill>
                <a:latin typeface="DejaVu Sans"/>
                <a:cs typeface="DejaVu Sans"/>
              </a:rPr>
              <a:t>Cliente</a:t>
            </a:r>
            <a:r>
              <a:rPr lang="pt-BR"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 err="1">
                <a:solidFill>
                  <a:srgbClr val="FFFFFF"/>
                </a:solidFill>
                <a:latin typeface="DejaVu Sans"/>
                <a:cs typeface="DejaVu Sans"/>
              </a:rPr>
              <a:t>paga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valor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total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(produto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95" dirty="0">
                <a:solidFill>
                  <a:srgbClr val="FFFFFF"/>
                </a:solidFill>
                <a:latin typeface="DejaVu Sans"/>
                <a:cs typeface="DejaVu Sans"/>
              </a:rPr>
              <a:t>+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45" dirty="0">
                <a:solidFill>
                  <a:srgbClr val="FFFFFF"/>
                </a:solidFill>
                <a:latin typeface="DejaVu Sans"/>
                <a:cs typeface="DejaVu Sans"/>
              </a:rPr>
              <a:t>impostos)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3124" y="3332332"/>
            <a:ext cx="3241675" cy="1936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BR" sz="1150" spc="-80" dirty="0">
                <a:solidFill>
                  <a:srgbClr val="FFFFFF"/>
                </a:solidFill>
                <a:latin typeface="DejaVu Sans"/>
                <a:cs typeface="DejaVu Sans"/>
              </a:rPr>
              <a:t>Sua </a:t>
            </a:r>
            <a:r>
              <a:rPr sz="1150" spc="-80" dirty="0" err="1">
                <a:solidFill>
                  <a:srgbClr val="FFFFFF"/>
                </a:solidFill>
                <a:latin typeface="DejaVu Sans"/>
                <a:cs typeface="DejaVu Sans"/>
              </a:rPr>
              <a:t>Empresa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FFFFFF"/>
                </a:solidFill>
                <a:latin typeface="DejaVu Sans"/>
                <a:cs typeface="DejaVu Sans"/>
              </a:rPr>
              <a:t>recebe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valor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total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3125" y="3932407"/>
            <a:ext cx="3678388" cy="1936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BR" sz="1150" spc="-80" dirty="0">
                <a:solidFill>
                  <a:srgbClr val="FFFFFF"/>
                </a:solidFill>
                <a:latin typeface="DejaVu Sans"/>
                <a:cs typeface="DejaVu Sans"/>
              </a:rPr>
              <a:t>Sua </a:t>
            </a:r>
            <a:r>
              <a:rPr sz="1150" spc="-80" dirty="0" err="1">
                <a:solidFill>
                  <a:srgbClr val="FFFFFF"/>
                </a:solidFill>
                <a:latin typeface="DejaVu Sans"/>
                <a:cs typeface="DejaVu Sans"/>
              </a:rPr>
              <a:t>Empresa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40" dirty="0">
                <a:solidFill>
                  <a:srgbClr val="FFFFFF"/>
                </a:solidFill>
                <a:latin typeface="DejaVu Sans"/>
                <a:cs typeface="DejaVu Sans"/>
              </a:rPr>
              <a:t>utiliza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valor</a:t>
            </a:r>
            <a:r>
              <a:rPr sz="11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temporariamente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3124" y="4532482"/>
            <a:ext cx="3678387" cy="1936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BR" sz="1150" spc="-80" dirty="0">
                <a:solidFill>
                  <a:srgbClr val="FFFFFF"/>
                </a:solidFill>
                <a:latin typeface="DejaVu Sans"/>
                <a:cs typeface="DejaVu Sans"/>
              </a:rPr>
              <a:t>Sua </a:t>
            </a:r>
            <a:r>
              <a:rPr sz="1150" spc="-80" dirty="0" err="1">
                <a:solidFill>
                  <a:srgbClr val="FFFFFF"/>
                </a:solidFill>
                <a:latin typeface="DejaVu Sans"/>
                <a:cs typeface="DejaVu Sans"/>
              </a:rPr>
              <a:t>Empresa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paga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impostos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posteriormente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5438" y="2351981"/>
            <a:ext cx="1065362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spc="-65" dirty="0">
                <a:solidFill>
                  <a:srgbClr val="FFFFFF"/>
                </a:solidFill>
                <a:latin typeface="DejaVu Sans"/>
                <a:cs typeface="DejaVu Sans"/>
              </a:rPr>
              <a:t>DEPOIS</a:t>
            </a:r>
            <a:endParaRPr sz="1300" dirty="0"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02088" y="2732256"/>
            <a:ext cx="3678387" cy="1936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Cliente</a:t>
            </a:r>
            <a:r>
              <a:rPr sz="11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paga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valor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FFFFFF"/>
                </a:solidFill>
                <a:latin typeface="DejaVu Sans"/>
                <a:cs typeface="DejaVu Sans"/>
              </a:rPr>
              <a:t>total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(produto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95" dirty="0">
                <a:solidFill>
                  <a:srgbClr val="FFFFFF"/>
                </a:solidFill>
                <a:latin typeface="DejaVu Sans"/>
                <a:cs typeface="DejaVu Sans"/>
              </a:rPr>
              <a:t>+</a:t>
            </a:r>
            <a:r>
              <a:rPr sz="11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45" dirty="0">
                <a:solidFill>
                  <a:srgbClr val="FFFFFF"/>
                </a:solidFill>
                <a:latin typeface="DejaVu Sans"/>
                <a:cs typeface="DejaVu Sans"/>
              </a:rPr>
              <a:t>impostos)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02088" y="3332332"/>
            <a:ext cx="232664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Divisão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automática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do</a:t>
            </a:r>
            <a:r>
              <a:rPr sz="11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pagamento</a:t>
            </a:r>
            <a:endParaRPr sz="1150">
              <a:latin typeface="DejaVu Sans"/>
              <a:cs typeface="DejaVu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02088" y="3932407"/>
            <a:ext cx="1631314" cy="1936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Impostos</a:t>
            </a:r>
            <a:r>
              <a:rPr sz="11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spc="-13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0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Governo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49666" y="3932407"/>
            <a:ext cx="1631314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75" dirty="0">
                <a:solidFill>
                  <a:srgbClr val="FFFFFF"/>
                </a:solidFill>
                <a:latin typeface="DejaVu Sans"/>
                <a:cs typeface="DejaVu Sans"/>
              </a:rPr>
              <a:t>Valor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DejaVu Sans"/>
                <a:cs typeface="DejaVu Sans"/>
              </a:rPr>
              <a:t>líquido</a:t>
            </a:r>
            <a:r>
              <a:rPr sz="11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spc="-130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100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DejaVu Sans"/>
                <a:cs typeface="DejaVu Sans"/>
              </a:rPr>
              <a:t>Empresa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16411" y="4507909"/>
            <a:ext cx="3865712" cy="3706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pt-BR" sz="1150" spc="-60" dirty="0">
                <a:solidFill>
                  <a:srgbClr val="FFFFFF"/>
                </a:solidFill>
                <a:latin typeface="DejaVu Sans"/>
                <a:cs typeface="DejaVu Sans"/>
              </a:rPr>
              <a:t>Sua empresa passa por uma espécie de fiscalização prévia antes mesmo do Recolhimento dos Impostos</a:t>
            </a:r>
            <a:endParaRPr sz="1150" dirty="0">
              <a:latin typeface="DejaVu Sans"/>
              <a:cs typeface="DejaVu San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6298" y="5546417"/>
            <a:ext cx="8000999" cy="14825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8BB22AF7-DCE9-F920-B4F8-CC6EB34583B2}"/>
              </a:ext>
            </a:extLst>
          </p:cNvPr>
          <p:cNvSpPr txBox="1"/>
          <p:nvPr/>
        </p:nvSpPr>
        <p:spPr>
          <a:xfrm>
            <a:off x="533400" y="1824070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1640">
              <a:lnSpc>
                <a:spcPct val="100000"/>
              </a:lnSpc>
            </a:pPr>
            <a:r>
              <a:rPr lang="pt-BR" sz="1800" b="1" spc="-125" dirty="0">
                <a:solidFill>
                  <a:srgbClr val="DFF0FF"/>
                </a:solidFill>
                <a:latin typeface="DejaVu Sans"/>
                <a:cs typeface="DejaVu Sans"/>
              </a:rPr>
              <a:t>ANTES</a:t>
            </a:r>
            <a:r>
              <a:rPr lang="pt-BR" sz="1800" b="1" spc="-3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lang="pt-BR" sz="1800" b="1" spc="-100" dirty="0">
                <a:solidFill>
                  <a:srgbClr val="DFF0FF"/>
                </a:solidFill>
                <a:latin typeface="DejaVu Sans"/>
                <a:cs typeface="DejaVu Sans"/>
              </a:rPr>
              <a:t>x</a:t>
            </a:r>
            <a:r>
              <a:rPr lang="pt-BR" sz="1800" b="1" spc="-30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lang="pt-BR" sz="1800" b="1" spc="-10" dirty="0">
                <a:solidFill>
                  <a:srgbClr val="DFF0FF"/>
                </a:solidFill>
                <a:latin typeface="DejaVu Sans"/>
                <a:cs typeface="DejaVu Sans"/>
              </a:rPr>
              <a:t>DEPOIS</a:t>
            </a:r>
            <a:endParaRPr lang="pt-BR" sz="1800" dirty="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/>
          <p:cNvGrpSpPr/>
          <p:nvPr/>
        </p:nvGrpSpPr>
        <p:grpSpPr>
          <a:xfrm>
            <a:off x="-47626" y="-76993"/>
            <a:ext cx="9753599" cy="7315199"/>
            <a:chOff x="0" y="0"/>
            <a:chExt cx="9753599" cy="731519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753599" cy="7315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0549" y="4185941"/>
              <a:ext cx="8572500" cy="971550"/>
            </a:xfrm>
            <a:custGeom>
              <a:avLst/>
              <a:gdLst/>
              <a:ahLst/>
              <a:cxnLst/>
              <a:rect l="l" t="t" r="r" b="b"/>
              <a:pathLst>
                <a:path w="8572500" h="971550">
                  <a:moveTo>
                    <a:pt x="0" y="971549"/>
                  </a:moveTo>
                  <a:lnTo>
                    <a:pt x="8572499" y="971549"/>
                  </a:lnTo>
                  <a:lnTo>
                    <a:pt x="8572499" y="0"/>
                  </a:lnTo>
                  <a:lnTo>
                    <a:pt x="0" y="0"/>
                  </a:lnTo>
                  <a:lnTo>
                    <a:pt x="0" y="971549"/>
                  </a:lnTo>
                  <a:close/>
                </a:path>
              </a:pathLst>
            </a:custGeom>
            <a:solidFill>
              <a:srgbClr val="A8D0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499" y="4190999"/>
              <a:ext cx="38100" cy="971550"/>
            </a:xfrm>
            <a:custGeom>
              <a:avLst/>
              <a:gdLst/>
              <a:ahLst/>
              <a:cxnLst/>
              <a:rect l="l" t="t" r="r" b="b"/>
              <a:pathLst>
                <a:path w="38100" h="971550">
                  <a:moveTo>
                    <a:pt x="38099" y="971549"/>
                  </a:moveTo>
                  <a:lnTo>
                    <a:pt x="0" y="9715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971549"/>
                  </a:lnTo>
                  <a:close/>
                </a:path>
              </a:pathLst>
            </a:custGeom>
            <a:solidFill>
              <a:srgbClr val="A8D0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490303" y="201323"/>
            <a:ext cx="378460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pt-BR" sz="1500" dirty="0" smtClean="0">
                <a:solidFill>
                  <a:schemeClr val="bg1"/>
                </a:solidFill>
                <a:latin typeface="DejaVu Sans"/>
                <a:cs typeface="DejaVu Sans"/>
              </a:rPr>
              <a:t>VSR - CONTABILIDADE</a:t>
            </a:r>
            <a:endParaRPr sz="1500" dirty="0">
              <a:solidFill>
                <a:schemeClr val="bg1"/>
              </a:solidFill>
              <a:latin typeface="DejaVu Sans"/>
              <a:cs typeface="DejaVu San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63748" y="580252"/>
            <a:ext cx="9147173" cy="56938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640"/>
              </a:spcBef>
            </a:pPr>
            <a:r>
              <a:rPr lang="pt-BR" sz="3200" spc="-315" dirty="0"/>
              <a:t>ESTAREMOS AO SEU LADO NESSE PERÍODO</a:t>
            </a:r>
            <a:endParaRPr sz="3200" dirty="0"/>
          </a:p>
        </p:txBody>
      </p:sp>
      <p:sp>
        <p:nvSpPr>
          <p:cNvPr id="13" name="object 13"/>
          <p:cNvSpPr txBox="1"/>
          <p:nvPr/>
        </p:nvSpPr>
        <p:spPr>
          <a:xfrm>
            <a:off x="490303" y="1294611"/>
            <a:ext cx="6887082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5" dirty="0">
                <a:solidFill>
                  <a:srgbClr val="A8D0FF"/>
                </a:solidFill>
                <a:latin typeface="DejaVu Sans"/>
                <a:cs typeface="DejaVu Sans"/>
              </a:rPr>
              <a:t>Preparando</a:t>
            </a:r>
            <a:r>
              <a:rPr spc="-4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0" dirty="0" err="1">
                <a:solidFill>
                  <a:srgbClr val="A8D0FF"/>
                </a:solidFill>
                <a:latin typeface="DejaVu Sans"/>
                <a:cs typeface="DejaVu Sans"/>
              </a:rPr>
              <a:t>sua</a:t>
            </a:r>
            <a:r>
              <a:rPr spc="-4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pc="-100" dirty="0">
                <a:solidFill>
                  <a:srgbClr val="A8D0FF"/>
                </a:solidFill>
                <a:latin typeface="DejaVu Sans"/>
                <a:cs typeface="DejaVu Sans"/>
              </a:rPr>
              <a:t>Empresa</a:t>
            </a:r>
            <a:r>
              <a:rPr spc="-4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0" dirty="0">
                <a:solidFill>
                  <a:srgbClr val="A8D0FF"/>
                </a:solidFill>
                <a:latin typeface="DejaVu Sans"/>
                <a:cs typeface="DejaVu Sans"/>
              </a:rPr>
              <a:t>para</a:t>
            </a:r>
            <a:r>
              <a:rPr spc="-4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30" dirty="0">
                <a:solidFill>
                  <a:srgbClr val="A8D0FF"/>
                </a:solidFill>
                <a:latin typeface="DejaVu Sans"/>
                <a:cs typeface="DejaVu Sans"/>
              </a:rPr>
              <a:t>o</a:t>
            </a:r>
            <a:r>
              <a:rPr spc="-4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90" dirty="0">
                <a:solidFill>
                  <a:srgbClr val="A8D0FF"/>
                </a:solidFill>
                <a:latin typeface="DejaVu Sans"/>
                <a:cs typeface="DejaVu Sans"/>
              </a:rPr>
              <a:t>Split</a:t>
            </a:r>
            <a:r>
              <a:rPr spc="-4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5" dirty="0">
                <a:solidFill>
                  <a:srgbClr val="A8D0FF"/>
                </a:solidFill>
                <a:latin typeface="DejaVu Sans"/>
                <a:cs typeface="DejaVu Sans"/>
              </a:rPr>
              <a:t>Payment</a:t>
            </a:r>
            <a:endParaRPr dirty="0">
              <a:latin typeface="DejaVu Sans"/>
              <a:cs typeface="DejaVu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5800" y="4342606"/>
            <a:ext cx="381000" cy="1295400"/>
            <a:chOff x="685800" y="4342606"/>
            <a:chExt cx="381000" cy="12954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51" y="4342606"/>
              <a:ext cx="13334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5447507"/>
              <a:ext cx="142874" cy="1904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29738" y="4301171"/>
            <a:ext cx="8839200" cy="8892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875" marR="340995" indent="257810">
              <a:lnSpc>
                <a:spcPct val="111100"/>
              </a:lnSpc>
              <a:spcBef>
                <a:spcPts val="100"/>
              </a:spcBef>
            </a:pPr>
            <a:r>
              <a:rPr sz="1350" b="1" spc="-135" dirty="0">
                <a:solidFill>
                  <a:srgbClr val="FFFFFF"/>
                </a:solidFill>
                <a:latin typeface="DejaVu Sans"/>
                <a:cs typeface="DejaVu Sans"/>
              </a:rPr>
              <a:t>Como</a:t>
            </a:r>
            <a:r>
              <a:rPr sz="135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350" b="1" spc="-105" dirty="0">
                <a:solidFill>
                  <a:srgbClr val="FFFFFF"/>
                </a:solidFill>
                <a:latin typeface="DejaVu Sans"/>
                <a:cs typeface="DejaVu Sans"/>
              </a:rPr>
              <a:t>podemos te </a:t>
            </a:r>
            <a:r>
              <a:rPr sz="1350" b="1" spc="-95" dirty="0" err="1">
                <a:solidFill>
                  <a:srgbClr val="FFFFFF"/>
                </a:solidFill>
                <a:latin typeface="DejaVu Sans"/>
                <a:cs typeface="DejaVu Sans"/>
              </a:rPr>
              <a:t>ajudar</a:t>
            </a:r>
            <a:r>
              <a:rPr sz="1350" b="1" spc="-95" dirty="0">
                <a:solidFill>
                  <a:srgbClr val="FFFFFF"/>
                </a:solidFill>
                <a:latin typeface="DejaVu Sans"/>
                <a:cs typeface="DejaVu Sans"/>
              </a:rPr>
              <a:t>:</a:t>
            </a:r>
            <a:r>
              <a:rPr sz="1350" b="1" spc="-6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75" dirty="0">
                <a:solidFill>
                  <a:srgbClr val="FFFFFF"/>
                </a:solidFill>
                <a:latin typeface="DejaVu Sans"/>
                <a:cs typeface="DejaVu Sans"/>
              </a:rPr>
              <a:t>Identi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350" spc="-75" dirty="0">
                <a:solidFill>
                  <a:srgbClr val="FFFFFF"/>
                </a:solidFill>
                <a:latin typeface="DejaVu Sans"/>
                <a:cs typeface="DejaVu Sans"/>
              </a:rPr>
              <a:t>camos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as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0" dirty="0">
                <a:solidFill>
                  <a:srgbClr val="FFFFFF"/>
                </a:solidFill>
                <a:latin typeface="DejaVu Sans"/>
                <a:cs typeface="DejaVu Sans"/>
              </a:rPr>
              <a:t>principais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adaptações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0" dirty="0" err="1">
                <a:solidFill>
                  <a:srgbClr val="FFFFFF"/>
                </a:solidFill>
                <a:latin typeface="DejaVu Sans"/>
                <a:cs typeface="DejaVu Sans"/>
              </a:rPr>
              <a:t>necessárias</a:t>
            </a:r>
            <a:r>
              <a:rPr sz="13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350" spc="-100" dirty="0">
                <a:solidFill>
                  <a:srgbClr val="FFFFFF"/>
                </a:solidFill>
                <a:latin typeface="DejaVu Sans"/>
                <a:cs typeface="DejaVu Sans"/>
              </a:rPr>
              <a:t>na sua empresa e em seus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DejaVu Sans"/>
                <a:cs typeface="DejaVu Sans"/>
              </a:rPr>
              <a:t>processos,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ajudando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DejaVu Sans"/>
                <a:cs typeface="DejaVu Sans"/>
              </a:rPr>
              <a:t>planejar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5" dirty="0" err="1">
                <a:solidFill>
                  <a:srgbClr val="FFFFFF"/>
                </a:solidFill>
                <a:latin typeface="DejaVu Sans"/>
                <a:cs typeface="DejaVu Sans"/>
              </a:rPr>
              <a:t>transição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350" spc="-105" dirty="0">
                <a:solidFill>
                  <a:srgbClr val="FFFFFF"/>
                </a:solidFill>
                <a:latin typeface="DejaVu Sans"/>
                <a:cs typeface="DejaVu Sans"/>
              </a:rPr>
              <a:t>para </a:t>
            </a:r>
            <a:r>
              <a:rPr sz="1350" spc="-110" dirty="0">
                <a:solidFill>
                  <a:srgbClr val="FFFFFF"/>
                </a:solidFill>
                <a:latin typeface="DejaVu Sans"/>
                <a:cs typeface="DejaVu Sans"/>
              </a:rPr>
              <a:t>que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DejaVu Sans"/>
                <a:cs typeface="DejaVu Sans"/>
              </a:rPr>
              <a:t>todas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as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DejaVu Sans"/>
                <a:cs typeface="DejaVu Sans"/>
              </a:rPr>
              <a:t>integrações</a:t>
            </a:r>
            <a:r>
              <a:rPr sz="135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estejam</a:t>
            </a:r>
            <a:r>
              <a:rPr sz="135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em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conformidade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14" dirty="0">
                <a:solidFill>
                  <a:srgbClr val="FFFFFF"/>
                </a:solidFill>
                <a:latin typeface="DejaVu Sans"/>
                <a:cs typeface="DejaVu Sans"/>
              </a:rPr>
              <a:t>com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0" dirty="0">
                <a:solidFill>
                  <a:srgbClr val="FFFFFF"/>
                </a:solidFill>
                <a:latin typeface="DejaVu Sans"/>
                <a:cs typeface="DejaVu Sans"/>
              </a:rPr>
              <a:t>as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DejaVu Sans"/>
                <a:cs typeface="DejaVu Sans"/>
              </a:rPr>
              <a:t>novas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DejaVu Sans"/>
                <a:cs typeface="DejaVu Sans"/>
              </a:rPr>
              <a:t>exigências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DejaVu Sans"/>
                <a:cs typeface="DejaVu Sans"/>
              </a:rPr>
              <a:t>do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80" dirty="0">
                <a:solidFill>
                  <a:srgbClr val="FFFFFF"/>
                </a:solidFill>
                <a:latin typeface="DejaVu Sans"/>
                <a:cs typeface="DejaVu Sans"/>
              </a:rPr>
              <a:t>Split</a:t>
            </a:r>
            <a:r>
              <a:rPr sz="13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DejaVu Sans"/>
                <a:cs typeface="DejaVu Sans"/>
              </a:rPr>
              <a:t>Payment.</a:t>
            </a:r>
            <a:endParaRPr sz="1350" dirty="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</a:pPr>
            <a:endParaRPr sz="1200" dirty="0">
              <a:latin typeface="DejaVu Sans"/>
              <a:cs typeface="DejaVu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1499" y="5761071"/>
            <a:ext cx="4257675" cy="400050"/>
            <a:chOff x="571499" y="5838824"/>
            <a:chExt cx="4257675" cy="400050"/>
          </a:xfrm>
        </p:grpSpPr>
        <p:sp>
          <p:nvSpPr>
            <p:cNvPr id="19" name="object 19"/>
            <p:cNvSpPr/>
            <p:nvPr/>
          </p:nvSpPr>
          <p:spPr>
            <a:xfrm>
              <a:off x="571499" y="5838824"/>
              <a:ext cx="4257675" cy="400050"/>
            </a:xfrm>
            <a:custGeom>
              <a:avLst/>
              <a:gdLst/>
              <a:ahLst/>
              <a:cxnLst/>
              <a:rect l="l" t="t" r="r" b="b"/>
              <a:pathLst>
                <a:path w="4257675" h="400050">
                  <a:moveTo>
                    <a:pt x="4204277" y="400049"/>
                  </a:moveTo>
                  <a:lnTo>
                    <a:pt x="53397" y="400049"/>
                  </a:lnTo>
                  <a:lnTo>
                    <a:pt x="49681" y="399683"/>
                  </a:lnTo>
                  <a:lnTo>
                    <a:pt x="14085" y="380656"/>
                  </a:lnTo>
                  <a:lnTo>
                    <a:pt x="0" y="346652"/>
                  </a:lnTo>
                  <a:lnTo>
                    <a:pt x="0" y="34289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4204277" y="0"/>
                  </a:lnTo>
                  <a:lnTo>
                    <a:pt x="4243589" y="19391"/>
                  </a:lnTo>
                  <a:lnTo>
                    <a:pt x="4257674" y="53397"/>
                  </a:lnTo>
                  <a:lnTo>
                    <a:pt x="4257674" y="346652"/>
                  </a:lnTo>
                  <a:lnTo>
                    <a:pt x="4238282" y="385964"/>
                  </a:lnTo>
                  <a:lnTo>
                    <a:pt x="4207993" y="399683"/>
                  </a:lnTo>
                  <a:lnTo>
                    <a:pt x="4204277" y="4000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74" y="5962649"/>
              <a:ext cx="142874" cy="14287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85188" y="5843473"/>
            <a:ext cx="1762125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-90" dirty="0">
                <a:solidFill>
                  <a:srgbClr val="FFFFFF"/>
                </a:solidFill>
                <a:latin typeface="DejaVu Sans"/>
                <a:cs typeface="DejaVu Sans"/>
              </a:rPr>
              <a:t>ERP</a:t>
            </a:r>
            <a:r>
              <a:rPr sz="12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DejaVu Sans"/>
                <a:cs typeface="DejaVu Sans"/>
              </a:rPr>
              <a:t>Gestão</a:t>
            </a:r>
            <a:r>
              <a:rPr sz="125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70" dirty="0">
                <a:solidFill>
                  <a:srgbClr val="FFFFFF"/>
                </a:solidFill>
                <a:latin typeface="DejaVu Sans"/>
                <a:cs typeface="DejaVu Sans"/>
              </a:rPr>
              <a:t>Financeira</a:t>
            </a:r>
            <a:endParaRPr sz="1250" dirty="0">
              <a:latin typeface="DejaVu Sans"/>
              <a:cs typeface="DejaVu San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24424" y="5761071"/>
            <a:ext cx="4257675" cy="400050"/>
            <a:chOff x="4924424" y="5838824"/>
            <a:chExt cx="4257675" cy="400050"/>
          </a:xfrm>
        </p:grpSpPr>
        <p:sp>
          <p:nvSpPr>
            <p:cNvPr id="23" name="object 23"/>
            <p:cNvSpPr/>
            <p:nvPr/>
          </p:nvSpPr>
          <p:spPr>
            <a:xfrm>
              <a:off x="4924424" y="5838824"/>
              <a:ext cx="4257675" cy="400050"/>
            </a:xfrm>
            <a:custGeom>
              <a:avLst/>
              <a:gdLst/>
              <a:ahLst/>
              <a:cxnLst/>
              <a:rect l="l" t="t" r="r" b="b"/>
              <a:pathLst>
                <a:path w="4257675" h="400050">
                  <a:moveTo>
                    <a:pt x="4204276" y="400049"/>
                  </a:moveTo>
                  <a:lnTo>
                    <a:pt x="53397" y="400049"/>
                  </a:lnTo>
                  <a:lnTo>
                    <a:pt x="49680" y="399683"/>
                  </a:lnTo>
                  <a:lnTo>
                    <a:pt x="14085" y="380656"/>
                  </a:lnTo>
                  <a:lnTo>
                    <a:pt x="0" y="346652"/>
                  </a:lnTo>
                  <a:lnTo>
                    <a:pt x="0" y="34289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4204276" y="0"/>
                  </a:lnTo>
                  <a:lnTo>
                    <a:pt x="4243587" y="19391"/>
                  </a:lnTo>
                  <a:lnTo>
                    <a:pt x="4257674" y="53397"/>
                  </a:lnTo>
                  <a:lnTo>
                    <a:pt x="4257674" y="346652"/>
                  </a:lnTo>
                  <a:lnTo>
                    <a:pt x="4238281" y="385964"/>
                  </a:lnTo>
                  <a:lnTo>
                    <a:pt x="4207992" y="399683"/>
                  </a:lnTo>
                  <a:lnTo>
                    <a:pt x="4204276" y="4000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7299" y="5962649"/>
              <a:ext cx="142874" cy="14287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197474" y="5835468"/>
            <a:ext cx="1922145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-85" dirty="0">
                <a:solidFill>
                  <a:srgbClr val="FFFFFF"/>
                </a:solidFill>
                <a:latin typeface="DejaVu Sans"/>
                <a:cs typeface="DejaVu Sans"/>
              </a:rPr>
              <a:t>Sistema</a:t>
            </a:r>
            <a:r>
              <a:rPr sz="12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2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90" dirty="0">
                <a:solidFill>
                  <a:srgbClr val="FFFFFF"/>
                </a:solidFill>
                <a:latin typeface="DejaVu Sans"/>
                <a:cs typeface="DejaVu Sans"/>
              </a:rPr>
              <a:t>Emissão</a:t>
            </a:r>
            <a:r>
              <a:rPr sz="12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2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DejaVu Sans"/>
                <a:cs typeface="DejaVu Sans"/>
              </a:rPr>
              <a:t>NF</a:t>
            </a:r>
            <a:endParaRPr sz="1250">
              <a:latin typeface="DejaVu Sans"/>
              <a:cs typeface="DejaVu San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1499" y="6256371"/>
            <a:ext cx="4257675" cy="409575"/>
            <a:chOff x="571499" y="6334124"/>
            <a:chExt cx="4257675" cy="409575"/>
          </a:xfrm>
        </p:grpSpPr>
        <p:sp>
          <p:nvSpPr>
            <p:cNvPr id="27" name="object 27"/>
            <p:cNvSpPr/>
            <p:nvPr/>
          </p:nvSpPr>
          <p:spPr>
            <a:xfrm>
              <a:off x="571499" y="6334124"/>
              <a:ext cx="4257675" cy="409575"/>
            </a:xfrm>
            <a:custGeom>
              <a:avLst/>
              <a:gdLst/>
              <a:ahLst/>
              <a:cxnLst/>
              <a:rect l="l" t="t" r="r" b="b"/>
              <a:pathLst>
                <a:path w="4257675" h="409575">
                  <a:moveTo>
                    <a:pt x="4204277" y="409574"/>
                  </a:moveTo>
                  <a:lnTo>
                    <a:pt x="53397" y="409574"/>
                  </a:lnTo>
                  <a:lnTo>
                    <a:pt x="49681" y="409208"/>
                  </a:lnTo>
                  <a:lnTo>
                    <a:pt x="14085" y="390181"/>
                  </a:lnTo>
                  <a:lnTo>
                    <a:pt x="0" y="356177"/>
                  </a:lnTo>
                  <a:lnTo>
                    <a:pt x="0" y="35242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4204277" y="0"/>
                  </a:lnTo>
                  <a:lnTo>
                    <a:pt x="4243589" y="19392"/>
                  </a:lnTo>
                  <a:lnTo>
                    <a:pt x="4257674" y="53397"/>
                  </a:lnTo>
                  <a:lnTo>
                    <a:pt x="4257674" y="356177"/>
                  </a:lnTo>
                  <a:lnTo>
                    <a:pt x="4238282" y="395489"/>
                  </a:lnTo>
                  <a:lnTo>
                    <a:pt x="4207993" y="409208"/>
                  </a:lnTo>
                  <a:lnTo>
                    <a:pt x="4204277" y="4095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74" y="6467474"/>
              <a:ext cx="142874" cy="14287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68168" y="6358778"/>
            <a:ext cx="166497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-70" dirty="0">
                <a:solidFill>
                  <a:srgbClr val="FFFFFF"/>
                </a:solidFill>
                <a:latin typeface="DejaVu Sans"/>
                <a:cs typeface="DejaVu Sans"/>
              </a:rPr>
              <a:t>Conciliações</a:t>
            </a:r>
            <a:r>
              <a:rPr sz="125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65" dirty="0">
                <a:solidFill>
                  <a:srgbClr val="FFFFFF"/>
                </a:solidFill>
                <a:latin typeface="DejaVu Sans"/>
                <a:cs typeface="DejaVu Sans"/>
              </a:rPr>
              <a:t>Bancárias</a:t>
            </a:r>
            <a:endParaRPr sz="1250" dirty="0">
              <a:latin typeface="DejaVu Sans"/>
              <a:cs typeface="DejaVu San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24424" y="6256371"/>
            <a:ext cx="4257675" cy="409575"/>
            <a:chOff x="4924424" y="6334124"/>
            <a:chExt cx="4257675" cy="409575"/>
          </a:xfrm>
        </p:grpSpPr>
        <p:sp>
          <p:nvSpPr>
            <p:cNvPr id="31" name="object 31"/>
            <p:cNvSpPr/>
            <p:nvPr/>
          </p:nvSpPr>
          <p:spPr>
            <a:xfrm>
              <a:off x="4924424" y="6334124"/>
              <a:ext cx="4257675" cy="409575"/>
            </a:xfrm>
            <a:custGeom>
              <a:avLst/>
              <a:gdLst/>
              <a:ahLst/>
              <a:cxnLst/>
              <a:rect l="l" t="t" r="r" b="b"/>
              <a:pathLst>
                <a:path w="4257675" h="409575">
                  <a:moveTo>
                    <a:pt x="4204276" y="409574"/>
                  </a:moveTo>
                  <a:lnTo>
                    <a:pt x="53397" y="409574"/>
                  </a:lnTo>
                  <a:lnTo>
                    <a:pt x="49680" y="409208"/>
                  </a:lnTo>
                  <a:lnTo>
                    <a:pt x="14085" y="390181"/>
                  </a:lnTo>
                  <a:lnTo>
                    <a:pt x="0" y="356177"/>
                  </a:lnTo>
                  <a:lnTo>
                    <a:pt x="0" y="35242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4204276" y="0"/>
                  </a:lnTo>
                  <a:lnTo>
                    <a:pt x="4243587" y="19392"/>
                  </a:lnTo>
                  <a:lnTo>
                    <a:pt x="4257674" y="53397"/>
                  </a:lnTo>
                  <a:lnTo>
                    <a:pt x="4257674" y="356177"/>
                  </a:lnTo>
                  <a:lnTo>
                    <a:pt x="4238281" y="395489"/>
                  </a:lnTo>
                  <a:lnTo>
                    <a:pt x="4207992" y="409208"/>
                  </a:lnTo>
                  <a:lnTo>
                    <a:pt x="4204276" y="4095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7299" y="6467474"/>
              <a:ext cx="142874" cy="14287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197474" y="6330768"/>
            <a:ext cx="194818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-75" dirty="0">
                <a:solidFill>
                  <a:srgbClr val="FFFFFF"/>
                </a:solidFill>
                <a:latin typeface="DejaVu Sans"/>
                <a:cs typeface="DejaVu Sans"/>
              </a:rPr>
              <a:t>Controle</a:t>
            </a:r>
            <a:r>
              <a:rPr sz="12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2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DejaVu Sans"/>
                <a:cs typeface="DejaVu Sans"/>
              </a:rPr>
              <a:t>Fluxo</a:t>
            </a:r>
            <a:r>
              <a:rPr sz="12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25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55" dirty="0">
                <a:solidFill>
                  <a:srgbClr val="FFFFFF"/>
                </a:solidFill>
                <a:latin typeface="DejaVu Sans"/>
                <a:cs typeface="DejaVu Sans"/>
              </a:rPr>
              <a:t>Caixa</a:t>
            </a:r>
            <a:endParaRPr sz="1250">
              <a:latin typeface="DejaVu Sans"/>
              <a:cs typeface="DejaVu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71499" y="6761196"/>
            <a:ext cx="4257675" cy="400050"/>
            <a:chOff x="571499" y="6838949"/>
            <a:chExt cx="4257675" cy="400050"/>
          </a:xfrm>
        </p:grpSpPr>
        <p:sp>
          <p:nvSpPr>
            <p:cNvPr id="35" name="object 35"/>
            <p:cNvSpPr/>
            <p:nvPr/>
          </p:nvSpPr>
          <p:spPr>
            <a:xfrm>
              <a:off x="571499" y="6838949"/>
              <a:ext cx="4257675" cy="400050"/>
            </a:xfrm>
            <a:custGeom>
              <a:avLst/>
              <a:gdLst/>
              <a:ahLst/>
              <a:cxnLst/>
              <a:rect l="l" t="t" r="r" b="b"/>
              <a:pathLst>
                <a:path w="4257675" h="400050">
                  <a:moveTo>
                    <a:pt x="4204277" y="400049"/>
                  </a:moveTo>
                  <a:lnTo>
                    <a:pt x="53397" y="400049"/>
                  </a:lnTo>
                  <a:lnTo>
                    <a:pt x="49681" y="399683"/>
                  </a:lnTo>
                  <a:lnTo>
                    <a:pt x="14085" y="380656"/>
                  </a:lnTo>
                  <a:lnTo>
                    <a:pt x="0" y="346652"/>
                  </a:lnTo>
                  <a:lnTo>
                    <a:pt x="0" y="34289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4204277" y="0"/>
                  </a:lnTo>
                  <a:lnTo>
                    <a:pt x="4243589" y="19391"/>
                  </a:lnTo>
                  <a:lnTo>
                    <a:pt x="4257674" y="53397"/>
                  </a:lnTo>
                  <a:lnTo>
                    <a:pt x="4257674" y="346652"/>
                  </a:lnTo>
                  <a:lnTo>
                    <a:pt x="4238282" y="385963"/>
                  </a:lnTo>
                  <a:lnTo>
                    <a:pt x="4207993" y="399683"/>
                  </a:lnTo>
                  <a:lnTo>
                    <a:pt x="4204277" y="4000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374" y="6962774"/>
              <a:ext cx="142874" cy="142874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4924423" y="6761956"/>
            <a:ext cx="4257675" cy="400050"/>
            <a:chOff x="4960235" y="6861221"/>
            <a:chExt cx="4257675" cy="400050"/>
          </a:xfrm>
        </p:grpSpPr>
        <p:sp>
          <p:nvSpPr>
            <p:cNvPr id="39" name="object 39"/>
            <p:cNvSpPr/>
            <p:nvPr/>
          </p:nvSpPr>
          <p:spPr>
            <a:xfrm>
              <a:off x="4960235" y="6861221"/>
              <a:ext cx="4257675" cy="400050"/>
            </a:xfrm>
            <a:custGeom>
              <a:avLst/>
              <a:gdLst/>
              <a:ahLst/>
              <a:cxnLst/>
              <a:rect l="l" t="t" r="r" b="b"/>
              <a:pathLst>
                <a:path w="4257675" h="400050">
                  <a:moveTo>
                    <a:pt x="4204276" y="400049"/>
                  </a:moveTo>
                  <a:lnTo>
                    <a:pt x="53397" y="400049"/>
                  </a:lnTo>
                  <a:lnTo>
                    <a:pt x="49680" y="399683"/>
                  </a:lnTo>
                  <a:lnTo>
                    <a:pt x="14085" y="380656"/>
                  </a:lnTo>
                  <a:lnTo>
                    <a:pt x="0" y="346652"/>
                  </a:lnTo>
                  <a:lnTo>
                    <a:pt x="0" y="34289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4204276" y="0"/>
                  </a:lnTo>
                  <a:lnTo>
                    <a:pt x="4243587" y="19391"/>
                  </a:lnTo>
                  <a:lnTo>
                    <a:pt x="4257674" y="53397"/>
                  </a:lnTo>
                  <a:lnTo>
                    <a:pt x="4257674" y="346652"/>
                  </a:lnTo>
                  <a:lnTo>
                    <a:pt x="4238281" y="385963"/>
                  </a:lnTo>
                  <a:lnTo>
                    <a:pt x="4207992" y="399683"/>
                  </a:lnTo>
                  <a:lnTo>
                    <a:pt x="4204276" y="4000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67299" y="6962774"/>
              <a:ext cx="142874" cy="14287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197474" y="6835594"/>
            <a:ext cx="153543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-75" dirty="0">
                <a:solidFill>
                  <a:srgbClr val="FFFFFF"/>
                </a:solidFill>
                <a:latin typeface="DejaVu Sans"/>
                <a:cs typeface="DejaVu Sans"/>
              </a:rPr>
              <a:t>Relatórios</a:t>
            </a:r>
            <a:r>
              <a:rPr sz="125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50" spc="-65" dirty="0">
                <a:solidFill>
                  <a:srgbClr val="FFFFFF"/>
                </a:solidFill>
                <a:latin typeface="DejaVu Sans"/>
                <a:cs typeface="DejaVu Sans"/>
              </a:rPr>
              <a:t>Gerenciais</a:t>
            </a:r>
            <a:endParaRPr sz="1250">
              <a:latin typeface="DejaVu Sans"/>
              <a:cs typeface="DejaVu San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87387" y="2746592"/>
            <a:ext cx="1920875" cy="91503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500" b="1" spc="-10" dirty="0">
                <a:solidFill>
                  <a:srgbClr val="DFF0FF"/>
                </a:solidFill>
                <a:latin typeface="DejaVu Sans"/>
                <a:cs typeface="DejaVu Sans"/>
              </a:rPr>
              <a:t>Diagnóstico</a:t>
            </a:r>
            <a:endParaRPr sz="1500" dirty="0">
              <a:latin typeface="DejaVu Sans"/>
              <a:cs typeface="DejaVu Sans"/>
            </a:endParaRPr>
          </a:p>
          <a:p>
            <a:pPr marL="12065" marR="5080" algn="ctr">
              <a:lnSpc>
                <a:spcPts val="1350"/>
              </a:lnSpc>
              <a:spcBef>
                <a:spcPts val="570"/>
              </a:spcBef>
            </a:pP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Avaliação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dos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sistemas </a:t>
            </a:r>
            <a:r>
              <a:rPr sz="1100" spc="-50" dirty="0">
                <a:solidFill>
                  <a:srgbClr val="FFFFFF"/>
                </a:solidFill>
                <a:latin typeface="DejaVu Sans"/>
                <a:cs typeface="DejaVu Sans"/>
              </a:rPr>
              <a:t>atuais</a:t>
            </a:r>
            <a:r>
              <a:rPr sz="11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para</a:t>
            </a:r>
            <a:r>
              <a:rPr sz="11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identi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car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necessidades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adaptação</a:t>
            </a:r>
            <a:r>
              <a:rPr sz="1150" spc="-60" dirty="0">
                <a:solidFill>
                  <a:srgbClr val="FFFFFF"/>
                </a:solidFill>
                <a:latin typeface="DejaVu Sans"/>
                <a:cs typeface="DejaVu Sans"/>
              </a:rPr>
              <a:t>.</a:t>
            </a:r>
            <a:endParaRPr sz="1150" dirty="0">
              <a:latin typeface="DejaVu Sans"/>
              <a:cs typeface="DejaVu San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495674" y="2132806"/>
            <a:ext cx="609600" cy="609600"/>
            <a:chOff x="3495674" y="2438399"/>
            <a:chExt cx="609600" cy="609600"/>
          </a:xfrm>
        </p:grpSpPr>
        <p:sp>
          <p:nvSpPr>
            <p:cNvPr id="49" name="object 49"/>
            <p:cNvSpPr/>
            <p:nvPr/>
          </p:nvSpPr>
          <p:spPr>
            <a:xfrm>
              <a:off x="3505199" y="244792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8" y="447076"/>
                  </a:lnTo>
                  <a:lnTo>
                    <a:pt x="22476" y="408271"/>
                  </a:lnTo>
                  <a:lnTo>
                    <a:pt x="8848" y="367020"/>
                  </a:lnTo>
                  <a:lnTo>
                    <a:pt x="1421" y="324217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3" y="237669"/>
                  </a:lnTo>
                  <a:lnTo>
                    <a:pt x="17260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3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79" y="5673"/>
                  </a:lnTo>
                  <a:lnTo>
                    <a:pt x="394749" y="17260"/>
                  </a:lnTo>
                  <a:lnTo>
                    <a:pt x="434466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2" y="119379"/>
                  </a:lnTo>
                  <a:lnTo>
                    <a:pt x="555684" y="156083"/>
                  </a:lnTo>
                  <a:lnTo>
                    <a:pt x="573289" y="195799"/>
                  </a:lnTo>
                  <a:lnTo>
                    <a:pt x="584875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6" y="352880"/>
                  </a:lnTo>
                  <a:lnTo>
                    <a:pt x="573289" y="394750"/>
                  </a:lnTo>
                  <a:lnTo>
                    <a:pt x="555684" y="434466"/>
                  </a:lnTo>
                  <a:lnTo>
                    <a:pt x="532442" y="471170"/>
                  </a:lnTo>
                  <a:lnTo>
                    <a:pt x="504065" y="504065"/>
                  </a:lnTo>
                  <a:lnTo>
                    <a:pt x="471170" y="532442"/>
                  </a:lnTo>
                  <a:lnTo>
                    <a:pt x="434466" y="555684"/>
                  </a:lnTo>
                  <a:lnTo>
                    <a:pt x="394749" y="573289"/>
                  </a:lnTo>
                  <a:lnTo>
                    <a:pt x="352879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05199" y="244792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5" y="380988"/>
                  </a:lnTo>
                  <a:lnTo>
                    <a:pt x="562200" y="421521"/>
                  </a:lnTo>
                  <a:lnTo>
                    <a:pt x="540786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3"/>
                  </a:lnTo>
                  <a:lnTo>
                    <a:pt x="367020" y="581700"/>
                  </a:lnTo>
                  <a:lnTo>
                    <a:pt x="324217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6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0" y="440817"/>
                  </a:lnTo>
                  <a:lnTo>
                    <a:pt x="19784" y="401540"/>
                  </a:lnTo>
                  <a:lnTo>
                    <a:pt x="7174" y="359972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7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5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3" y="4346"/>
                  </a:lnTo>
                  <a:lnTo>
                    <a:pt x="387898" y="14903"/>
                  </a:lnTo>
                  <a:lnTo>
                    <a:pt x="428031" y="31526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5" y="113613"/>
                  </a:lnTo>
                  <a:lnTo>
                    <a:pt x="552188" y="149732"/>
                  </a:lnTo>
                  <a:lnTo>
                    <a:pt x="570765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A8D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65874" y="2625060"/>
              <a:ext cx="267970" cy="226695"/>
            </a:xfrm>
            <a:custGeom>
              <a:avLst/>
              <a:gdLst/>
              <a:ahLst/>
              <a:cxnLst/>
              <a:rect l="l" t="t" r="r" b="b"/>
              <a:pathLst>
                <a:path w="267970" h="226694">
                  <a:moveTo>
                    <a:pt x="67820" y="37452"/>
                  </a:moveTo>
                  <a:lnTo>
                    <a:pt x="34066" y="37452"/>
                  </a:lnTo>
                  <a:lnTo>
                    <a:pt x="67404" y="416"/>
                  </a:lnTo>
                  <a:lnTo>
                    <a:pt x="75269" y="0"/>
                  </a:lnTo>
                  <a:lnTo>
                    <a:pt x="85635" y="9324"/>
                  </a:lnTo>
                  <a:lnTo>
                    <a:pt x="86052" y="17189"/>
                  </a:lnTo>
                  <a:lnTo>
                    <a:pt x="67820" y="37452"/>
                  </a:lnTo>
                  <a:close/>
                </a:path>
                <a:path w="267970" h="226694">
                  <a:moveTo>
                    <a:pt x="38390" y="68081"/>
                  </a:moveTo>
                  <a:lnTo>
                    <a:pt x="31251" y="68081"/>
                  </a:lnTo>
                  <a:lnTo>
                    <a:pt x="28232" y="66883"/>
                  </a:lnTo>
                  <a:lnTo>
                    <a:pt x="25784" y="64487"/>
                  </a:lnTo>
                  <a:lnTo>
                    <a:pt x="4896" y="43651"/>
                  </a:lnTo>
                  <a:lnTo>
                    <a:pt x="52" y="38754"/>
                  </a:lnTo>
                  <a:lnTo>
                    <a:pt x="52" y="30837"/>
                  </a:lnTo>
                  <a:lnTo>
                    <a:pt x="9740" y="21044"/>
                  </a:lnTo>
                  <a:lnTo>
                    <a:pt x="17710" y="21044"/>
                  </a:lnTo>
                  <a:lnTo>
                    <a:pt x="22554" y="25940"/>
                  </a:lnTo>
                  <a:lnTo>
                    <a:pt x="34066" y="37452"/>
                  </a:lnTo>
                  <a:lnTo>
                    <a:pt x="67820" y="37452"/>
                  </a:lnTo>
                  <a:lnTo>
                    <a:pt x="41619" y="66570"/>
                  </a:lnTo>
                  <a:lnTo>
                    <a:pt x="38390" y="68081"/>
                  </a:lnTo>
                  <a:close/>
                </a:path>
                <a:path w="267970" h="226694">
                  <a:moveTo>
                    <a:pt x="67773" y="120848"/>
                  </a:moveTo>
                  <a:lnTo>
                    <a:pt x="34066" y="120848"/>
                  </a:lnTo>
                  <a:lnTo>
                    <a:pt x="67404" y="83812"/>
                  </a:lnTo>
                  <a:lnTo>
                    <a:pt x="75269" y="83395"/>
                  </a:lnTo>
                  <a:lnTo>
                    <a:pt x="85635" y="92667"/>
                  </a:lnTo>
                  <a:lnTo>
                    <a:pt x="86052" y="100533"/>
                  </a:lnTo>
                  <a:lnTo>
                    <a:pt x="67773" y="120848"/>
                  </a:lnTo>
                  <a:close/>
                </a:path>
                <a:path w="267970" h="226694">
                  <a:moveTo>
                    <a:pt x="38390" y="151425"/>
                  </a:moveTo>
                  <a:lnTo>
                    <a:pt x="31251" y="151425"/>
                  </a:lnTo>
                  <a:lnTo>
                    <a:pt x="28232" y="150227"/>
                  </a:lnTo>
                  <a:lnTo>
                    <a:pt x="25784" y="147830"/>
                  </a:lnTo>
                  <a:lnTo>
                    <a:pt x="0" y="122098"/>
                  </a:lnTo>
                  <a:lnTo>
                    <a:pt x="0" y="114180"/>
                  </a:lnTo>
                  <a:lnTo>
                    <a:pt x="9845" y="104440"/>
                  </a:lnTo>
                  <a:lnTo>
                    <a:pt x="17710" y="104440"/>
                  </a:lnTo>
                  <a:lnTo>
                    <a:pt x="22554" y="109336"/>
                  </a:lnTo>
                  <a:lnTo>
                    <a:pt x="34066" y="120848"/>
                  </a:lnTo>
                  <a:lnTo>
                    <a:pt x="67773" y="120848"/>
                  </a:lnTo>
                  <a:lnTo>
                    <a:pt x="41619" y="149914"/>
                  </a:lnTo>
                  <a:lnTo>
                    <a:pt x="38390" y="151425"/>
                  </a:lnTo>
                  <a:close/>
                </a:path>
                <a:path w="267970" h="226694">
                  <a:moveTo>
                    <a:pt x="260501" y="51464"/>
                  </a:moveTo>
                  <a:lnTo>
                    <a:pt x="125380" y="51464"/>
                  </a:lnTo>
                  <a:lnTo>
                    <a:pt x="117931" y="44015"/>
                  </a:lnTo>
                  <a:lnTo>
                    <a:pt x="117931" y="25576"/>
                  </a:lnTo>
                  <a:lnTo>
                    <a:pt x="125380" y="18127"/>
                  </a:lnTo>
                  <a:lnTo>
                    <a:pt x="260501" y="18127"/>
                  </a:lnTo>
                  <a:lnTo>
                    <a:pt x="267950" y="25576"/>
                  </a:lnTo>
                  <a:lnTo>
                    <a:pt x="267950" y="44015"/>
                  </a:lnTo>
                  <a:lnTo>
                    <a:pt x="260501" y="51464"/>
                  </a:lnTo>
                  <a:close/>
                </a:path>
                <a:path w="267970" h="226694">
                  <a:moveTo>
                    <a:pt x="260501" y="134808"/>
                  </a:moveTo>
                  <a:lnTo>
                    <a:pt x="125380" y="134808"/>
                  </a:lnTo>
                  <a:lnTo>
                    <a:pt x="117931" y="127359"/>
                  </a:lnTo>
                  <a:lnTo>
                    <a:pt x="117931" y="108919"/>
                  </a:lnTo>
                  <a:lnTo>
                    <a:pt x="125380" y="101471"/>
                  </a:lnTo>
                  <a:lnTo>
                    <a:pt x="260501" y="101471"/>
                  </a:lnTo>
                  <a:lnTo>
                    <a:pt x="267950" y="108919"/>
                  </a:lnTo>
                  <a:lnTo>
                    <a:pt x="267950" y="127359"/>
                  </a:lnTo>
                  <a:lnTo>
                    <a:pt x="260501" y="134808"/>
                  </a:lnTo>
                  <a:close/>
                </a:path>
                <a:path w="267970" h="226694">
                  <a:moveTo>
                    <a:pt x="260501" y="218152"/>
                  </a:moveTo>
                  <a:lnTo>
                    <a:pt x="92042" y="218152"/>
                  </a:lnTo>
                  <a:lnTo>
                    <a:pt x="84593" y="210703"/>
                  </a:lnTo>
                  <a:lnTo>
                    <a:pt x="84593" y="192263"/>
                  </a:lnTo>
                  <a:lnTo>
                    <a:pt x="92042" y="184814"/>
                  </a:lnTo>
                  <a:lnTo>
                    <a:pt x="260501" y="184814"/>
                  </a:lnTo>
                  <a:lnTo>
                    <a:pt x="267950" y="192263"/>
                  </a:lnTo>
                  <a:lnTo>
                    <a:pt x="267950" y="210703"/>
                  </a:lnTo>
                  <a:lnTo>
                    <a:pt x="260501" y="218152"/>
                  </a:lnTo>
                  <a:close/>
                </a:path>
                <a:path w="267970" h="226694">
                  <a:moveTo>
                    <a:pt x="29568" y="226486"/>
                  </a:moveTo>
                  <a:lnTo>
                    <a:pt x="22937" y="226486"/>
                  </a:lnTo>
                  <a:lnTo>
                    <a:pt x="19748" y="225852"/>
                  </a:lnTo>
                  <a:lnTo>
                    <a:pt x="1250" y="204799"/>
                  </a:lnTo>
                  <a:lnTo>
                    <a:pt x="1250" y="198167"/>
                  </a:lnTo>
                  <a:lnTo>
                    <a:pt x="22937" y="176480"/>
                  </a:lnTo>
                  <a:lnTo>
                    <a:pt x="29568" y="176480"/>
                  </a:lnTo>
                  <a:lnTo>
                    <a:pt x="51256" y="198167"/>
                  </a:lnTo>
                  <a:lnTo>
                    <a:pt x="51256" y="204799"/>
                  </a:lnTo>
                  <a:lnTo>
                    <a:pt x="29568" y="226486"/>
                  </a:lnTo>
                  <a:close/>
                </a:path>
              </a:pathLst>
            </a:custGeom>
            <a:solidFill>
              <a:srgbClr val="A8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848074" y="2746592"/>
            <a:ext cx="1905000" cy="110331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500" b="1" spc="-25" dirty="0">
                <a:solidFill>
                  <a:srgbClr val="DFF0FF"/>
                </a:solidFill>
                <a:latin typeface="DejaVu Sans"/>
                <a:cs typeface="DejaVu Sans"/>
              </a:rPr>
              <a:t>Planejamento</a:t>
            </a:r>
            <a:endParaRPr sz="1500" dirty="0">
              <a:latin typeface="DejaVu Sans"/>
              <a:cs typeface="DejaVu Sans"/>
            </a:endParaRPr>
          </a:p>
          <a:p>
            <a:pPr marL="12700" marR="5080" algn="ctr">
              <a:lnSpc>
                <a:spcPts val="1350"/>
              </a:lnSpc>
              <a:spcBef>
                <a:spcPts val="570"/>
              </a:spcBef>
            </a:pPr>
            <a:r>
              <a:rPr sz="1100" spc="-3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000" spc="-35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100" spc="-35" dirty="0">
                <a:solidFill>
                  <a:srgbClr val="FFFFFF"/>
                </a:solidFill>
                <a:latin typeface="DejaVu Sans"/>
                <a:cs typeface="DejaVu Sans"/>
              </a:rPr>
              <a:t>nição</a:t>
            </a:r>
            <a:r>
              <a:rPr sz="1100" spc="-4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0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mudanças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necessárias</a:t>
            </a:r>
            <a:r>
              <a:rPr sz="11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DejaVu Sans"/>
                <a:cs typeface="DejaVu Sans"/>
              </a:rPr>
              <a:t>em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ERPs,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sistemas</a:t>
            </a:r>
            <a:r>
              <a:rPr sz="110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scais</a:t>
            </a:r>
            <a:r>
              <a:rPr sz="110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1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processos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internos.</a:t>
            </a:r>
            <a:endParaRPr sz="1100" dirty="0">
              <a:latin typeface="DejaVu Sans"/>
              <a:cs typeface="DejaVu San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648324" y="2132806"/>
            <a:ext cx="609600" cy="609600"/>
            <a:chOff x="5648324" y="2438399"/>
            <a:chExt cx="609600" cy="609600"/>
          </a:xfrm>
        </p:grpSpPr>
        <p:sp>
          <p:nvSpPr>
            <p:cNvPr id="54" name="object 54"/>
            <p:cNvSpPr/>
            <p:nvPr/>
          </p:nvSpPr>
          <p:spPr>
            <a:xfrm>
              <a:off x="5657849" y="244792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8" y="587354"/>
                  </a:lnTo>
                  <a:lnTo>
                    <a:pt x="209561" y="577835"/>
                  </a:lnTo>
                  <a:lnTo>
                    <a:pt x="169027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8" y="447076"/>
                  </a:lnTo>
                  <a:lnTo>
                    <a:pt x="22475" y="408271"/>
                  </a:lnTo>
                  <a:lnTo>
                    <a:pt x="8848" y="367020"/>
                  </a:lnTo>
                  <a:lnTo>
                    <a:pt x="1421" y="324217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2" y="237669"/>
                  </a:lnTo>
                  <a:lnTo>
                    <a:pt x="17259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4" y="86483"/>
                  </a:lnTo>
                  <a:lnTo>
                    <a:pt x="119380" y="58107"/>
                  </a:lnTo>
                  <a:lnTo>
                    <a:pt x="156082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79" y="5673"/>
                  </a:lnTo>
                  <a:lnTo>
                    <a:pt x="394749" y="17260"/>
                  </a:lnTo>
                  <a:lnTo>
                    <a:pt x="434467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1" y="119379"/>
                  </a:lnTo>
                  <a:lnTo>
                    <a:pt x="555683" y="156083"/>
                  </a:lnTo>
                  <a:lnTo>
                    <a:pt x="573289" y="195799"/>
                  </a:lnTo>
                  <a:lnTo>
                    <a:pt x="584875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5" y="352880"/>
                  </a:lnTo>
                  <a:lnTo>
                    <a:pt x="573289" y="394750"/>
                  </a:lnTo>
                  <a:lnTo>
                    <a:pt x="555684" y="434466"/>
                  </a:lnTo>
                  <a:lnTo>
                    <a:pt x="532441" y="471170"/>
                  </a:lnTo>
                  <a:lnTo>
                    <a:pt x="504065" y="504065"/>
                  </a:lnTo>
                  <a:lnTo>
                    <a:pt x="471170" y="532442"/>
                  </a:lnTo>
                  <a:lnTo>
                    <a:pt x="434467" y="555684"/>
                  </a:lnTo>
                  <a:lnTo>
                    <a:pt x="394749" y="573289"/>
                  </a:lnTo>
                  <a:lnTo>
                    <a:pt x="352879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657849" y="244792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3" y="338600"/>
                  </a:lnTo>
                  <a:lnTo>
                    <a:pt x="577835" y="380988"/>
                  </a:lnTo>
                  <a:lnTo>
                    <a:pt x="562200" y="421521"/>
                  </a:lnTo>
                  <a:lnTo>
                    <a:pt x="540786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3"/>
                  </a:lnTo>
                  <a:lnTo>
                    <a:pt x="367020" y="581700"/>
                  </a:lnTo>
                  <a:lnTo>
                    <a:pt x="324217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5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6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0" y="440817"/>
                  </a:lnTo>
                  <a:lnTo>
                    <a:pt x="19783" y="401540"/>
                  </a:lnTo>
                  <a:lnTo>
                    <a:pt x="7174" y="359972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6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1" y="38360"/>
                  </a:lnTo>
                  <a:lnTo>
                    <a:pt x="189008" y="19784"/>
                  </a:lnTo>
                  <a:lnTo>
                    <a:pt x="230577" y="7175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3" y="4346"/>
                  </a:lnTo>
                  <a:lnTo>
                    <a:pt x="387898" y="14903"/>
                  </a:lnTo>
                  <a:lnTo>
                    <a:pt x="428032" y="31526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4" y="113613"/>
                  </a:lnTo>
                  <a:lnTo>
                    <a:pt x="552188" y="149732"/>
                  </a:lnTo>
                  <a:lnTo>
                    <a:pt x="570764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A8D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19149" y="2609884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92876" y="206397"/>
                  </a:moveTo>
                  <a:lnTo>
                    <a:pt x="86521" y="204783"/>
                  </a:lnTo>
                  <a:lnTo>
                    <a:pt x="82567" y="200876"/>
                  </a:lnTo>
                  <a:lnTo>
                    <a:pt x="82197" y="200459"/>
                  </a:lnTo>
                  <a:lnTo>
                    <a:pt x="61674" y="179936"/>
                  </a:lnTo>
                  <a:lnTo>
                    <a:pt x="60111" y="173529"/>
                  </a:lnTo>
                  <a:lnTo>
                    <a:pt x="63653" y="162954"/>
                  </a:lnTo>
                  <a:lnTo>
                    <a:pt x="65737" y="156912"/>
                  </a:lnTo>
                  <a:lnTo>
                    <a:pt x="68237" y="149984"/>
                  </a:lnTo>
                  <a:lnTo>
                    <a:pt x="8646" y="149984"/>
                  </a:lnTo>
                  <a:lnTo>
                    <a:pt x="4479" y="147588"/>
                  </a:lnTo>
                  <a:lnTo>
                    <a:pt x="0" y="139774"/>
                  </a:lnTo>
                  <a:lnTo>
                    <a:pt x="52" y="134982"/>
                  </a:lnTo>
                  <a:lnTo>
                    <a:pt x="28552" y="86948"/>
                  </a:lnTo>
                  <a:lnTo>
                    <a:pt x="61934" y="66640"/>
                  </a:lnTo>
                  <a:lnTo>
                    <a:pt x="104804" y="66640"/>
                  </a:lnTo>
                  <a:lnTo>
                    <a:pt x="106054" y="64557"/>
                  </a:lnTo>
                  <a:lnTo>
                    <a:pt x="143741" y="24159"/>
                  </a:lnTo>
                  <a:lnTo>
                    <a:pt x="182399" y="5526"/>
                  </a:lnTo>
                  <a:lnTo>
                    <a:pt x="220168" y="0"/>
                  </a:lnTo>
                  <a:lnTo>
                    <a:pt x="252687" y="2726"/>
                  </a:lnTo>
                  <a:lnTo>
                    <a:pt x="258730" y="3820"/>
                  </a:lnTo>
                  <a:lnTo>
                    <a:pt x="263418" y="8560"/>
                  </a:lnTo>
                  <a:lnTo>
                    <a:pt x="264564" y="14603"/>
                  </a:lnTo>
                  <a:lnTo>
                    <a:pt x="267171" y="45804"/>
                  </a:lnTo>
                  <a:lnTo>
                    <a:pt x="197887" y="45804"/>
                  </a:lnTo>
                  <a:lnTo>
                    <a:pt x="195229" y="46333"/>
                  </a:lnTo>
                  <a:lnTo>
                    <a:pt x="179814" y="63877"/>
                  </a:lnTo>
                  <a:lnTo>
                    <a:pt x="179814" y="69403"/>
                  </a:lnTo>
                  <a:lnTo>
                    <a:pt x="197887" y="87476"/>
                  </a:lnTo>
                  <a:lnTo>
                    <a:pt x="260507" y="87476"/>
                  </a:lnTo>
                  <a:lnTo>
                    <a:pt x="243108" y="123557"/>
                  </a:lnTo>
                  <a:lnTo>
                    <a:pt x="206536" y="158735"/>
                  </a:lnTo>
                  <a:lnTo>
                    <a:pt x="204713" y="159985"/>
                  </a:lnTo>
                  <a:lnTo>
                    <a:pt x="202733" y="161235"/>
                  </a:lnTo>
                  <a:lnTo>
                    <a:pt x="200650" y="162486"/>
                  </a:lnTo>
                  <a:lnTo>
                    <a:pt x="200650" y="198323"/>
                  </a:lnTo>
                  <a:lnTo>
                    <a:pt x="117306" y="198323"/>
                  </a:lnTo>
                  <a:lnTo>
                    <a:pt x="109961" y="200876"/>
                  </a:lnTo>
                  <a:lnTo>
                    <a:pt x="92876" y="206397"/>
                  </a:lnTo>
                  <a:close/>
                </a:path>
                <a:path w="267335" h="267335">
                  <a:moveTo>
                    <a:pt x="260507" y="87476"/>
                  </a:moveTo>
                  <a:lnTo>
                    <a:pt x="203413" y="87476"/>
                  </a:lnTo>
                  <a:lnTo>
                    <a:pt x="206070" y="86948"/>
                  </a:lnTo>
                  <a:lnTo>
                    <a:pt x="211176" y="84833"/>
                  </a:lnTo>
                  <a:lnTo>
                    <a:pt x="213429" y="83327"/>
                  </a:lnTo>
                  <a:lnTo>
                    <a:pt x="217337" y="79420"/>
                  </a:lnTo>
                  <a:lnTo>
                    <a:pt x="218725" y="77342"/>
                  </a:lnTo>
                  <a:lnTo>
                    <a:pt x="218842" y="77167"/>
                  </a:lnTo>
                  <a:lnTo>
                    <a:pt x="220957" y="72061"/>
                  </a:lnTo>
                  <a:lnTo>
                    <a:pt x="221486" y="69403"/>
                  </a:lnTo>
                  <a:lnTo>
                    <a:pt x="221486" y="63877"/>
                  </a:lnTo>
                  <a:lnTo>
                    <a:pt x="203413" y="45804"/>
                  </a:lnTo>
                  <a:lnTo>
                    <a:pt x="267171" y="45804"/>
                  </a:lnTo>
                  <a:lnTo>
                    <a:pt x="267283" y="47144"/>
                  </a:lnTo>
                  <a:lnTo>
                    <a:pt x="261756" y="84833"/>
                  </a:lnTo>
                  <a:lnTo>
                    <a:pt x="260507" y="87476"/>
                  </a:lnTo>
                  <a:close/>
                </a:path>
                <a:path w="267335" h="267335">
                  <a:moveTo>
                    <a:pt x="132308" y="267238"/>
                  </a:moveTo>
                  <a:lnTo>
                    <a:pt x="127425" y="267238"/>
                  </a:lnTo>
                  <a:lnTo>
                    <a:pt x="119702" y="262811"/>
                  </a:lnTo>
                  <a:lnTo>
                    <a:pt x="117306" y="258696"/>
                  </a:lnTo>
                  <a:lnTo>
                    <a:pt x="117306" y="198323"/>
                  </a:lnTo>
                  <a:lnTo>
                    <a:pt x="200650" y="198323"/>
                  </a:lnTo>
                  <a:lnTo>
                    <a:pt x="200650" y="205356"/>
                  </a:lnTo>
                  <a:lnTo>
                    <a:pt x="132308" y="267238"/>
                  </a:lnTo>
                  <a:close/>
                </a:path>
              </a:pathLst>
            </a:custGeom>
            <a:solidFill>
              <a:srgbClr val="A8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037335" y="2746592"/>
            <a:ext cx="1831975" cy="91503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500" b="1" spc="-35" dirty="0">
                <a:solidFill>
                  <a:srgbClr val="DFF0FF"/>
                </a:solidFill>
                <a:latin typeface="DejaVu Sans"/>
                <a:cs typeface="DejaVu Sans"/>
              </a:rPr>
              <a:t>Implementação</a:t>
            </a:r>
            <a:endParaRPr sz="1500" dirty="0">
              <a:latin typeface="DejaVu Sans"/>
              <a:cs typeface="DejaVu Sans"/>
            </a:endParaRPr>
          </a:p>
          <a:p>
            <a:pPr marL="12700" marR="5080" algn="ctr">
              <a:lnSpc>
                <a:spcPts val="1350"/>
              </a:lnSpc>
              <a:spcBef>
                <a:spcPts val="570"/>
              </a:spcBef>
            </a:pPr>
            <a:r>
              <a:rPr sz="1100" spc="-55" dirty="0">
                <a:solidFill>
                  <a:srgbClr val="FFFFFF"/>
                </a:solidFill>
                <a:latin typeface="DejaVu Sans"/>
                <a:cs typeface="DejaVu Sans"/>
              </a:rPr>
              <a:t>Atualização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dos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sistemas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75" dirty="0">
                <a:solidFill>
                  <a:srgbClr val="FFFFFF"/>
                </a:solidFill>
                <a:latin typeface="DejaVu Sans"/>
                <a:cs typeface="DejaVu Sans"/>
              </a:rPr>
              <a:t>e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treinamento</a:t>
            </a:r>
            <a:r>
              <a:rPr sz="110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das</a:t>
            </a:r>
            <a:r>
              <a:rPr sz="110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equipes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para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nova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realidade.</a:t>
            </a:r>
            <a:endParaRPr sz="1100" dirty="0">
              <a:latin typeface="DejaVu Sans"/>
              <a:cs typeface="DejaVu Sans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800974" y="2132806"/>
            <a:ext cx="609600" cy="609600"/>
            <a:chOff x="7800974" y="2438399"/>
            <a:chExt cx="609600" cy="609600"/>
          </a:xfrm>
        </p:grpSpPr>
        <p:sp>
          <p:nvSpPr>
            <p:cNvPr id="59" name="object 59"/>
            <p:cNvSpPr/>
            <p:nvPr/>
          </p:nvSpPr>
          <p:spPr>
            <a:xfrm>
              <a:off x="7810499" y="244792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295274" y="590549"/>
                  </a:moveTo>
                  <a:lnTo>
                    <a:pt x="251948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8" y="447076"/>
                  </a:lnTo>
                  <a:lnTo>
                    <a:pt x="22475" y="408271"/>
                  </a:lnTo>
                  <a:lnTo>
                    <a:pt x="8848" y="367020"/>
                  </a:lnTo>
                  <a:lnTo>
                    <a:pt x="1421" y="324217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2" y="237669"/>
                  </a:lnTo>
                  <a:lnTo>
                    <a:pt x="17260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4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80" y="5673"/>
                  </a:lnTo>
                  <a:lnTo>
                    <a:pt x="394750" y="17260"/>
                  </a:lnTo>
                  <a:lnTo>
                    <a:pt x="434467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1" y="119379"/>
                  </a:lnTo>
                  <a:lnTo>
                    <a:pt x="555683" y="156083"/>
                  </a:lnTo>
                  <a:lnTo>
                    <a:pt x="573288" y="195799"/>
                  </a:lnTo>
                  <a:lnTo>
                    <a:pt x="584875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5" y="309763"/>
                  </a:lnTo>
                  <a:lnTo>
                    <a:pt x="584875" y="352880"/>
                  </a:lnTo>
                  <a:lnTo>
                    <a:pt x="573288" y="394750"/>
                  </a:lnTo>
                  <a:lnTo>
                    <a:pt x="555683" y="434466"/>
                  </a:lnTo>
                  <a:lnTo>
                    <a:pt x="532441" y="471170"/>
                  </a:lnTo>
                  <a:lnTo>
                    <a:pt x="504065" y="504065"/>
                  </a:lnTo>
                  <a:lnTo>
                    <a:pt x="471170" y="532442"/>
                  </a:lnTo>
                  <a:lnTo>
                    <a:pt x="434465" y="555684"/>
                  </a:lnTo>
                  <a:lnTo>
                    <a:pt x="394750" y="573289"/>
                  </a:lnTo>
                  <a:lnTo>
                    <a:pt x="352880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10499" y="2447924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4" y="380988"/>
                  </a:lnTo>
                  <a:lnTo>
                    <a:pt x="562199" y="421521"/>
                  </a:lnTo>
                  <a:lnTo>
                    <a:pt x="540785" y="459320"/>
                  </a:lnTo>
                  <a:lnTo>
                    <a:pt x="514059" y="493569"/>
                  </a:lnTo>
                  <a:lnTo>
                    <a:pt x="482596" y="523525"/>
                  </a:lnTo>
                  <a:lnTo>
                    <a:pt x="447075" y="548540"/>
                  </a:lnTo>
                  <a:lnTo>
                    <a:pt x="408270" y="568073"/>
                  </a:lnTo>
                  <a:lnTo>
                    <a:pt x="367021" y="581700"/>
                  </a:lnTo>
                  <a:lnTo>
                    <a:pt x="324217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5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0" y="536686"/>
                  </a:lnTo>
                  <a:lnTo>
                    <a:pt x="91672" y="509128"/>
                  </a:lnTo>
                  <a:lnTo>
                    <a:pt x="62495" y="476935"/>
                  </a:lnTo>
                  <a:lnTo>
                    <a:pt x="38361" y="440817"/>
                  </a:lnTo>
                  <a:lnTo>
                    <a:pt x="19784" y="401540"/>
                  </a:lnTo>
                  <a:lnTo>
                    <a:pt x="7174" y="359972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7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5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3" y="4346"/>
                  </a:lnTo>
                  <a:lnTo>
                    <a:pt x="387899" y="14903"/>
                  </a:lnTo>
                  <a:lnTo>
                    <a:pt x="428032" y="31526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4" y="113613"/>
                  </a:lnTo>
                  <a:lnTo>
                    <a:pt x="552187" y="149732"/>
                  </a:lnTo>
                  <a:lnTo>
                    <a:pt x="570764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A8D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010524" y="2609849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147153" y="33337"/>
                  </a:moveTo>
                  <a:lnTo>
                    <a:pt x="52871" y="33337"/>
                  </a:lnTo>
                  <a:lnTo>
                    <a:pt x="60053" y="19931"/>
                  </a:lnTo>
                  <a:lnTo>
                    <a:pt x="70835" y="9382"/>
                  </a:lnTo>
                  <a:lnTo>
                    <a:pt x="84420" y="2476"/>
                  </a:lnTo>
                  <a:lnTo>
                    <a:pt x="100012" y="0"/>
                  </a:lnTo>
                  <a:lnTo>
                    <a:pt x="115604" y="2476"/>
                  </a:lnTo>
                  <a:lnTo>
                    <a:pt x="129189" y="9382"/>
                  </a:lnTo>
                  <a:lnTo>
                    <a:pt x="139971" y="19931"/>
                  </a:lnTo>
                  <a:lnTo>
                    <a:pt x="147153" y="33337"/>
                  </a:lnTo>
                  <a:close/>
                </a:path>
                <a:path w="200025" h="266700">
                  <a:moveTo>
                    <a:pt x="166687" y="266700"/>
                  </a:moveTo>
                  <a:lnTo>
                    <a:pt x="33337" y="266700"/>
                  </a:lnTo>
                  <a:lnTo>
                    <a:pt x="20371" y="264076"/>
                  </a:lnTo>
                  <a:lnTo>
                    <a:pt x="9773" y="256926"/>
                  </a:lnTo>
                  <a:lnTo>
                    <a:pt x="2623" y="246328"/>
                  </a:lnTo>
                  <a:lnTo>
                    <a:pt x="0" y="233362"/>
                  </a:lnTo>
                  <a:lnTo>
                    <a:pt x="85" y="66252"/>
                  </a:lnTo>
                  <a:lnTo>
                    <a:pt x="2623" y="53708"/>
                  </a:lnTo>
                  <a:lnTo>
                    <a:pt x="9773" y="43110"/>
                  </a:lnTo>
                  <a:lnTo>
                    <a:pt x="20371" y="35960"/>
                  </a:lnTo>
                  <a:lnTo>
                    <a:pt x="33337" y="33337"/>
                  </a:lnTo>
                  <a:lnTo>
                    <a:pt x="97802" y="33337"/>
                  </a:lnTo>
                  <a:lnTo>
                    <a:pt x="95675" y="33760"/>
                  </a:lnTo>
                  <a:lnTo>
                    <a:pt x="91591" y="35452"/>
                  </a:lnTo>
                  <a:lnTo>
                    <a:pt x="83343" y="47795"/>
                  </a:lnTo>
                  <a:lnTo>
                    <a:pt x="83343" y="52216"/>
                  </a:lnTo>
                  <a:lnTo>
                    <a:pt x="97802" y="66674"/>
                  </a:lnTo>
                  <a:lnTo>
                    <a:pt x="200025" y="66674"/>
                  </a:lnTo>
                  <a:lnTo>
                    <a:pt x="200025" y="119598"/>
                  </a:lnTo>
                  <a:lnTo>
                    <a:pt x="146059" y="119598"/>
                  </a:lnTo>
                  <a:lnTo>
                    <a:pt x="112670" y="152987"/>
                  </a:lnTo>
                  <a:lnTo>
                    <a:pt x="46100" y="152987"/>
                  </a:lnTo>
                  <a:lnTo>
                    <a:pt x="36254" y="162728"/>
                  </a:lnTo>
                  <a:lnTo>
                    <a:pt x="36254" y="170646"/>
                  </a:lnTo>
                  <a:lnTo>
                    <a:pt x="74540" y="208880"/>
                  </a:lnTo>
                  <a:lnTo>
                    <a:pt x="79384" y="213776"/>
                  </a:lnTo>
                  <a:lnTo>
                    <a:pt x="200025" y="213776"/>
                  </a:lnTo>
                  <a:lnTo>
                    <a:pt x="200025" y="233362"/>
                  </a:lnTo>
                  <a:lnTo>
                    <a:pt x="197401" y="246328"/>
                  </a:lnTo>
                  <a:lnTo>
                    <a:pt x="190251" y="256926"/>
                  </a:lnTo>
                  <a:lnTo>
                    <a:pt x="179653" y="264076"/>
                  </a:lnTo>
                  <a:lnTo>
                    <a:pt x="166687" y="266700"/>
                  </a:lnTo>
                  <a:close/>
                </a:path>
                <a:path w="200025" h="266700">
                  <a:moveTo>
                    <a:pt x="200025" y="66674"/>
                  </a:moveTo>
                  <a:lnTo>
                    <a:pt x="102222" y="66674"/>
                  </a:lnTo>
                  <a:lnTo>
                    <a:pt x="104349" y="66252"/>
                  </a:lnTo>
                  <a:lnTo>
                    <a:pt x="108433" y="64560"/>
                  </a:lnTo>
                  <a:lnTo>
                    <a:pt x="116681" y="52216"/>
                  </a:lnTo>
                  <a:lnTo>
                    <a:pt x="116681" y="47795"/>
                  </a:lnTo>
                  <a:lnTo>
                    <a:pt x="102222" y="33337"/>
                  </a:lnTo>
                  <a:lnTo>
                    <a:pt x="166687" y="33337"/>
                  </a:lnTo>
                  <a:lnTo>
                    <a:pt x="179653" y="35960"/>
                  </a:lnTo>
                  <a:lnTo>
                    <a:pt x="190251" y="43110"/>
                  </a:lnTo>
                  <a:lnTo>
                    <a:pt x="197401" y="53708"/>
                  </a:lnTo>
                  <a:lnTo>
                    <a:pt x="199939" y="66252"/>
                  </a:lnTo>
                  <a:lnTo>
                    <a:pt x="200025" y="66674"/>
                  </a:lnTo>
                  <a:close/>
                </a:path>
                <a:path w="200025" h="266700">
                  <a:moveTo>
                    <a:pt x="163718" y="137308"/>
                  </a:moveTo>
                  <a:lnTo>
                    <a:pt x="163666" y="129391"/>
                  </a:lnTo>
                  <a:lnTo>
                    <a:pt x="153977" y="119598"/>
                  </a:lnTo>
                  <a:lnTo>
                    <a:pt x="200025" y="119598"/>
                  </a:lnTo>
                  <a:lnTo>
                    <a:pt x="200025" y="132465"/>
                  </a:lnTo>
                  <a:lnTo>
                    <a:pt x="168613" y="132465"/>
                  </a:lnTo>
                  <a:lnTo>
                    <a:pt x="163718" y="137308"/>
                  </a:lnTo>
                  <a:close/>
                </a:path>
                <a:path w="200025" h="266700">
                  <a:moveTo>
                    <a:pt x="200025" y="213776"/>
                  </a:moveTo>
                  <a:lnTo>
                    <a:pt x="87302" y="213776"/>
                  </a:lnTo>
                  <a:lnTo>
                    <a:pt x="168613" y="132465"/>
                  </a:lnTo>
                  <a:lnTo>
                    <a:pt x="200025" y="132465"/>
                  </a:lnTo>
                  <a:lnTo>
                    <a:pt x="200025" y="213776"/>
                  </a:lnTo>
                  <a:close/>
                </a:path>
                <a:path w="200025" h="266700">
                  <a:moveTo>
                    <a:pt x="83291" y="182366"/>
                  </a:moveTo>
                  <a:lnTo>
                    <a:pt x="58809" y="157884"/>
                  </a:lnTo>
                  <a:lnTo>
                    <a:pt x="53965" y="152987"/>
                  </a:lnTo>
                  <a:lnTo>
                    <a:pt x="112670" y="152987"/>
                  </a:lnTo>
                  <a:lnTo>
                    <a:pt x="83291" y="182366"/>
                  </a:lnTo>
                  <a:close/>
                </a:path>
              </a:pathLst>
            </a:custGeom>
            <a:solidFill>
              <a:srgbClr val="A8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184776" y="2746592"/>
            <a:ext cx="1842135" cy="91503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500" b="1" spc="-10" dirty="0">
                <a:solidFill>
                  <a:srgbClr val="DFF0FF"/>
                </a:solidFill>
                <a:latin typeface="DejaVu Sans"/>
                <a:cs typeface="DejaVu Sans"/>
              </a:rPr>
              <a:t>Validação</a:t>
            </a:r>
            <a:endParaRPr sz="1500" dirty="0">
              <a:latin typeface="DejaVu Sans"/>
              <a:cs typeface="DejaVu Sans"/>
            </a:endParaRPr>
          </a:p>
          <a:p>
            <a:pPr marL="12700" marR="5080" algn="ctr">
              <a:lnSpc>
                <a:spcPts val="1350"/>
              </a:lnSpc>
              <a:spcBef>
                <a:spcPts val="570"/>
              </a:spcBef>
            </a:pPr>
            <a:r>
              <a:rPr sz="1100" spc="-100" dirty="0">
                <a:solidFill>
                  <a:srgbClr val="FFFFFF"/>
                </a:solidFill>
                <a:latin typeface="DejaVu Sans"/>
                <a:cs typeface="DejaVu Sans"/>
              </a:rPr>
              <a:t>Testes</a:t>
            </a:r>
            <a:r>
              <a:rPr sz="11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homologação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das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novas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DejaVu Sans"/>
                <a:cs typeface="DejaVu Sans"/>
              </a:rPr>
              <a:t>rotinas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para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DejaVu Sans"/>
                <a:cs typeface="DejaVu Sans"/>
              </a:rPr>
              <a:t>garantir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conformidade</a:t>
            </a:r>
            <a:r>
              <a:rPr sz="110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total.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63" name="object 44"/>
          <p:cNvSpPr/>
          <p:nvPr/>
        </p:nvSpPr>
        <p:spPr>
          <a:xfrm>
            <a:off x="1308100" y="2153374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4" y="590549"/>
                </a:moveTo>
                <a:lnTo>
                  <a:pt x="251949" y="587354"/>
                </a:lnTo>
                <a:lnTo>
                  <a:pt x="209561" y="577835"/>
                </a:lnTo>
                <a:lnTo>
                  <a:pt x="169028" y="562200"/>
                </a:lnTo>
                <a:lnTo>
                  <a:pt x="131229" y="540786"/>
                </a:lnTo>
                <a:lnTo>
                  <a:pt x="96980" y="514059"/>
                </a:lnTo>
                <a:lnTo>
                  <a:pt x="67024" y="482595"/>
                </a:lnTo>
                <a:lnTo>
                  <a:pt x="42008" y="447076"/>
                </a:lnTo>
                <a:lnTo>
                  <a:pt x="22476" y="408271"/>
                </a:lnTo>
                <a:lnTo>
                  <a:pt x="8848" y="367020"/>
                </a:lnTo>
                <a:lnTo>
                  <a:pt x="1421" y="324217"/>
                </a:lnTo>
                <a:lnTo>
                  <a:pt x="0" y="295274"/>
                </a:lnTo>
                <a:lnTo>
                  <a:pt x="355" y="280786"/>
                </a:lnTo>
                <a:lnTo>
                  <a:pt x="5673" y="237669"/>
                </a:lnTo>
                <a:lnTo>
                  <a:pt x="17260" y="195799"/>
                </a:lnTo>
                <a:lnTo>
                  <a:pt x="34865" y="156083"/>
                </a:lnTo>
                <a:lnTo>
                  <a:pt x="58107" y="119379"/>
                </a:lnTo>
                <a:lnTo>
                  <a:pt x="86484" y="86483"/>
                </a:lnTo>
                <a:lnTo>
                  <a:pt x="119379" y="58107"/>
                </a:lnTo>
                <a:lnTo>
                  <a:pt x="156083" y="34865"/>
                </a:lnTo>
                <a:lnTo>
                  <a:pt x="195799" y="17260"/>
                </a:lnTo>
                <a:lnTo>
                  <a:pt x="237669" y="5673"/>
                </a:lnTo>
                <a:lnTo>
                  <a:pt x="280786" y="355"/>
                </a:lnTo>
                <a:lnTo>
                  <a:pt x="295274" y="0"/>
                </a:lnTo>
                <a:lnTo>
                  <a:pt x="309763" y="355"/>
                </a:lnTo>
                <a:lnTo>
                  <a:pt x="352880" y="5673"/>
                </a:lnTo>
                <a:lnTo>
                  <a:pt x="394750" y="17260"/>
                </a:lnTo>
                <a:lnTo>
                  <a:pt x="434466" y="34865"/>
                </a:lnTo>
                <a:lnTo>
                  <a:pt x="471169" y="58107"/>
                </a:lnTo>
                <a:lnTo>
                  <a:pt x="504065" y="86483"/>
                </a:lnTo>
                <a:lnTo>
                  <a:pt x="532442" y="119379"/>
                </a:lnTo>
                <a:lnTo>
                  <a:pt x="555684" y="156083"/>
                </a:lnTo>
                <a:lnTo>
                  <a:pt x="573289" y="195799"/>
                </a:lnTo>
                <a:lnTo>
                  <a:pt x="584876" y="237669"/>
                </a:lnTo>
                <a:lnTo>
                  <a:pt x="590194" y="280786"/>
                </a:lnTo>
                <a:lnTo>
                  <a:pt x="590549" y="295274"/>
                </a:lnTo>
                <a:lnTo>
                  <a:pt x="590194" y="309763"/>
                </a:lnTo>
                <a:lnTo>
                  <a:pt x="584876" y="352880"/>
                </a:lnTo>
                <a:lnTo>
                  <a:pt x="573289" y="394750"/>
                </a:lnTo>
                <a:lnTo>
                  <a:pt x="555684" y="434466"/>
                </a:lnTo>
                <a:lnTo>
                  <a:pt x="532442" y="471170"/>
                </a:lnTo>
                <a:lnTo>
                  <a:pt x="504065" y="504065"/>
                </a:lnTo>
                <a:lnTo>
                  <a:pt x="471170" y="532442"/>
                </a:lnTo>
                <a:lnTo>
                  <a:pt x="434466" y="555684"/>
                </a:lnTo>
                <a:lnTo>
                  <a:pt x="394750" y="573289"/>
                </a:lnTo>
                <a:lnTo>
                  <a:pt x="352880" y="584876"/>
                </a:lnTo>
                <a:lnTo>
                  <a:pt x="309763" y="590194"/>
                </a:lnTo>
                <a:lnTo>
                  <a:pt x="295274" y="590549"/>
                </a:lnTo>
                <a:close/>
              </a:path>
            </a:pathLst>
          </a:custGeom>
          <a:solidFill>
            <a:srgbClr val="A8D0FF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6">
            <a:extLst>
              <a:ext uri="{FF2B5EF4-FFF2-40B4-BE49-F238E27FC236}">
                <a16:creationId xmlns="" xmlns:a16="http://schemas.microsoft.com/office/drawing/2014/main" id="{4E9533E1-233C-3434-7D9E-9C6B9599EAC1}"/>
              </a:ext>
            </a:extLst>
          </p:cNvPr>
          <p:cNvSpPr/>
          <p:nvPr/>
        </p:nvSpPr>
        <p:spPr>
          <a:xfrm>
            <a:off x="1501330" y="2331990"/>
            <a:ext cx="266700" cy="267335"/>
          </a:xfrm>
          <a:custGeom>
            <a:avLst/>
            <a:gdLst/>
            <a:ahLst/>
            <a:cxnLst/>
            <a:rect l="l" t="t" r="r" b="b"/>
            <a:pathLst>
              <a:path w="266700" h="267335">
                <a:moveTo>
                  <a:pt x="108346" y="216693"/>
                </a:moveTo>
                <a:lnTo>
                  <a:pt x="66167" y="208181"/>
                </a:lnTo>
                <a:lnTo>
                  <a:pt x="31729" y="184964"/>
                </a:lnTo>
                <a:lnTo>
                  <a:pt x="8512" y="150525"/>
                </a:lnTo>
                <a:lnTo>
                  <a:pt x="0" y="108346"/>
                </a:lnTo>
                <a:lnTo>
                  <a:pt x="8512" y="66167"/>
                </a:lnTo>
                <a:lnTo>
                  <a:pt x="31729" y="31729"/>
                </a:lnTo>
                <a:lnTo>
                  <a:pt x="66167" y="8512"/>
                </a:lnTo>
                <a:lnTo>
                  <a:pt x="108346" y="0"/>
                </a:lnTo>
                <a:lnTo>
                  <a:pt x="150525" y="8512"/>
                </a:lnTo>
                <a:lnTo>
                  <a:pt x="184964" y="31729"/>
                </a:lnTo>
                <a:lnTo>
                  <a:pt x="186048" y="33337"/>
                </a:lnTo>
                <a:lnTo>
                  <a:pt x="103421" y="33337"/>
                </a:lnTo>
                <a:lnTo>
                  <a:pt x="98543" y="33817"/>
                </a:lnTo>
                <a:lnTo>
                  <a:pt x="62578" y="48715"/>
                </a:lnTo>
                <a:lnTo>
                  <a:pt x="37162" y="84192"/>
                </a:lnTo>
                <a:lnTo>
                  <a:pt x="33337" y="103421"/>
                </a:lnTo>
                <a:lnTo>
                  <a:pt x="33337" y="113272"/>
                </a:lnTo>
                <a:lnTo>
                  <a:pt x="48715" y="154114"/>
                </a:lnTo>
                <a:lnTo>
                  <a:pt x="84192" y="179531"/>
                </a:lnTo>
                <a:lnTo>
                  <a:pt x="103421" y="183356"/>
                </a:lnTo>
                <a:lnTo>
                  <a:pt x="206944" y="183356"/>
                </a:lnTo>
                <a:lnTo>
                  <a:pt x="219435" y="195857"/>
                </a:lnTo>
                <a:lnTo>
                  <a:pt x="172261" y="195857"/>
                </a:lnTo>
                <a:lnTo>
                  <a:pt x="158077" y="204651"/>
                </a:lnTo>
                <a:lnTo>
                  <a:pt x="142550" y="211198"/>
                </a:lnTo>
                <a:lnTo>
                  <a:pt x="125900" y="215284"/>
                </a:lnTo>
                <a:lnTo>
                  <a:pt x="108346" y="216693"/>
                </a:lnTo>
                <a:close/>
              </a:path>
              <a:path w="266700" h="267335">
                <a:moveTo>
                  <a:pt x="206944" y="183356"/>
                </a:moveTo>
                <a:lnTo>
                  <a:pt x="113272" y="183356"/>
                </a:lnTo>
                <a:lnTo>
                  <a:pt x="118149" y="182875"/>
                </a:lnTo>
                <a:lnTo>
                  <a:pt x="127811" y="180954"/>
                </a:lnTo>
                <a:lnTo>
                  <a:pt x="164869" y="157903"/>
                </a:lnTo>
                <a:lnTo>
                  <a:pt x="182875" y="118149"/>
                </a:lnTo>
                <a:lnTo>
                  <a:pt x="183356" y="113272"/>
                </a:lnTo>
                <a:lnTo>
                  <a:pt x="183356" y="103421"/>
                </a:lnTo>
                <a:lnTo>
                  <a:pt x="167978" y="62578"/>
                </a:lnTo>
                <a:lnTo>
                  <a:pt x="132501" y="37162"/>
                </a:lnTo>
                <a:lnTo>
                  <a:pt x="113272" y="33337"/>
                </a:lnTo>
                <a:lnTo>
                  <a:pt x="186048" y="33337"/>
                </a:lnTo>
                <a:lnTo>
                  <a:pt x="208181" y="66167"/>
                </a:lnTo>
                <a:lnTo>
                  <a:pt x="216693" y="108346"/>
                </a:lnTo>
                <a:lnTo>
                  <a:pt x="215276" y="125900"/>
                </a:lnTo>
                <a:lnTo>
                  <a:pt x="211178" y="142550"/>
                </a:lnTo>
                <a:lnTo>
                  <a:pt x="204702" y="157903"/>
                </a:lnTo>
                <a:lnTo>
                  <a:pt x="204629" y="158077"/>
                </a:lnTo>
                <a:lnTo>
                  <a:pt x="195857" y="172261"/>
                </a:lnTo>
                <a:lnTo>
                  <a:pt x="206944" y="183356"/>
                </a:lnTo>
                <a:close/>
              </a:path>
              <a:path w="266700" h="267335">
                <a:moveTo>
                  <a:pt x="250005" y="266739"/>
                </a:moveTo>
                <a:lnTo>
                  <a:pt x="243725" y="265518"/>
                </a:lnTo>
                <a:lnTo>
                  <a:pt x="238206" y="261855"/>
                </a:lnTo>
                <a:lnTo>
                  <a:pt x="172261" y="195857"/>
                </a:lnTo>
                <a:lnTo>
                  <a:pt x="219435" y="195857"/>
                </a:lnTo>
                <a:lnTo>
                  <a:pt x="261803" y="238258"/>
                </a:lnTo>
                <a:lnTo>
                  <a:pt x="265466" y="243777"/>
                </a:lnTo>
                <a:lnTo>
                  <a:pt x="266686" y="250057"/>
                </a:lnTo>
                <a:lnTo>
                  <a:pt x="265466" y="256337"/>
                </a:lnTo>
                <a:lnTo>
                  <a:pt x="261803" y="261855"/>
                </a:lnTo>
                <a:lnTo>
                  <a:pt x="256285" y="265518"/>
                </a:lnTo>
                <a:lnTo>
                  <a:pt x="250005" y="266739"/>
                </a:lnTo>
                <a:close/>
              </a:path>
            </a:pathLst>
          </a:custGeom>
          <a:solidFill>
            <a:srgbClr val="A8D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CaixaDeTexto 65">
            <a:extLst>
              <a:ext uri="{FF2B5EF4-FFF2-40B4-BE49-F238E27FC236}">
                <a16:creationId xmlns="" xmlns:a16="http://schemas.microsoft.com/office/drawing/2014/main" id="{B8397659-45C3-F136-9882-87534970F005}"/>
              </a:ext>
            </a:extLst>
          </p:cNvPr>
          <p:cNvSpPr txBox="1"/>
          <p:nvPr/>
        </p:nvSpPr>
        <p:spPr>
          <a:xfrm>
            <a:off x="843532" y="6778660"/>
            <a:ext cx="490118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50" b="0" i="0" dirty="0">
                <a:solidFill>
                  <a:srgbClr val="FFFFFF"/>
                </a:solidFill>
                <a:effectLst/>
                <a:latin typeface="DejaVu Sans"/>
              </a:rPr>
              <a:t>Rotinas de Fechamento</a:t>
            </a:r>
            <a:endParaRPr lang="pt-BR" sz="1250" dirty="0">
              <a:latin typeface="DejaVu San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B06CB56C-B6FE-DA7A-1B64-80D12AF35F68}"/>
              </a:ext>
            </a:extLst>
          </p:cNvPr>
          <p:cNvSpPr txBox="1"/>
          <p:nvPr/>
        </p:nvSpPr>
        <p:spPr>
          <a:xfrm>
            <a:off x="589924" y="5346675"/>
            <a:ext cx="522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7015">
              <a:lnSpc>
                <a:spcPct val="100000"/>
              </a:lnSpc>
            </a:pPr>
            <a:r>
              <a:rPr lang="pt-BR" sz="1800" b="1" spc="-95" dirty="0">
                <a:solidFill>
                  <a:srgbClr val="93C4FD"/>
                </a:solidFill>
                <a:latin typeface="DejaVu Sans"/>
                <a:cs typeface="DejaVu Sans"/>
              </a:rPr>
              <a:t>Principais</a:t>
            </a:r>
            <a:r>
              <a:rPr lang="pt-BR" sz="1800" b="1" spc="-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lang="pt-BR" sz="1800" b="1" spc="-105" dirty="0">
                <a:solidFill>
                  <a:srgbClr val="93C4FD"/>
                </a:solidFill>
                <a:latin typeface="DejaVu Sans"/>
                <a:cs typeface="DejaVu Sans"/>
              </a:rPr>
              <a:t>sistemas</a:t>
            </a:r>
            <a:r>
              <a:rPr lang="pt-BR" sz="1800" b="1" spc="-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lang="pt-BR" sz="1800" b="1" spc="-120" dirty="0">
                <a:solidFill>
                  <a:srgbClr val="93C4FD"/>
                </a:solidFill>
                <a:latin typeface="DejaVu Sans"/>
                <a:cs typeface="DejaVu Sans"/>
              </a:rPr>
              <a:t>a</a:t>
            </a:r>
            <a:r>
              <a:rPr lang="pt-BR" sz="1800" b="1" spc="-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lang="pt-BR" sz="1800" b="1" spc="-114" dirty="0">
                <a:solidFill>
                  <a:srgbClr val="93C4FD"/>
                </a:solidFill>
                <a:latin typeface="DejaVu Sans"/>
                <a:cs typeface="DejaVu Sans"/>
              </a:rPr>
              <a:t>serem</a:t>
            </a:r>
            <a:r>
              <a:rPr lang="pt-BR" sz="1800" b="1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lang="pt-BR" sz="1800" b="1" spc="-10" dirty="0">
                <a:solidFill>
                  <a:srgbClr val="93C4FD"/>
                </a:solidFill>
                <a:latin typeface="DejaVu Sans"/>
                <a:cs typeface="DejaVu Sans"/>
              </a:rPr>
              <a:t>adaptados:</a:t>
            </a:r>
            <a:endParaRPr lang="pt-BR" sz="1800" dirty="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/>
          <p:cNvGrpSpPr/>
          <p:nvPr/>
        </p:nvGrpSpPr>
        <p:grpSpPr>
          <a:xfrm>
            <a:off x="0" y="0"/>
            <a:ext cx="9753599" cy="7315199"/>
            <a:chOff x="0" y="0"/>
            <a:chExt cx="9753599" cy="731519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753599" cy="7315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71487" y="2438399"/>
              <a:ext cx="8610600" cy="495300"/>
            </a:xfrm>
            <a:custGeom>
              <a:avLst/>
              <a:gdLst/>
              <a:ahLst/>
              <a:cxnLst/>
              <a:rect l="l" t="t" r="r" b="b"/>
              <a:pathLst>
                <a:path w="8610600" h="495300">
                  <a:moveTo>
                    <a:pt x="8610600" y="0"/>
                  </a:moveTo>
                  <a:lnTo>
                    <a:pt x="4305300" y="0"/>
                  </a:lnTo>
                  <a:lnTo>
                    <a:pt x="0" y="0"/>
                  </a:lnTo>
                  <a:lnTo>
                    <a:pt x="0" y="495300"/>
                  </a:lnTo>
                  <a:lnTo>
                    <a:pt x="4305300" y="495300"/>
                  </a:lnTo>
                  <a:lnTo>
                    <a:pt x="8610600" y="495300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A8D0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487" y="2924174"/>
              <a:ext cx="8610600" cy="19050"/>
            </a:xfrm>
            <a:custGeom>
              <a:avLst/>
              <a:gdLst/>
              <a:ahLst/>
              <a:cxnLst/>
              <a:rect l="l" t="t" r="r" b="b"/>
              <a:pathLst>
                <a:path w="8610600" h="19050">
                  <a:moveTo>
                    <a:pt x="8610600" y="0"/>
                  </a:moveTo>
                  <a:lnTo>
                    <a:pt x="43053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4305300" y="19050"/>
                  </a:lnTo>
                  <a:lnTo>
                    <a:pt x="8610600" y="19050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A8D0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1487" y="3857625"/>
              <a:ext cx="8610600" cy="1857375"/>
            </a:xfrm>
            <a:custGeom>
              <a:avLst/>
              <a:gdLst/>
              <a:ahLst/>
              <a:cxnLst/>
              <a:rect l="l" t="t" r="r" b="b"/>
              <a:pathLst>
                <a:path w="8610600" h="1857375">
                  <a:moveTo>
                    <a:pt x="8610600" y="1847850"/>
                  </a:moveTo>
                  <a:lnTo>
                    <a:pt x="4305300" y="1847850"/>
                  </a:lnTo>
                  <a:lnTo>
                    <a:pt x="0" y="1847850"/>
                  </a:lnTo>
                  <a:lnTo>
                    <a:pt x="0" y="1857375"/>
                  </a:lnTo>
                  <a:lnTo>
                    <a:pt x="4305300" y="1857375"/>
                  </a:lnTo>
                  <a:lnTo>
                    <a:pt x="8610600" y="1857375"/>
                  </a:lnTo>
                  <a:lnTo>
                    <a:pt x="8610600" y="1847850"/>
                  </a:lnTo>
                  <a:close/>
                </a:path>
                <a:path w="8610600" h="1857375">
                  <a:moveTo>
                    <a:pt x="8610600" y="923925"/>
                  </a:moveTo>
                  <a:lnTo>
                    <a:pt x="4305300" y="923925"/>
                  </a:lnTo>
                  <a:lnTo>
                    <a:pt x="0" y="923925"/>
                  </a:lnTo>
                  <a:lnTo>
                    <a:pt x="0" y="933450"/>
                  </a:lnTo>
                  <a:lnTo>
                    <a:pt x="4305300" y="933450"/>
                  </a:lnTo>
                  <a:lnTo>
                    <a:pt x="8610600" y="933450"/>
                  </a:lnTo>
                  <a:lnTo>
                    <a:pt x="8610600" y="923925"/>
                  </a:lnTo>
                  <a:close/>
                </a:path>
                <a:path w="8610600" h="1857375">
                  <a:moveTo>
                    <a:pt x="8610600" y="0"/>
                  </a:moveTo>
                  <a:lnTo>
                    <a:pt x="43053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4305300" y="9525"/>
                  </a:lnTo>
                  <a:lnTo>
                    <a:pt x="8610600" y="9525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558800" y="175636"/>
            <a:ext cx="340360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pt-BR" sz="1500" b="1" spc="-130" dirty="0" smtClean="0">
                <a:solidFill>
                  <a:srgbClr val="DFF0FF"/>
                </a:solidFill>
                <a:latin typeface="DejaVu Sans"/>
                <a:cs typeface="DejaVu Sans"/>
              </a:rPr>
              <a:t>VSR - CONTABILIDADE</a:t>
            </a:r>
            <a:endParaRPr sz="1500" dirty="0">
              <a:latin typeface="DejaVu Sans"/>
              <a:cs typeface="DejaVu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8565" y="1688007"/>
            <a:ext cx="8044815" cy="4225290"/>
          </a:xfrm>
          <a:custGeom>
            <a:avLst/>
            <a:gdLst/>
            <a:ahLst/>
            <a:cxnLst/>
            <a:rect l="l" t="t" r="r" b="b"/>
            <a:pathLst>
              <a:path w="8044815" h="4225290">
                <a:moveTo>
                  <a:pt x="795693" y="4040390"/>
                </a:moveTo>
                <a:lnTo>
                  <a:pt x="790879" y="4029430"/>
                </a:lnTo>
                <a:lnTo>
                  <a:pt x="781545" y="4020997"/>
                </a:lnTo>
                <a:lnTo>
                  <a:pt x="424967" y="3815130"/>
                </a:lnTo>
                <a:lnTo>
                  <a:pt x="310222" y="3386912"/>
                </a:lnTo>
                <a:lnTo>
                  <a:pt x="304647" y="3375876"/>
                </a:lnTo>
                <a:lnTo>
                  <a:pt x="295529" y="3368370"/>
                </a:lnTo>
                <a:lnTo>
                  <a:pt x="284276" y="3365271"/>
                </a:lnTo>
                <a:lnTo>
                  <a:pt x="272262" y="3367430"/>
                </a:lnTo>
                <a:lnTo>
                  <a:pt x="230289" y="3387725"/>
                </a:lnTo>
                <a:lnTo>
                  <a:pt x="191223" y="3411944"/>
                </a:lnTo>
                <a:lnTo>
                  <a:pt x="155232" y="3439782"/>
                </a:lnTo>
                <a:lnTo>
                  <a:pt x="122504" y="3470922"/>
                </a:lnTo>
                <a:lnTo>
                  <a:pt x="93218" y="3505047"/>
                </a:lnTo>
                <a:lnTo>
                  <a:pt x="67564" y="3541839"/>
                </a:lnTo>
                <a:lnTo>
                  <a:pt x="45720" y="3580981"/>
                </a:lnTo>
                <a:lnTo>
                  <a:pt x="27863" y="3622154"/>
                </a:lnTo>
                <a:lnTo>
                  <a:pt x="14185" y="3665055"/>
                </a:lnTo>
                <a:lnTo>
                  <a:pt x="4864" y="3709352"/>
                </a:lnTo>
                <a:lnTo>
                  <a:pt x="76" y="3754729"/>
                </a:lnTo>
                <a:lnTo>
                  <a:pt x="0" y="3800881"/>
                </a:lnTo>
                <a:lnTo>
                  <a:pt x="4826" y="3847490"/>
                </a:lnTo>
                <a:lnTo>
                  <a:pt x="14744" y="3894239"/>
                </a:lnTo>
                <a:lnTo>
                  <a:pt x="29870" y="3940568"/>
                </a:lnTo>
                <a:lnTo>
                  <a:pt x="30111" y="3941089"/>
                </a:lnTo>
                <a:lnTo>
                  <a:pt x="49491" y="3984117"/>
                </a:lnTo>
                <a:lnTo>
                  <a:pt x="73279" y="4024693"/>
                </a:lnTo>
                <a:lnTo>
                  <a:pt x="100876" y="4062107"/>
                </a:lnTo>
                <a:lnTo>
                  <a:pt x="131978" y="4096169"/>
                </a:lnTo>
                <a:lnTo>
                  <a:pt x="166243" y="4126674"/>
                </a:lnTo>
                <a:lnTo>
                  <a:pt x="203314" y="4153446"/>
                </a:lnTo>
                <a:lnTo>
                  <a:pt x="242874" y="4176268"/>
                </a:lnTo>
                <a:lnTo>
                  <a:pt x="284619" y="4195000"/>
                </a:lnTo>
                <a:lnTo>
                  <a:pt x="328168" y="4209402"/>
                </a:lnTo>
                <a:lnTo>
                  <a:pt x="373214" y="4219295"/>
                </a:lnTo>
                <a:lnTo>
                  <a:pt x="419404" y="4224490"/>
                </a:lnTo>
                <a:lnTo>
                  <a:pt x="466420" y="4224782"/>
                </a:lnTo>
                <a:lnTo>
                  <a:pt x="513918" y="4220007"/>
                </a:lnTo>
                <a:lnTo>
                  <a:pt x="561568" y="4209948"/>
                </a:lnTo>
                <a:lnTo>
                  <a:pt x="608990" y="4194530"/>
                </a:lnTo>
                <a:lnTo>
                  <a:pt x="607542" y="4194924"/>
                </a:lnTo>
                <a:lnTo>
                  <a:pt x="649503" y="4176204"/>
                </a:lnTo>
                <a:lnTo>
                  <a:pt x="689317" y="4153179"/>
                </a:lnTo>
                <a:lnTo>
                  <a:pt x="726135" y="4126484"/>
                </a:lnTo>
                <a:lnTo>
                  <a:pt x="759739" y="4096397"/>
                </a:lnTo>
                <a:lnTo>
                  <a:pt x="789978" y="4063238"/>
                </a:lnTo>
                <a:lnTo>
                  <a:pt x="795540" y="4052214"/>
                </a:lnTo>
                <a:lnTo>
                  <a:pt x="795693" y="4040390"/>
                </a:lnTo>
                <a:close/>
              </a:path>
              <a:path w="8044815" h="4225290">
                <a:moveTo>
                  <a:pt x="912317" y="3573411"/>
                </a:moveTo>
                <a:lnTo>
                  <a:pt x="896391" y="3515245"/>
                </a:lnTo>
                <a:lnTo>
                  <a:pt x="876312" y="3472015"/>
                </a:lnTo>
                <a:lnTo>
                  <a:pt x="851839" y="3431997"/>
                </a:lnTo>
                <a:lnTo>
                  <a:pt x="823328" y="3395408"/>
                </a:lnTo>
                <a:lnTo>
                  <a:pt x="791184" y="3362477"/>
                </a:lnTo>
                <a:lnTo>
                  <a:pt x="755789" y="3333407"/>
                </a:lnTo>
                <a:lnTo>
                  <a:pt x="717511" y="3308426"/>
                </a:lnTo>
                <a:lnTo>
                  <a:pt x="676744" y="3287776"/>
                </a:lnTo>
                <a:lnTo>
                  <a:pt x="633768" y="3271621"/>
                </a:lnTo>
                <a:lnTo>
                  <a:pt x="589280" y="3260280"/>
                </a:lnTo>
                <a:lnTo>
                  <a:pt x="543331" y="3253892"/>
                </a:lnTo>
                <a:lnTo>
                  <a:pt x="496443" y="3252698"/>
                </a:lnTo>
                <a:lnTo>
                  <a:pt x="448970" y="3256927"/>
                </a:lnTo>
                <a:lnTo>
                  <a:pt x="401307" y="3266795"/>
                </a:lnTo>
                <a:lnTo>
                  <a:pt x="390626" y="3272205"/>
                </a:lnTo>
                <a:lnTo>
                  <a:pt x="383235" y="3281121"/>
                </a:lnTo>
                <a:lnTo>
                  <a:pt x="379691" y="3292246"/>
                </a:lnTo>
                <a:lnTo>
                  <a:pt x="380542" y="3304324"/>
                </a:lnTo>
                <a:lnTo>
                  <a:pt x="488111" y="3705771"/>
                </a:lnTo>
                <a:lnTo>
                  <a:pt x="889546" y="3598202"/>
                </a:lnTo>
                <a:lnTo>
                  <a:pt x="900442" y="3592906"/>
                </a:lnTo>
                <a:lnTo>
                  <a:pt x="908304" y="3584270"/>
                </a:lnTo>
                <a:lnTo>
                  <a:pt x="912317" y="3573411"/>
                </a:lnTo>
                <a:close/>
              </a:path>
              <a:path w="8044815" h="4225290">
                <a:moveTo>
                  <a:pt x="1007681" y="3744506"/>
                </a:moveTo>
                <a:lnTo>
                  <a:pt x="1004227" y="3692664"/>
                </a:lnTo>
                <a:lnTo>
                  <a:pt x="1000010" y="3681196"/>
                </a:lnTo>
                <a:lnTo>
                  <a:pt x="991717" y="3673005"/>
                </a:lnTo>
                <a:lnTo>
                  <a:pt x="980706" y="3668852"/>
                </a:lnTo>
                <a:lnTo>
                  <a:pt x="968375" y="3669525"/>
                </a:lnTo>
                <a:lnTo>
                  <a:pt x="539978" y="3784320"/>
                </a:lnTo>
                <a:lnTo>
                  <a:pt x="901522" y="3992905"/>
                </a:lnTo>
                <a:lnTo>
                  <a:pt x="911974" y="3996613"/>
                </a:lnTo>
                <a:lnTo>
                  <a:pt x="922680" y="3996207"/>
                </a:lnTo>
                <a:lnTo>
                  <a:pt x="964006" y="3940137"/>
                </a:lnTo>
                <a:lnTo>
                  <a:pt x="983056" y="3893858"/>
                </a:lnTo>
                <a:lnTo>
                  <a:pt x="996848" y="3845534"/>
                </a:lnTo>
                <a:lnTo>
                  <a:pt x="1005141" y="3795611"/>
                </a:lnTo>
                <a:lnTo>
                  <a:pt x="1007681" y="3744506"/>
                </a:lnTo>
                <a:close/>
              </a:path>
              <a:path w="8044815" h="4225290">
                <a:moveTo>
                  <a:pt x="8044777" y="656691"/>
                </a:moveTo>
                <a:lnTo>
                  <a:pt x="8038897" y="612927"/>
                </a:lnTo>
                <a:lnTo>
                  <a:pt x="8018945" y="571754"/>
                </a:lnTo>
                <a:lnTo>
                  <a:pt x="7926959" y="440385"/>
                </a:lnTo>
                <a:lnTo>
                  <a:pt x="7811059" y="274866"/>
                </a:lnTo>
                <a:lnTo>
                  <a:pt x="7700238" y="116598"/>
                </a:lnTo>
                <a:lnTo>
                  <a:pt x="7659941" y="78092"/>
                </a:lnTo>
                <a:lnTo>
                  <a:pt x="7607897" y="57924"/>
                </a:lnTo>
                <a:lnTo>
                  <a:pt x="7448283" y="29781"/>
                </a:lnTo>
                <a:lnTo>
                  <a:pt x="7448283" y="273964"/>
                </a:lnTo>
                <a:lnTo>
                  <a:pt x="7447928" y="278612"/>
                </a:lnTo>
                <a:lnTo>
                  <a:pt x="7431608" y="316839"/>
                </a:lnTo>
                <a:lnTo>
                  <a:pt x="7396810" y="339559"/>
                </a:lnTo>
                <a:lnTo>
                  <a:pt x="7373633" y="342353"/>
                </a:lnTo>
                <a:lnTo>
                  <a:pt x="7369061" y="342011"/>
                </a:lnTo>
                <a:lnTo>
                  <a:pt x="7330757" y="325678"/>
                </a:lnTo>
                <a:lnTo>
                  <a:pt x="7308037" y="290868"/>
                </a:lnTo>
                <a:lnTo>
                  <a:pt x="7305243" y="267690"/>
                </a:lnTo>
                <a:lnTo>
                  <a:pt x="7305599" y="263042"/>
                </a:lnTo>
                <a:lnTo>
                  <a:pt x="7321918" y="224815"/>
                </a:lnTo>
                <a:lnTo>
                  <a:pt x="7356729" y="202095"/>
                </a:lnTo>
                <a:lnTo>
                  <a:pt x="7379894" y="199301"/>
                </a:lnTo>
                <a:lnTo>
                  <a:pt x="7384555" y="199656"/>
                </a:lnTo>
                <a:lnTo>
                  <a:pt x="7422782" y="215976"/>
                </a:lnTo>
                <a:lnTo>
                  <a:pt x="7445489" y="250786"/>
                </a:lnTo>
                <a:lnTo>
                  <a:pt x="7448283" y="273964"/>
                </a:lnTo>
                <a:lnTo>
                  <a:pt x="7448283" y="29781"/>
                </a:lnTo>
                <a:lnTo>
                  <a:pt x="7279437" y="0"/>
                </a:lnTo>
                <a:lnTo>
                  <a:pt x="7236930" y="927"/>
                </a:lnTo>
                <a:lnTo>
                  <a:pt x="7199414" y="17576"/>
                </a:lnTo>
                <a:lnTo>
                  <a:pt x="7170877" y="47104"/>
                </a:lnTo>
                <a:lnTo>
                  <a:pt x="7155345" y="86702"/>
                </a:lnTo>
                <a:lnTo>
                  <a:pt x="7097395" y="415378"/>
                </a:lnTo>
                <a:lnTo>
                  <a:pt x="7095236" y="443484"/>
                </a:lnTo>
                <a:lnTo>
                  <a:pt x="7098538" y="471182"/>
                </a:lnTo>
                <a:lnTo>
                  <a:pt x="7120941" y="522224"/>
                </a:lnTo>
                <a:lnTo>
                  <a:pt x="7439647" y="977392"/>
                </a:lnTo>
                <a:lnTo>
                  <a:pt x="7471524" y="1010208"/>
                </a:lnTo>
                <a:lnTo>
                  <a:pt x="7510627" y="1030706"/>
                </a:lnTo>
                <a:lnTo>
                  <a:pt x="7553680" y="1038301"/>
                </a:lnTo>
                <a:lnTo>
                  <a:pt x="7597445" y="1032408"/>
                </a:lnTo>
                <a:lnTo>
                  <a:pt x="7638618" y="1012469"/>
                </a:lnTo>
                <a:lnTo>
                  <a:pt x="7983868" y="770724"/>
                </a:lnTo>
                <a:lnTo>
                  <a:pt x="8016684" y="738847"/>
                </a:lnTo>
                <a:lnTo>
                  <a:pt x="8037182" y="699744"/>
                </a:lnTo>
                <a:lnTo>
                  <a:pt x="8044777" y="656691"/>
                </a:lnTo>
                <a:close/>
              </a:path>
            </a:pathLst>
          </a:custGeom>
          <a:solidFill>
            <a:srgbClr val="FFFFFF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58800" y="542706"/>
            <a:ext cx="9499600" cy="10567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640"/>
              </a:spcBef>
            </a:pPr>
            <a:r>
              <a:rPr sz="3500" spc="-254" dirty="0"/>
              <a:t>PRECIFICAÇÃO</a:t>
            </a:r>
            <a:r>
              <a:rPr sz="3500" spc="-95" dirty="0"/>
              <a:t> </a:t>
            </a:r>
            <a:r>
              <a:rPr sz="3500" spc="-245" dirty="0"/>
              <a:t>E</a:t>
            </a:r>
            <a:r>
              <a:rPr sz="3500" spc="-90" dirty="0"/>
              <a:t> </a:t>
            </a:r>
            <a:r>
              <a:rPr sz="3500" spc="-290" dirty="0"/>
              <a:t>ESTRATÉGIA </a:t>
            </a:r>
            <a:r>
              <a:rPr sz="3500" spc="-280" dirty="0"/>
              <a:t>COMERCIAL</a:t>
            </a:r>
            <a:endParaRPr sz="3500" dirty="0"/>
          </a:p>
        </p:txBody>
      </p:sp>
      <p:grpSp>
        <p:nvGrpSpPr>
          <p:cNvPr id="14" name="object 14"/>
          <p:cNvGrpSpPr/>
          <p:nvPr/>
        </p:nvGrpSpPr>
        <p:grpSpPr>
          <a:xfrm>
            <a:off x="689252" y="3095624"/>
            <a:ext cx="4416425" cy="152400"/>
            <a:chOff x="689252" y="3095624"/>
            <a:chExt cx="4416425" cy="1524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252" y="3095624"/>
              <a:ext cx="87600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1099" y="3095624"/>
              <a:ext cx="114299" cy="1523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73099" y="3331969"/>
            <a:ext cx="4055110" cy="3637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Cliente</a:t>
            </a:r>
            <a:r>
              <a:rPr sz="110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70" dirty="0">
                <a:solidFill>
                  <a:srgbClr val="D0D5DA"/>
                </a:solidFill>
                <a:latin typeface="DejaVu Sans"/>
                <a:cs typeface="DejaVu Sans"/>
              </a:rPr>
              <a:t>vê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70" dirty="0">
                <a:solidFill>
                  <a:srgbClr val="D0D5DA"/>
                </a:solidFill>
                <a:latin typeface="DejaVu Sans"/>
                <a:cs typeface="DejaVu Sans"/>
              </a:rPr>
              <a:t>apenas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D0D5DA"/>
                </a:solidFill>
                <a:latin typeface="DejaVu Sans"/>
                <a:cs typeface="DejaVu Sans"/>
              </a:rPr>
              <a:t>o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valor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40" dirty="0">
                <a:solidFill>
                  <a:srgbClr val="D0D5DA"/>
                </a:solidFill>
                <a:latin typeface="DejaVu Sans"/>
                <a:cs typeface="DejaVu Sans"/>
              </a:rPr>
              <a:t>total,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85" dirty="0">
                <a:solidFill>
                  <a:srgbClr val="D0D5DA"/>
                </a:solidFill>
                <a:latin typeface="DejaVu Sans"/>
                <a:cs typeface="DejaVu Sans"/>
              </a:rPr>
              <a:t>sem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discriminação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clara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35" dirty="0">
                <a:solidFill>
                  <a:srgbClr val="D0D5DA"/>
                </a:solidFill>
                <a:latin typeface="DejaVu Sans"/>
                <a:cs typeface="DejaVu Sans"/>
              </a:rPr>
              <a:t>dos 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tributos.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800" y="2534544"/>
            <a:ext cx="8623300" cy="7258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4610" algn="ctr">
              <a:lnSpc>
                <a:spcPct val="100000"/>
              </a:lnSpc>
              <a:tabLst>
                <a:tab pos="4317365" algn="l"/>
              </a:tabLst>
            </a:pPr>
            <a:r>
              <a:rPr sz="1500" b="1" spc="-10" dirty="0">
                <a:solidFill>
                  <a:srgbClr val="FFFFFF"/>
                </a:solidFill>
                <a:latin typeface="DejaVu Sans"/>
                <a:cs typeface="DejaVu Sans"/>
              </a:rPr>
              <a:t>ANTES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	</a:t>
            </a:r>
            <a:r>
              <a:rPr sz="1500" b="1" spc="-10" dirty="0">
                <a:solidFill>
                  <a:srgbClr val="FFFFFF"/>
                </a:solidFill>
                <a:latin typeface="DejaVu Sans"/>
                <a:cs typeface="DejaVu Sans"/>
              </a:rPr>
              <a:t>DEPOIS</a:t>
            </a:r>
            <a:endParaRPr sz="1500" dirty="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350" dirty="0">
              <a:latin typeface="DejaVu Sans"/>
              <a:cs typeface="DejaVu Sans"/>
            </a:endParaRPr>
          </a:p>
          <a:p>
            <a:pPr marL="297815">
              <a:lnSpc>
                <a:spcPct val="100000"/>
              </a:lnSpc>
              <a:tabLst>
                <a:tab pos="4622165" algn="l"/>
              </a:tabLst>
            </a:pPr>
            <a:r>
              <a:rPr sz="1350" b="1" spc="-105" dirty="0">
                <a:solidFill>
                  <a:srgbClr val="FFFFFF"/>
                </a:solidFill>
                <a:latin typeface="DejaVu Sans"/>
                <a:cs typeface="DejaVu Sans"/>
              </a:rPr>
              <a:t>Preço</a:t>
            </a:r>
            <a:r>
              <a:rPr sz="1350" b="1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350" b="1" spc="-20" dirty="0">
                <a:solidFill>
                  <a:srgbClr val="FFFFFF"/>
                </a:solidFill>
                <a:latin typeface="DejaVu Sans"/>
                <a:cs typeface="DejaVu Sans"/>
              </a:rPr>
              <a:t>nal</a:t>
            </a:r>
            <a:r>
              <a:rPr sz="1350" b="1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85" dirty="0">
                <a:solidFill>
                  <a:srgbClr val="FFFFFF"/>
                </a:solidFill>
                <a:latin typeface="DejaVu Sans"/>
                <a:cs typeface="DejaVu Sans"/>
              </a:rPr>
              <a:t>inclui</a:t>
            </a:r>
            <a:r>
              <a:rPr sz="1350" b="1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10" dirty="0">
                <a:solidFill>
                  <a:srgbClr val="FFFFFF"/>
                </a:solidFill>
                <a:latin typeface="DejaVu Sans"/>
                <a:cs typeface="DejaVu Sans"/>
              </a:rPr>
              <a:t>impostos</a:t>
            </a:r>
            <a:r>
              <a:rPr sz="1350" b="1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DejaVu Sans"/>
                <a:cs typeface="DejaVu Sans"/>
              </a:rPr>
              <a:t>embutidos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	</a:t>
            </a:r>
            <a:r>
              <a:rPr sz="1350" b="1" spc="-105" dirty="0">
                <a:solidFill>
                  <a:srgbClr val="FFFFFF"/>
                </a:solidFill>
                <a:latin typeface="DejaVu Sans"/>
                <a:cs typeface="DejaVu Sans"/>
              </a:rPr>
              <a:t>Preço</a:t>
            </a:r>
            <a:r>
              <a:rPr sz="1350" b="1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95" dirty="0">
                <a:solidFill>
                  <a:srgbClr val="FFFFFF"/>
                </a:solidFill>
                <a:latin typeface="DejaVu Sans"/>
                <a:cs typeface="DejaVu Sans"/>
              </a:rPr>
              <a:t>líquido</a:t>
            </a:r>
            <a:r>
              <a:rPr sz="1350" b="1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30" dirty="0">
                <a:solidFill>
                  <a:srgbClr val="FFFFFF"/>
                </a:solidFill>
                <a:latin typeface="DejaVu Sans"/>
                <a:cs typeface="DejaVu Sans"/>
              </a:rPr>
              <a:t>+</a:t>
            </a:r>
            <a:r>
              <a:rPr sz="1350" b="1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10" dirty="0">
                <a:solidFill>
                  <a:srgbClr val="FFFFFF"/>
                </a:solidFill>
                <a:latin typeface="DejaVu Sans"/>
                <a:cs typeface="DejaVu Sans"/>
              </a:rPr>
              <a:t>impostos</a:t>
            </a:r>
            <a:r>
              <a:rPr sz="1350" b="1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DejaVu Sans"/>
                <a:cs typeface="DejaVu Sans"/>
              </a:rPr>
              <a:t>separados</a:t>
            </a:r>
            <a:endParaRPr sz="1350" dirty="0"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78399" y="3331969"/>
            <a:ext cx="4002404" cy="3637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Cliente</a:t>
            </a:r>
            <a:r>
              <a:rPr sz="110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0" dirty="0">
                <a:solidFill>
                  <a:srgbClr val="D0D5DA"/>
                </a:solidFill>
                <a:latin typeface="DejaVu Sans"/>
                <a:cs typeface="DejaVu Sans"/>
              </a:rPr>
              <a:t>visualiza</a:t>
            </a:r>
            <a:r>
              <a:rPr sz="110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separadamente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D0D5DA"/>
                </a:solidFill>
                <a:latin typeface="DejaVu Sans"/>
                <a:cs typeface="DejaVu Sans"/>
              </a:rPr>
              <a:t>o</a:t>
            </a:r>
            <a:r>
              <a:rPr sz="110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valor</a:t>
            </a:r>
            <a:r>
              <a:rPr sz="110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do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produto/serviço </a:t>
            </a:r>
            <a:r>
              <a:rPr sz="110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0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os</a:t>
            </a:r>
            <a:r>
              <a:rPr sz="110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tributos.</a:t>
            </a:r>
            <a:endParaRPr sz="1100" dirty="0">
              <a:latin typeface="DejaVu Sans"/>
              <a:cs typeface="DejaVu San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799" y="4019550"/>
            <a:ext cx="152399" cy="1523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73099" y="3843247"/>
            <a:ext cx="3574415" cy="78688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10"/>
              </a:spcBef>
            </a:pPr>
            <a:r>
              <a:rPr sz="1350" b="1" spc="-110" dirty="0">
                <a:solidFill>
                  <a:srgbClr val="FFFFFF"/>
                </a:solidFill>
                <a:latin typeface="DejaVu Sans"/>
                <a:cs typeface="DejaVu Sans"/>
              </a:rPr>
              <a:t>Impostos</a:t>
            </a:r>
            <a:r>
              <a:rPr sz="135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14" dirty="0">
                <a:solidFill>
                  <a:srgbClr val="FFFFFF"/>
                </a:solidFill>
                <a:latin typeface="DejaVu Sans"/>
                <a:cs typeface="DejaVu Sans"/>
              </a:rPr>
              <a:t>pagos</a:t>
            </a:r>
            <a:r>
              <a:rPr sz="135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30" dirty="0">
                <a:solidFill>
                  <a:srgbClr val="FFFFFF"/>
                </a:solidFill>
                <a:latin typeface="DejaVu Sans"/>
                <a:cs typeface="DejaVu Sans"/>
              </a:rPr>
              <a:t>posteriormente</a:t>
            </a:r>
            <a:endParaRPr sz="1350" dirty="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710"/>
              </a:spcBef>
            </a:pPr>
            <a:r>
              <a:rPr sz="1100" spc="-80" dirty="0">
                <a:solidFill>
                  <a:srgbClr val="D0D5DA"/>
                </a:solidFill>
                <a:latin typeface="DejaVu Sans"/>
                <a:cs typeface="DejaVu Sans"/>
              </a:rPr>
              <a:t>Empresa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75" dirty="0">
                <a:solidFill>
                  <a:srgbClr val="D0D5DA"/>
                </a:solidFill>
                <a:latin typeface="DejaVu Sans"/>
                <a:cs typeface="DejaVu Sans"/>
              </a:rPr>
              <a:t>recebe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valor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0" dirty="0">
                <a:solidFill>
                  <a:srgbClr val="D0D5DA"/>
                </a:solidFill>
                <a:latin typeface="DejaVu Sans"/>
                <a:cs typeface="DejaVu Sans"/>
              </a:rPr>
              <a:t>total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D0D5DA"/>
                </a:solidFill>
                <a:latin typeface="DejaVu Sans"/>
                <a:cs typeface="DejaVu Sans"/>
              </a:rPr>
              <a:t>recolhe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0" dirty="0">
                <a:solidFill>
                  <a:srgbClr val="D0D5DA"/>
                </a:solidFill>
                <a:latin typeface="DejaVu Sans"/>
                <a:cs typeface="DejaVu Sans"/>
              </a:rPr>
              <a:t>tributos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45" dirty="0">
                <a:solidFill>
                  <a:srgbClr val="D0D5DA"/>
                </a:solidFill>
                <a:latin typeface="DejaVu Sans"/>
                <a:cs typeface="DejaVu Sans"/>
              </a:rPr>
              <a:t>depois, </a:t>
            </a: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conforme</a:t>
            </a:r>
            <a:r>
              <a:rPr sz="110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calendário</a:t>
            </a:r>
            <a:r>
              <a:rPr sz="110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000" spc="-10" dirty="0">
                <a:solidFill>
                  <a:srgbClr val="D0D5DA"/>
                </a:solidFill>
                <a:latin typeface="Arial"/>
                <a:cs typeface="Arial"/>
              </a:rPr>
              <a:t>ﬁ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scal.</a:t>
            </a:r>
            <a:endParaRPr sz="1100" dirty="0">
              <a:latin typeface="DejaVu Sans"/>
              <a:cs typeface="DejaVu San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99821" y="4018746"/>
            <a:ext cx="115907" cy="15400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978399" y="3843247"/>
            <a:ext cx="3754754" cy="77925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1010"/>
              </a:spcBef>
            </a:pPr>
            <a:r>
              <a:rPr sz="1350" b="1" spc="-110" dirty="0">
                <a:solidFill>
                  <a:srgbClr val="FFFFFF"/>
                </a:solidFill>
                <a:latin typeface="DejaVu Sans"/>
                <a:cs typeface="DejaVu Sans"/>
              </a:rPr>
              <a:t>Impostos</a:t>
            </a:r>
            <a:r>
              <a:rPr sz="1350" b="1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00" dirty="0">
                <a:solidFill>
                  <a:srgbClr val="FFFFFF"/>
                </a:solidFill>
                <a:latin typeface="DejaVu Sans"/>
                <a:cs typeface="DejaVu Sans"/>
              </a:rPr>
              <a:t>recolhidos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14" dirty="0">
                <a:solidFill>
                  <a:srgbClr val="FFFFFF"/>
                </a:solidFill>
                <a:latin typeface="DejaVu Sans"/>
                <a:cs typeface="DejaVu Sans"/>
              </a:rPr>
              <a:t>no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DejaVu Sans"/>
                <a:cs typeface="DejaVu Sans"/>
              </a:rPr>
              <a:t>ato</a:t>
            </a:r>
            <a:endParaRPr sz="1350" dirty="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710"/>
              </a:spcBef>
            </a:pPr>
            <a:r>
              <a:rPr sz="1100" spc="-75" dirty="0">
                <a:solidFill>
                  <a:srgbClr val="D0D5DA"/>
                </a:solidFill>
                <a:latin typeface="DejaVu Sans"/>
                <a:cs typeface="DejaVu Sans"/>
              </a:rPr>
              <a:t>Há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D0D5DA"/>
                </a:solidFill>
                <a:latin typeface="DejaVu Sans"/>
                <a:cs typeface="DejaVu Sans"/>
              </a:rPr>
              <a:t>separação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D0D5DA"/>
                </a:solidFill>
                <a:latin typeface="DejaVu Sans"/>
                <a:cs typeface="DejaVu Sans"/>
              </a:rPr>
              <a:t>automática: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parte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0" dirty="0">
                <a:solidFill>
                  <a:srgbClr val="D0D5DA"/>
                </a:solidFill>
                <a:latin typeface="DejaVu Sans"/>
                <a:cs typeface="DejaVu Sans"/>
              </a:rPr>
              <a:t>vai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diretamente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D0D5DA"/>
                </a:solidFill>
                <a:latin typeface="DejaVu Sans"/>
                <a:cs typeface="DejaVu Sans"/>
              </a:rPr>
              <a:t>para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0" dirty="0">
                <a:solidFill>
                  <a:srgbClr val="D0D5DA"/>
                </a:solidFill>
                <a:latin typeface="DejaVu Sans"/>
                <a:cs typeface="DejaVu Sans"/>
              </a:rPr>
              <a:t>o 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governo.</a:t>
            </a:r>
            <a:endParaRPr sz="1100" dirty="0">
              <a:latin typeface="DejaVu Sans"/>
              <a:cs typeface="DejaVu San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799" y="4943474"/>
            <a:ext cx="114299" cy="15239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73099" y="4767172"/>
            <a:ext cx="3524885" cy="779252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10"/>
              </a:spcBef>
            </a:pPr>
            <a:r>
              <a:rPr sz="1350" b="1" spc="-100" dirty="0">
                <a:solidFill>
                  <a:srgbClr val="FFFFFF"/>
                </a:solidFill>
                <a:latin typeface="DejaVu Sans"/>
                <a:cs typeface="DejaVu Sans"/>
              </a:rPr>
              <a:t>Cálculo</a:t>
            </a:r>
            <a:r>
              <a:rPr sz="1350" b="1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05" dirty="0">
                <a:solidFill>
                  <a:srgbClr val="FFFFFF"/>
                </a:solidFill>
                <a:latin typeface="DejaVu Sans"/>
                <a:cs typeface="DejaVu Sans"/>
              </a:rPr>
              <a:t>por</a:t>
            </a:r>
            <a:r>
              <a:rPr sz="1350" b="1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DejaVu Sans"/>
                <a:cs typeface="DejaVu Sans"/>
              </a:rPr>
              <a:t>dentro</a:t>
            </a:r>
            <a:endParaRPr sz="1350" dirty="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710"/>
              </a:spcBef>
            </a:pPr>
            <a:r>
              <a:rPr sz="1100" spc="-75" dirty="0">
                <a:solidFill>
                  <a:srgbClr val="D0D5DA"/>
                </a:solidFill>
                <a:latin typeface="DejaVu Sans"/>
                <a:cs typeface="DejaVu Sans"/>
              </a:rPr>
              <a:t>Tributos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80" dirty="0">
                <a:solidFill>
                  <a:srgbClr val="D0D5DA"/>
                </a:solidFill>
                <a:latin typeface="DejaVu Sans"/>
                <a:cs typeface="DejaVu Sans"/>
              </a:rPr>
              <a:t>compõem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D0D5DA"/>
                </a:solidFill>
                <a:latin typeface="DejaVu Sans"/>
                <a:cs typeface="DejaVu Sans"/>
              </a:rPr>
              <a:t>a</a:t>
            </a:r>
            <a:r>
              <a:rPr sz="110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70" dirty="0">
                <a:solidFill>
                  <a:srgbClr val="D0D5DA"/>
                </a:solidFill>
                <a:latin typeface="DejaVu Sans"/>
                <a:cs typeface="DejaVu Sans"/>
              </a:rPr>
              <a:t>base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0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0" dirty="0">
                <a:solidFill>
                  <a:srgbClr val="D0D5DA"/>
                </a:solidFill>
                <a:latin typeface="DejaVu Sans"/>
                <a:cs typeface="DejaVu Sans"/>
              </a:rPr>
              <a:t>cálculo,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70" dirty="0">
                <a:solidFill>
                  <a:srgbClr val="D0D5DA"/>
                </a:solidFill>
                <a:latin typeface="DejaVu Sans"/>
                <a:cs typeface="DejaVu Sans"/>
              </a:rPr>
              <a:t>gerando</a:t>
            </a:r>
            <a:r>
              <a:rPr sz="110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45" dirty="0">
                <a:solidFill>
                  <a:srgbClr val="D0D5DA"/>
                </a:solidFill>
                <a:latin typeface="DejaVu Sans"/>
                <a:cs typeface="DejaVu Sans"/>
              </a:rPr>
              <a:t>efeito 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cascata.</a:t>
            </a:r>
            <a:endParaRPr sz="1100" dirty="0">
              <a:latin typeface="DejaVu Sans"/>
              <a:cs typeface="DejaVu San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91099" y="5038724"/>
            <a:ext cx="153322" cy="153352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206999" y="4978593"/>
            <a:ext cx="226187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110" dirty="0">
                <a:solidFill>
                  <a:srgbClr val="FFFFFF"/>
                </a:solidFill>
                <a:latin typeface="DejaVu Sans"/>
                <a:cs typeface="DejaVu Sans"/>
              </a:rPr>
              <a:t>Maior</a:t>
            </a:r>
            <a:r>
              <a:rPr sz="1350" b="1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b="1" spc="-95" dirty="0">
                <a:solidFill>
                  <a:srgbClr val="FFFFFF"/>
                </a:solidFill>
                <a:latin typeface="DejaVu Sans"/>
                <a:cs typeface="DejaVu Sans"/>
              </a:rPr>
              <a:t>transparência</a:t>
            </a:r>
            <a:r>
              <a:rPr sz="1350" b="1" spc="-2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350" b="1" spc="-20" dirty="0">
                <a:solidFill>
                  <a:srgbClr val="FFFFFF"/>
                </a:solidFill>
                <a:latin typeface="DejaVu Sans"/>
                <a:cs typeface="DejaVu Sans"/>
              </a:rPr>
              <a:t>scal</a:t>
            </a:r>
            <a:endParaRPr sz="1350" dirty="0">
              <a:latin typeface="DejaVu Sans"/>
              <a:cs typeface="DejaVu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8399" y="5285750"/>
            <a:ext cx="4080510" cy="1859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Consumidor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50" dirty="0">
                <a:solidFill>
                  <a:srgbClr val="D0D5DA"/>
                </a:solidFill>
                <a:latin typeface="DejaVu Sans"/>
                <a:cs typeface="DejaVu Sans"/>
              </a:rPr>
              <a:t>visualiza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D0D5DA"/>
                </a:solidFill>
                <a:latin typeface="DejaVu Sans"/>
                <a:cs typeface="DejaVu Sans"/>
              </a:rPr>
              <a:t>claramente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quanto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D0D5DA"/>
                </a:solidFill>
                <a:latin typeface="DejaVu Sans"/>
                <a:cs typeface="DejaVu Sans"/>
              </a:rPr>
              <a:t>paga</a:t>
            </a:r>
            <a:r>
              <a:rPr sz="110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95" dirty="0">
                <a:solidFill>
                  <a:srgbClr val="D0D5DA"/>
                </a:solidFill>
                <a:latin typeface="DejaVu Sans"/>
                <a:cs typeface="DejaVu Sans"/>
              </a:rPr>
              <a:t>em</a:t>
            </a:r>
            <a:r>
              <a:rPr sz="110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00" spc="-40" dirty="0">
                <a:solidFill>
                  <a:srgbClr val="D0D5DA"/>
                </a:solidFill>
                <a:latin typeface="DejaVu Sans"/>
                <a:cs typeface="DejaVu Sans"/>
              </a:rPr>
              <a:t>impostos.</a:t>
            </a:r>
            <a:endParaRPr sz="1100" dirty="0">
              <a:latin typeface="DejaVu Sans"/>
              <a:cs typeface="DejaVu San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9" cstate="print"/>
          <a:srcRect b="5324"/>
          <a:stretch/>
        </p:blipFill>
        <p:spPr>
          <a:xfrm>
            <a:off x="1026860" y="5795180"/>
            <a:ext cx="7708901" cy="1199817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="" xmlns:a16="http://schemas.microsoft.com/office/drawing/2014/main" id="{2909AA34-FD07-7EFB-FA7D-772AF3545C1C}"/>
              </a:ext>
            </a:extLst>
          </p:cNvPr>
          <p:cNvSpPr txBox="1"/>
          <p:nvPr/>
        </p:nvSpPr>
        <p:spPr>
          <a:xfrm>
            <a:off x="1235363" y="6979631"/>
            <a:ext cx="19545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spc="-35" dirty="0">
                <a:solidFill>
                  <a:srgbClr val="FFFFFF"/>
                </a:solidFill>
                <a:latin typeface="DejaVu Sans"/>
                <a:cs typeface="DejaVu Sans"/>
              </a:rPr>
              <a:t>Valor Percebido</a:t>
            </a:r>
            <a:endParaRPr lang="pt-BR" sz="1100" dirty="0"/>
          </a:p>
        </p:txBody>
      </p:sp>
      <p:sp>
        <p:nvSpPr>
          <p:cNvPr id="32" name="CaixaDeTexto 31">
            <a:extLst>
              <a:ext uri="{FF2B5EF4-FFF2-40B4-BE49-F238E27FC236}">
                <a16:creationId xmlns="" xmlns:a16="http://schemas.microsoft.com/office/drawing/2014/main" id="{D7810983-F868-CD27-ECDD-4EE329A476CF}"/>
              </a:ext>
            </a:extLst>
          </p:cNvPr>
          <p:cNvSpPr txBox="1"/>
          <p:nvPr/>
        </p:nvSpPr>
        <p:spPr>
          <a:xfrm>
            <a:off x="3150869" y="6964624"/>
            <a:ext cx="19545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spc="-35" dirty="0">
                <a:solidFill>
                  <a:srgbClr val="FFFFFF"/>
                </a:solidFill>
                <a:latin typeface="DejaVu Sans"/>
                <a:cs typeface="DejaVu Sans"/>
              </a:rPr>
              <a:t>Margem Líquida</a:t>
            </a:r>
            <a:endParaRPr lang="pt-BR" sz="1100" dirty="0"/>
          </a:p>
        </p:txBody>
      </p:sp>
      <p:sp>
        <p:nvSpPr>
          <p:cNvPr id="33" name="CaixaDeTexto 32">
            <a:extLst>
              <a:ext uri="{FF2B5EF4-FFF2-40B4-BE49-F238E27FC236}">
                <a16:creationId xmlns="" xmlns:a16="http://schemas.microsoft.com/office/drawing/2014/main" id="{9F9F1C06-AD01-C6FD-7DE9-608DF4E025C8}"/>
              </a:ext>
            </a:extLst>
          </p:cNvPr>
          <p:cNvSpPr txBox="1"/>
          <p:nvPr/>
        </p:nvSpPr>
        <p:spPr>
          <a:xfrm>
            <a:off x="4991099" y="6954619"/>
            <a:ext cx="19545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spc="-35" dirty="0">
                <a:solidFill>
                  <a:srgbClr val="FFFFFF"/>
                </a:solidFill>
                <a:latin typeface="DejaVu Sans"/>
                <a:cs typeface="DejaVu Sans"/>
              </a:rPr>
              <a:t>Competitividade</a:t>
            </a:r>
            <a:endParaRPr lang="pt-BR" sz="1100" dirty="0"/>
          </a:p>
        </p:txBody>
      </p:sp>
      <p:sp>
        <p:nvSpPr>
          <p:cNvPr id="34" name="CaixaDeTexto 33">
            <a:extLst>
              <a:ext uri="{FF2B5EF4-FFF2-40B4-BE49-F238E27FC236}">
                <a16:creationId xmlns="" xmlns:a16="http://schemas.microsoft.com/office/drawing/2014/main" id="{60AB2730-DAF3-500A-4673-765BE1A1D74F}"/>
              </a:ext>
            </a:extLst>
          </p:cNvPr>
          <p:cNvSpPr txBox="1"/>
          <p:nvPr/>
        </p:nvSpPr>
        <p:spPr>
          <a:xfrm>
            <a:off x="6863430" y="6927547"/>
            <a:ext cx="19545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spc="-35" dirty="0">
                <a:solidFill>
                  <a:srgbClr val="FFFFFF"/>
                </a:solidFill>
                <a:latin typeface="DejaVu Sans"/>
                <a:cs typeface="DejaVu Sans"/>
              </a:rPr>
              <a:t>Transparência</a:t>
            </a:r>
            <a:endParaRPr lang="pt-BR" sz="1100" dirty="0"/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52820E80-9DF2-E5D3-4464-A8FED2F44169}"/>
              </a:ext>
            </a:extLst>
          </p:cNvPr>
          <p:cNvSpPr txBox="1"/>
          <p:nvPr/>
        </p:nvSpPr>
        <p:spPr>
          <a:xfrm>
            <a:off x="457200" y="1646295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pc="-120" dirty="0">
                <a:solidFill>
                  <a:srgbClr val="A8D0FF"/>
                </a:solidFill>
                <a:latin typeface="DejaVu Sans"/>
                <a:cs typeface="DejaVu Sans"/>
              </a:rPr>
              <a:t>Ajustando</a:t>
            </a:r>
            <a:r>
              <a:rPr lang="pt-BR" spc="-4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pc="-120" dirty="0">
                <a:solidFill>
                  <a:srgbClr val="A8D0FF"/>
                </a:solidFill>
                <a:latin typeface="DejaVu Sans"/>
                <a:cs typeface="DejaVu Sans"/>
              </a:rPr>
              <a:t>sua</a:t>
            </a:r>
            <a:r>
              <a:rPr lang="pt-BR" spc="-35" dirty="0">
                <a:solidFill>
                  <a:srgbClr val="A8D0FF"/>
                </a:solidFill>
                <a:latin typeface="DejaVu Sans"/>
                <a:cs typeface="DejaVu Sans"/>
              </a:rPr>
              <a:t> precificação</a:t>
            </a:r>
            <a:r>
              <a:rPr lang="pt-BR" spc="-9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pc="-120" dirty="0">
                <a:solidFill>
                  <a:srgbClr val="A8D0FF"/>
                </a:solidFill>
                <a:latin typeface="DejaVu Sans"/>
                <a:cs typeface="DejaVu Sans"/>
              </a:rPr>
              <a:t>para</a:t>
            </a:r>
            <a:r>
              <a:rPr lang="pt-BR" spc="-4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pc="-130" dirty="0">
                <a:solidFill>
                  <a:srgbClr val="A8D0FF"/>
                </a:solidFill>
                <a:latin typeface="DejaVu Sans"/>
                <a:cs typeface="DejaVu Sans"/>
              </a:rPr>
              <a:t>Reforma Tributária</a:t>
            </a:r>
            <a:endParaRPr lang="pt-BR" dirty="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9049" y="-257907"/>
            <a:ext cx="9753599" cy="7362348"/>
            <a:chOff x="0" y="0"/>
            <a:chExt cx="9753599" cy="7362348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753599" cy="73151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599" y="6811306"/>
              <a:ext cx="8572500" cy="551042"/>
            </a:xfrm>
            <a:custGeom>
              <a:avLst/>
              <a:gdLst/>
              <a:ahLst/>
              <a:cxnLst/>
              <a:rect l="l" t="t" r="r" b="b"/>
              <a:pathLst>
                <a:path w="8572500" h="314325">
                  <a:moveTo>
                    <a:pt x="0" y="314325"/>
                  </a:moveTo>
                  <a:lnTo>
                    <a:pt x="8572498" y="314325"/>
                  </a:lnTo>
                  <a:lnTo>
                    <a:pt x="8572498" y="0"/>
                  </a:lnTo>
                  <a:lnTo>
                    <a:pt x="0" y="0"/>
                  </a:lnTo>
                  <a:lnTo>
                    <a:pt x="0" y="314325"/>
                  </a:lnTo>
                  <a:close/>
                </a:path>
              </a:pathLst>
            </a:custGeom>
            <a:solidFill>
              <a:srgbClr val="A8D0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563880" y="6811306"/>
              <a:ext cx="45719" cy="551042"/>
            </a:xfrm>
            <a:custGeom>
              <a:avLst/>
              <a:gdLst/>
              <a:ahLst/>
              <a:cxnLst/>
              <a:rect l="l" t="t" r="r" b="b"/>
              <a:pathLst>
                <a:path w="38100" h="314325">
                  <a:moveTo>
                    <a:pt x="38099" y="314325"/>
                  </a:moveTo>
                  <a:lnTo>
                    <a:pt x="0" y="314325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14325"/>
                  </a:lnTo>
                  <a:close/>
                </a:path>
              </a:pathLst>
            </a:custGeom>
            <a:solidFill>
              <a:srgbClr val="A8D0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558800" y="175636"/>
            <a:ext cx="363220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pt-BR" sz="1500" b="1" spc="-130" dirty="0" smtClean="0">
                <a:solidFill>
                  <a:srgbClr val="DFF0FF"/>
                </a:solidFill>
                <a:latin typeface="DejaVu Sans"/>
                <a:cs typeface="DejaVu Sans"/>
              </a:rPr>
              <a:t>VSR - CONTABILIDADE</a:t>
            </a:r>
            <a:endParaRPr sz="1500" dirty="0"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58800" y="582737"/>
            <a:ext cx="8737600" cy="56938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640"/>
              </a:spcBef>
            </a:pPr>
            <a:r>
              <a:rPr sz="3500" spc="-275" dirty="0"/>
              <a:t>PLANEJAMENTO</a:t>
            </a:r>
            <a:r>
              <a:rPr sz="3500" spc="-114" dirty="0"/>
              <a:t> </a:t>
            </a:r>
            <a:r>
              <a:rPr sz="3500" spc="-275" dirty="0"/>
              <a:t>TRIBUTÁRIO</a:t>
            </a:r>
            <a:endParaRPr sz="3500" dirty="0"/>
          </a:p>
        </p:txBody>
      </p:sp>
      <p:sp>
        <p:nvSpPr>
          <p:cNvPr id="14" name="object 14"/>
          <p:cNvSpPr txBox="1"/>
          <p:nvPr/>
        </p:nvSpPr>
        <p:spPr>
          <a:xfrm>
            <a:off x="1181478" y="2463420"/>
            <a:ext cx="3471545" cy="8464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1" spc="-100" dirty="0">
                <a:solidFill>
                  <a:srgbClr val="93C4FD"/>
                </a:solidFill>
                <a:latin typeface="DejaVu Sans"/>
                <a:cs typeface="DejaVu Sans"/>
              </a:rPr>
              <a:t>Créditos</a:t>
            </a:r>
            <a:r>
              <a:rPr sz="1350" b="1" spc="1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93C4FD"/>
                </a:solidFill>
                <a:latin typeface="DejaVu Sans"/>
                <a:cs typeface="DejaVu Sans"/>
              </a:rPr>
              <a:t>Tributários</a:t>
            </a:r>
            <a:endParaRPr sz="1350" dirty="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110"/>
              </a:spcBef>
            </a:pP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Identi</a:t>
            </a:r>
            <a:r>
              <a:rPr sz="1050" spc="-40" dirty="0">
                <a:solidFill>
                  <a:srgbClr val="D0D5DA"/>
                </a:solidFill>
                <a:latin typeface="Arial"/>
                <a:cs typeface="Arial"/>
              </a:rPr>
              <a:t>ﬁ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cação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aproveitamento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créditos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no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45" dirty="0">
                <a:solidFill>
                  <a:srgbClr val="D0D5DA"/>
                </a:solidFill>
                <a:latin typeface="DejaVu Sans"/>
                <a:cs typeface="DejaVu Sans"/>
              </a:rPr>
              <a:t>novo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sistema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5" dirty="0">
                <a:solidFill>
                  <a:srgbClr val="D0D5DA"/>
                </a:solidFill>
                <a:latin typeface="DejaVu Sans"/>
                <a:cs typeface="DejaVu Sans"/>
              </a:rPr>
              <a:t>IVA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dual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(CBS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IBS),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otimizando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a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recuperação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050" spc="-10" dirty="0">
                <a:solidFill>
                  <a:srgbClr val="D0D5DA"/>
                </a:solidFill>
                <a:latin typeface="Arial"/>
                <a:cs typeface="Arial"/>
              </a:rPr>
              <a:t>ﬁ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scal.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1478" y="3309210"/>
            <a:ext cx="3388995" cy="8464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1" spc="-120" dirty="0">
                <a:solidFill>
                  <a:srgbClr val="93C4FD"/>
                </a:solidFill>
                <a:latin typeface="DejaVu Sans"/>
                <a:cs typeface="DejaVu Sans"/>
              </a:rPr>
              <a:t>Regime</a:t>
            </a:r>
            <a:r>
              <a:rPr sz="135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14" dirty="0">
                <a:solidFill>
                  <a:srgbClr val="93C4FD"/>
                </a:solidFill>
                <a:latin typeface="DejaVu Sans"/>
                <a:cs typeface="DejaVu Sans"/>
              </a:rPr>
              <a:t>de</a:t>
            </a:r>
            <a:r>
              <a:rPr sz="1350" b="1" spc="-2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93C4FD"/>
                </a:solidFill>
                <a:latin typeface="DejaVu Sans"/>
                <a:cs typeface="DejaVu Sans"/>
              </a:rPr>
              <a:t>Transição</a:t>
            </a:r>
            <a:endParaRPr sz="1350" dirty="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110"/>
              </a:spcBef>
            </a:pP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Oportunidades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especí</a:t>
            </a:r>
            <a:r>
              <a:rPr sz="1050" spc="-40" dirty="0">
                <a:solidFill>
                  <a:srgbClr val="D0D5DA"/>
                </a:solidFill>
                <a:latin typeface="Arial"/>
                <a:cs typeface="Arial"/>
              </a:rPr>
              <a:t>ﬁ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cas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durante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a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implementação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gradual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da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reforma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tributária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35" dirty="0">
                <a:solidFill>
                  <a:srgbClr val="D0D5DA"/>
                </a:solidFill>
                <a:latin typeface="DejaVu Sans"/>
                <a:cs typeface="DejaVu Sans"/>
              </a:rPr>
              <a:t>do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Split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Payment.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1478" y="4223610"/>
            <a:ext cx="3281679" cy="8464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1" spc="-100" dirty="0">
                <a:solidFill>
                  <a:srgbClr val="93C4FD"/>
                </a:solidFill>
                <a:latin typeface="DejaVu Sans"/>
                <a:cs typeface="DejaVu Sans"/>
              </a:rPr>
              <a:t>Revisão</a:t>
            </a:r>
            <a:r>
              <a:rPr sz="1350" b="1" spc="-4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14" dirty="0">
                <a:solidFill>
                  <a:srgbClr val="93C4FD"/>
                </a:solidFill>
                <a:latin typeface="DejaVu Sans"/>
                <a:cs typeface="DejaVu Sans"/>
              </a:rPr>
              <a:t>de</a:t>
            </a:r>
            <a:r>
              <a:rPr sz="1350" b="1" spc="-4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93C4FD"/>
                </a:solidFill>
                <a:latin typeface="DejaVu Sans"/>
                <a:cs typeface="DejaVu Sans"/>
              </a:rPr>
              <a:t>Contratos</a:t>
            </a:r>
            <a:endParaRPr sz="135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110"/>
              </a:spcBef>
            </a:pP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Adaptação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termos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comerciais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considerando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o Split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Payment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seus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impactos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nas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relações comerciais.</a:t>
            </a:r>
            <a:endParaRPr sz="1150">
              <a:latin typeface="DejaVu Sans"/>
              <a:cs typeface="DejaVu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1478" y="5138010"/>
            <a:ext cx="3225165" cy="6559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1" spc="-114" dirty="0">
                <a:solidFill>
                  <a:srgbClr val="93C4FD"/>
                </a:solidFill>
                <a:latin typeface="DejaVu Sans"/>
                <a:cs typeface="DejaVu Sans"/>
              </a:rPr>
              <a:t>Modelos</a:t>
            </a:r>
            <a:r>
              <a:rPr sz="1350" b="1" spc="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20" dirty="0">
                <a:solidFill>
                  <a:srgbClr val="93C4FD"/>
                </a:solidFill>
                <a:latin typeface="DejaVu Sans"/>
                <a:cs typeface="DejaVu Sans"/>
              </a:rPr>
              <a:t>Operacionais</a:t>
            </a:r>
            <a:endParaRPr sz="135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110"/>
              </a:spcBef>
            </a:pP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Análise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estruturas</a:t>
            </a:r>
            <a:r>
              <a:rPr sz="1150" spc="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societárias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operacionais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mais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050" spc="-40" dirty="0">
                <a:solidFill>
                  <a:srgbClr val="D0D5DA"/>
                </a:solidFill>
                <a:latin typeface="Arial"/>
                <a:cs typeface="Arial"/>
              </a:rPr>
              <a:t>ﬁ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cientes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no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novo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cenário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tributário.</a:t>
            </a:r>
            <a:endParaRPr sz="1150">
              <a:latin typeface="DejaVu Sans"/>
              <a:cs typeface="DejaVu San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013703" y="1966364"/>
            <a:ext cx="4191000" cy="4251462"/>
            <a:chOff x="4991099" y="2558912"/>
            <a:chExt cx="4191000" cy="4251462"/>
          </a:xfrm>
        </p:grpSpPr>
        <p:sp>
          <p:nvSpPr>
            <p:cNvPr id="19" name="object 19"/>
            <p:cNvSpPr/>
            <p:nvPr/>
          </p:nvSpPr>
          <p:spPr>
            <a:xfrm>
              <a:off x="4991099" y="2895599"/>
              <a:ext cx="4191000" cy="3914775"/>
            </a:xfrm>
            <a:custGeom>
              <a:avLst/>
              <a:gdLst/>
              <a:ahLst/>
              <a:cxnLst/>
              <a:rect l="l" t="t" r="r" b="b"/>
              <a:pathLst>
                <a:path w="4191000" h="3914775">
                  <a:moveTo>
                    <a:pt x="4114799" y="3914774"/>
                  </a:moveTo>
                  <a:lnTo>
                    <a:pt x="76199" y="3914774"/>
                  </a:lnTo>
                  <a:lnTo>
                    <a:pt x="68693" y="3914411"/>
                  </a:lnTo>
                  <a:lnTo>
                    <a:pt x="27881" y="3897506"/>
                  </a:lnTo>
                  <a:lnTo>
                    <a:pt x="3261" y="3860661"/>
                  </a:lnTo>
                  <a:lnTo>
                    <a:pt x="0" y="38385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114799" y="0"/>
                  </a:lnTo>
                  <a:lnTo>
                    <a:pt x="4157141" y="12829"/>
                  </a:lnTo>
                  <a:lnTo>
                    <a:pt x="4185198" y="47039"/>
                  </a:lnTo>
                  <a:lnTo>
                    <a:pt x="4190999" y="76199"/>
                  </a:lnTo>
                  <a:lnTo>
                    <a:pt x="4190999" y="3838574"/>
                  </a:lnTo>
                  <a:lnTo>
                    <a:pt x="4178168" y="3880916"/>
                  </a:lnTo>
                  <a:lnTo>
                    <a:pt x="4143959" y="3908973"/>
                  </a:lnTo>
                  <a:lnTo>
                    <a:pt x="4114799" y="3914774"/>
                  </a:lnTo>
                  <a:close/>
                </a:path>
              </a:pathLst>
            </a:custGeom>
            <a:solidFill>
              <a:srgbClr val="A8D0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91099" y="2895599"/>
              <a:ext cx="4191000" cy="3914775"/>
            </a:xfrm>
            <a:custGeom>
              <a:avLst/>
              <a:gdLst/>
              <a:ahLst/>
              <a:cxnLst/>
              <a:rect l="l" t="t" r="r" b="b"/>
              <a:pathLst>
                <a:path w="4191000" h="3914775">
                  <a:moveTo>
                    <a:pt x="4114799" y="3914774"/>
                  </a:moveTo>
                  <a:lnTo>
                    <a:pt x="76199" y="3914774"/>
                  </a:lnTo>
                  <a:lnTo>
                    <a:pt x="68693" y="3914411"/>
                  </a:lnTo>
                  <a:lnTo>
                    <a:pt x="27881" y="3897507"/>
                  </a:lnTo>
                  <a:lnTo>
                    <a:pt x="3261" y="3860661"/>
                  </a:lnTo>
                  <a:lnTo>
                    <a:pt x="0" y="38385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114799" y="0"/>
                  </a:lnTo>
                  <a:lnTo>
                    <a:pt x="4151620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3842952"/>
                  </a:lnTo>
                  <a:lnTo>
                    <a:pt x="23193" y="3879256"/>
                  </a:lnTo>
                  <a:lnTo>
                    <a:pt x="54728" y="3901849"/>
                  </a:lnTo>
                  <a:lnTo>
                    <a:pt x="71821" y="3905248"/>
                  </a:lnTo>
                  <a:lnTo>
                    <a:pt x="4151619" y="3905248"/>
                  </a:lnTo>
                  <a:lnTo>
                    <a:pt x="4150755" y="3905765"/>
                  </a:lnTo>
                  <a:lnTo>
                    <a:pt x="4143959" y="3908973"/>
                  </a:lnTo>
                  <a:lnTo>
                    <a:pt x="4136886" y="3911511"/>
                  </a:lnTo>
                  <a:lnTo>
                    <a:pt x="4129668" y="3913323"/>
                  </a:lnTo>
                  <a:lnTo>
                    <a:pt x="4122306" y="3914411"/>
                  </a:lnTo>
                  <a:lnTo>
                    <a:pt x="4114799" y="3914774"/>
                  </a:lnTo>
                  <a:close/>
                </a:path>
                <a:path w="4191000" h="3914775">
                  <a:moveTo>
                    <a:pt x="4151619" y="3905248"/>
                  </a:moveTo>
                  <a:lnTo>
                    <a:pt x="4119176" y="3905248"/>
                  </a:lnTo>
                  <a:lnTo>
                    <a:pt x="4123512" y="3904821"/>
                  </a:lnTo>
                  <a:lnTo>
                    <a:pt x="4132100" y="3903113"/>
                  </a:lnTo>
                  <a:lnTo>
                    <a:pt x="4165041" y="3882624"/>
                  </a:lnTo>
                  <a:lnTo>
                    <a:pt x="4181047" y="3847287"/>
                  </a:lnTo>
                  <a:lnTo>
                    <a:pt x="4181474" y="3842952"/>
                  </a:lnTo>
                  <a:lnTo>
                    <a:pt x="4181474" y="71821"/>
                  </a:lnTo>
                  <a:lnTo>
                    <a:pt x="4181166" y="68693"/>
                  </a:lnTo>
                  <a:lnTo>
                    <a:pt x="4181047" y="67486"/>
                  </a:lnTo>
                  <a:lnTo>
                    <a:pt x="4165041" y="32148"/>
                  </a:lnTo>
                  <a:lnTo>
                    <a:pt x="4132100" y="11660"/>
                  </a:lnTo>
                  <a:lnTo>
                    <a:pt x="4119176" y="9524"/>
                  </a:lnTo>
                  <a:lnTo>
                    <a:pt x="4151620" y="9524"/>
                  </a:lnTo>
                  <a:lnTo>
                    <a:pt x="4181990" y="40242"/>
                  </a:lnTo>
                  <a:lnTo>
                    <a:pt x="4190999" y="3838574"/>
                  </a:lnTo>
                  <a:lnTo>
                    <a:pt x="4190637" y="3846081"/>
                  </a:lnTo>
                  <a:lnTo>
                    <a:pt x="4173732" y="3886891"/>
                  </a:lnTo>
                  <a:lnTo>
                    <a:pt x="4157268" y="3901849"/>
                  </a:lnTo>
                  <a:lnTo>
                    <a:pt x="4151619" y="3905248"/>
                  </a:lnTo>
                  <a:close/>
                </a:path>
              </a:pathLst>
            </a:custGeom>
            <a:solidFill>
              <a:srgbClr val="A8D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43487" y="3943349"/>
              <a:ext cx="3886200" cy="1819275"/>
            </a:xfrm>
            <a:custGeom>
              <a:avLst/>
              <a:gdLst/>
              <a:ahLst/>
              <a:cxnLst/>
              <a:rect l="l" t="t" r="r" b="b"/>
              <a:pathLst>
                <a:path w="3886200" h="1819275">
                  <a:moveTo>
                    <a:pt x="3886200" y="1809750"/>
                  </a:moveTo>
                  <a:lnTo>
                    <a:pt x="0" y="1809750"/>
                  </a:lnTo>
                  <a:lnTo>
                    <a:pt x="0" y="1819275"/>
                  </a:lnTo>
                  <a:lnTo>
                    <a:pt x="3886200" y="1819275"/>
                  </a:lnTo>
                  <a:lnTo>
                    <a:pt x="3886200" y="1809750"/>
                  </a:lnTo>
                  <a:close/>
                </a:path>
                <a:path w="3886200" h="1819275">
                  <a:moveTo>
                    <a:pt x="3886200" y="809625"/>
                  </a:moveTo>
                  <a:lnTo>
                    <a:pt x="0" y="809625"/>
                  </a:lnTo>
                  <a:lnTo>
                    <a:pt x="0" y="819150"/>
                  </a:lnTo>
                  <a:lnTo>
                    <a:pt x="3886200" y="819150"/>
                  </a:lnTo>
                  <a:lnTo>
                    <a:pt x="3886200" y="809625"/>
                  </a:lnTo>
                  <a:close/>
                </a:path>
                <a:path w="3886200" h="1819275">
                  <a:moveTo>
                    <a:pt x="38862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886200" y="9525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A8D0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2086" y="2558912"/>
              <a:ext cx="196453" cy="20922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68544" y="1904206"/>
            <a:ext cx="7712709" cy="3000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21615">
              <a:lnSpc>
                <a:spcPct val="100000"/>
              </a:lnSpc>
              <a:tabLst>
                <a:tab pos="4641215" algn="l"/>
              </a:tabLst>
            </a:pPr>
            <a:r>
              <a:rPr sz="1850" b="1" spc="-145" dirty="0" err="1">
                <a:solidFill>
                  <a:srgbClr val="A8D0FF"/>
                </a:solidFill>
                <a:latin typeface="DejaVu Sans"/>
                <a:cs typeface="DejaVu Sans"/>
              </a:rPr>
              <a:t>Planejamento</a:t>
            </a:r>
            <a:r>
              <a:rPr sz="1850" b="1" spc="2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z="1850" b="1" spc="-10" dirty="0">
                <a:solidFill>
                  <a:srgbClr val="A8D0FF"/>
                </a:solidFill>
                <a:latin typeface="DejaVu Sans"/>
                <a:cs typeface="DejaVu Sans"/>
              </a:rPr>
              <a:t>Tributário</a:t>
            </a:r>
            <a:r>
              <a:rPr sz="1850" b="1" dirty="0">
                <a:solidFill>
                  <a:srgbClr val="A8D0FF"/>
                </a:solidFill>
                <a:latin typeface="DejaVu Sans"/>
                <a:cs typeface="DejaVu Sans"/>
              </a:rPr>
              <a:t>	</a:t>
            </a:r>
            <a:r>
              <a:rPr sz="1850" b="1" spc="-145" dirty="0">
                <a:solidFill>
                  <a:srgbClr val="A8D0FF"/>
                </a:solidFill>
                <a:latin typeface="DejaVu Sans"/>
                <a:cs typeface="DejaVu Sans"/>
              </a:rPr>
              <a:t>Compliance</a:t>
            </a:r>
            <a:r>
              <a:rPr sz="1850" b="1" spc="-3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z="1850" b="1" spc="-150" dirty="0">
                <a:solidFill>
                  <a:srgbClr val="A8D0FF"/>
                </a:solidFill>
                <a:latin typeface="DejaVu Sans"/>
                <a:cs typeface="DejaVu Sans"/>
              </a:rPr>
              <a:t>e</a:t>
            </a:r>
            <a:r>
              <a:rPr sz="1850" b="1"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z="1850" b="1" spc="-130" dirty="0">
                <a:solidFill>
                  <a:srgbClr val="A8D0FF"/>
                </a:solidFill>
                <a:latin typeface="DejaVu Sans"/>
                <a:cs typeface="DejaVu Sans"/>
              </a:rPr>
              <a:t>Governança</a:t>
            </a:r>
            <a:endParaRPr sz="1850" dirty="0">
              <a:latin typeface="DejaVu Sans"/>
              <a:cs typeface="DejaVu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166103" y="2455451"/>
            <a:ext cx="342900" cy="3152775"/>
            <a:chOff x="5143499" y="3047999"/>
            <a:chExt cx="342900" cy="3152775"/>
          </a:xfrm>
        </p:grpSpPr>
        <p:sp>
          <p:nvSpPr>
            <p:cNvPr id="25" name="object 25"/>
            <p:cNvSpPr/>
            <p:nvPr/>
          </p:nvSpPr>
          <p:spPr>
            <a:xfrm>
              <a:off x="5143499" y="3047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6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79" y="121679"/>
                  </a:lnTo>
                  <a:lnTo>
                    <a:pt x="24385" y="83315"/>
                  </a:lnTo>
                  <a:lnTo>
                    <a:pt x="50216" y="50216"/>
                  </a:lnTo>
                  <a:lnTo>
                    <a:pt x="83314" y="24385"/>
                  </a:lnTo>
                  <a:lnTo>
                    <a:pt x="121679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3" y="24385"/>
                  </a:lnTo>
                  <a:lnTo>
                    <a:pt x="292682" y="50216"/>
                  </a:lnTo>
                  <a:lnTo>
                    <a:pt x="318512" y="83315"/>
                  </a:lnTo>
                  <a:lnTo>
                    <a:pt x="335518" y="121679"/>
                  </a:lnTo>
                  <a:lnTo>
                    <a:pt x="342693" y="163026"/>
                  </a:lnTo>
                  <a:lnTo>
                    <a:pt x="342899" y="171449"/>
                  </a:lnTo>
                  <a:lnTo>
                    <a:pt x="342693" y="179872"/>
                  </a:lnTo>
                  <a:lnTo>
                    <a:pt x="335518" y="221219"/>
                  </a:lnTo>
                  <a:lnTo>
                    <a:pt x="318512" y="259584"/>
                  </a:lnTo>
                  <a:lnTo>
                    <a:pt x="292682" y="292682"/>
                  </a:lnTo>
                  <a:lnTo>
                    <a:pt x="259583" y="318513"/>
                  </a:lnTo>
                  <a:lnTo>
                    <a:pt x="221219" y="335518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799" y="3143249"/>
              <a:ext cx="114299" cy="1523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143499" y="40481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59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6" y="229199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79" y="121679"/>
                  </a:lnTo>
                  <a:lnTo>
                    <a:pt x="24385" y="83314"/>
                  </a:lnTo>
                  <a:lnTo>
                    <a:pt x="50216" y="50216"/>
                  </a:lnTo>
                  <a:lnTo>
                    <a:pt x="83314" y="24385"/>
                  </a:lnTo>
                  <a:lnTo>
                    <a:pt x="121679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3" y="24386"/>
                  </a:lnTo>
                  <a:lnTo>
                    <a:pt x="292682" y="50216"/>
                  </a:lnTo>
                  <a:lnTo>
                    <a:pt x="318512" y="83314"/>
                  </a:lnTo>
                  <a:lnTo>
                    <a:pt x="335518" y="121679"/>
                  </a:lnTo>
                  <a:lnTo>
                    <a:pt x="342693" y="163026"/>
                  </a:lnTo>
                  <a:lnTo>
                    <a:pt x="342899" y="171449"/>
                  </a:lnTo>
                  <a:lnTo>
                    <a:pt x="342693" y="179872"/>
                  </a:lnTo>
                  <a:lnTo>
                    <a:pt x="335518" y="221219"/>
                  </a:lnTo>
                  <a:lnTo>
                    <a:pt x="318512" y="259584"/>
                  </a:lnTo>
                  <a:lnTo>
                    <a:pt x="292682" y="292682"/>
                  </a:lnTo>
                  <a:lnTo>
                    <a:pt x="259583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38749" y="4143374"/>
              <a:ext cx="153322" cy="15335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143499" y="48577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7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6" y="229199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79" y="121679"/>
                  </a:lnTo>
                  <a:lnTo>
                    <a:pt x="24385" y="83314"/>
                  </a:lnTo>
                  <a:lnTo>
                    <a:pt x="50216" y="50216"/>
                  </a:lnTo>
                  <a:lnTo>
                    <a:pt x="83314" y="24385"/>
                  </a:lnTo>
                  <a:lnTo>
                    <a:pt x="121679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3" y="24385"/>
                  </a:lnTo>
                  <a:lnTo>
                    <a:pt x="292682" y="50216"/>
                  </a:lnTo>
                  <a:lnTo>
                    <a:pt x="318512" y="83314"/>
                  </a:lnTo>
                  <a:lnTo>
                    <a:pt x="335518" y="121679"/>
                  </a:lnTo>
                  <a:lnTo>
                    <a:pt x="342693" y="163027"/>
                  </a:lnTo>
                  <a:lnTo>
                    <a:pt x="342899" y="171449"/>
                  </a:lnTo>
                  <a:lnTo>
                    <a:pt x="342693" y="179872"/>
                  </a:lnTo>
                  <a:lnTo>
                    <a:pt x="335518" y="221218"/>
                  </a:lnTo>
                  <a:lnTo>
                    <a:pt x="318512" y="259583"/>
                  </a:lnTo>
                  <a:lnTo>
                    <a:pt x="292682" y="292683"/>
                  </a:lnTo>
                  <a:lnTo>
                    <a:pt x="259583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8808" y="4962524"/>
              <a:ext cx="172283" cy="13334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43499" y="585787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59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6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79" y="121679"/>
                  </a:lnTo>
                  <a:lnTo>
                    <a:pt x="24385" y="83313"/>
                  </a:lnTo>
                  <a:lnTo>
                    <a:pt x="50216" y="50215"/>
                  </a:lnTo>
                  <a:lnTo>
                    <a:pt x="83314" y="24385"/>
                  </a:lnTo>
                  <a:lnTo>
                    <a:pt x="121679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3" y="24385"/>
                  </a:lnTo>
                  <a:lnTo>
                    <a:pt x="292682" y="50215"/>
                  </a:lnTo>
                  <a:lnTo>
                    <a:pt x="318512" y="83313"/>
                  </a:lnTo>
                  <a:lnTo>
                    <a:pt x="335518" y="121679"/>
                  </a:lnTo>
                  <a:lnTo>
                    <a:pt x="342693" y="163026"/>
                  </a:lnTo>
                  <a:lnTo>
                    <a:pt x="342899" y="171449"/>
                  </a:lnTo>
                  <a:lnTo>
                    <a:pt x="342693" y="179872"/>
                  </a:lnTo>
                  <a:lnTo>
                    <a:pt x="335518" y="221219"/>
                  </a:lnTo>
                  <a:lnTo>
                    <a:pt x="318512" y="259583"/>
                  </a:lnTo>
                  <a:lnTo>
                    <a:pt x="292682" y="292683"/>
                  </a:lnTo>
                  <a:lnTo>
                    <a:pt x="259583" y="318513"/>
                  </a:lnTo>
                  <a:lnTo>
                    <a:pt x="221219" y="335518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A8D0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38749" y="5962649"/>
              <a:ext cx="152399" cy="13334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610603" y="2404335"/>
            <a:ext cx="3166110" cy="8464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1" spc="-105" dirty="0">
                <a:solidFill>
                  <a:srgbClr val="93C4FD"/>
                </a:solidFill>
                <a:latin typeface="DejaVu Sans"/>
                <a:cs typeface="DejaVu Sans"/>
              </a:rPr>
              <a:t>Compliance</a:t>
            </a:r>
            <a:r>
              <a:rPr sz="1350" b="1" spc="-3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93C4FD"/>
                </a:solidFill>
                <a:latin typeface="DejaVu Sans"/>
                <a:cs typeface="DejaVu Sans"/>
              </a:rPr>
              <a:t>Preventivo</a:t>
            </a:r>
            <a:endParaRPr sz="135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110"/>
              </a:spcBef>
            </a:pP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Evite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autuações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adotando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mecanismos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que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garantam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</a:t>
            </a:r>
            <a:r>
              <a:rPr sz="1150" spc="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correta</a:t>
            </a:r>
            <a:r>
              <a:rPr sz="1150" spc="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aplicação</a:t>
            </a:r>
            <a:r>
              <a:rPr sz="1150" spc="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do</a:t>
            </a:r>
            <a:r>
              <a:rPr sz="1150" spc="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Split</a:t>
            </a:r>
            <a:r>
              <a:rPr sz="1150" spc="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Payment desde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o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início.</a:t>
            </a:r>
            <a:endParaRPr sz="1150">
              <a:latin typeface="DejaVu Sans"/>
              <a:cs typeface="DejaVu San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10603" y="3404460"/>
            <a:ext cx="3227070" cy="6559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1" spc="-100" dirty="0">
                <a:solidFill>
                  <a:srgbClr val="93C4FD"/>
                </a:solidFill>
                <a:latin typeface="DejaVu Sans"/>
                <a:cs typeface="DejaVu Sans"/>
              </a:rPr>
              <a:t>Controle</a:t>
            </a:r>
            <a:r>
              <a:rPr sz="135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10" dirty="0">
                <a:solidFill>
                  <a:srgbClr val="93C4FD"/>
                </a:solidFill>
                <a:latin typeface="DejaVu Sans"/>
                <a:cs typeface="DejaVu Sans"/>
              </a:rPr>
              <a:t>e</a:t>
            </a:r>
            <a:r>
              <a:rPr sz="1350" b="1" spc="-2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93C4FD"/>
                </a:solidFill>
                <a:latin typeface="DejaVu Sans"/>
                <a:cs typeface="DejaVu Sans"/>
              </a:rPr>
              <a:t>Auditoria</a:t>
            </a:r>
            <a:endParaRPr sz="135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110"/>
              </a:spcBef>
            </a:pP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Implemente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rotinas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veri</a:t>
            </a:r>
            <a:r>
              <a:rPr sz="1050" spc="-40" dirty="0">
                <a:solidFill>
                  <a:srgbClr val="D0D5DA"/>
                </a:solidFill>
                <a:latin typeface="Arial"/>
                <a:cs typeface="Arial"/>
              </a:rPr>
              <a:t>ﬁ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cação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da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adequada separação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valores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entre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empresa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tributos.</a:t>
            </a:r>
            <a:endParaRPr sz="1150">
              <a:latin typeface="DejaVu Sans"/>
              <a:cs typeface="DejaVu San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10603" y="4214085"/>
            <a:ext cx="3204210" cy="8464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1" spc="-35" dirty="0">
                <a:solidFill>
                  <a:srgbClr val="93C4FD"/>
                </a:solidFill>
                <a:latin typeface="DejaVu Sans"/>
                <a:cs typeface="DejaVu Sans"/>
              </a:rPr>
              <a:t>Documentação</a:t>
            </a:r>
            <a:endParaRPr sz="135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110"/>
              </a:spcBef>
            </a:pP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Mantenha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registros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todas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as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adequações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realizadas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para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atender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às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novas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exigências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do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Split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Payment.</a:t>
            </a:r>
            <a:endParaRPr sz="1150">
              <a:latin typeface="DejaVu Sans"/>
              <a:cs typeface="DejaVu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10603" y="5214210"/>
            <a:ext cx="3184525" cy="8464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50" b="1" spc="-110" dirty="0">
                <a:solidFill>
                  <a:srgbClr val="93C4FD"/>
                </a:solidFill>
                <a:latin typeface="DejaVu Sans"/>
                <a:cs typeface="DejaVu Sans"/>
              </a:rPr>
              <a:t>Monitoramento</a:t>
            </a:r>
            <a:r>
              <a:rPr sz="1350" b="1" spc="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350" b="1" spc="-10" dirty="0">
                <a:solidFill>
                  <a:srgbClr val="93C4FD"/>
                </a:solidFill>
                <a:latin typeface="DejaVu Sans"/>
                <a:cs typeface="DejaVu Sans"/>
              </a:rPr>
              <a:t>Contínuo</a:t>
            </a:r>
            <a:endParaRPr sz="1350">
              <a:latin typeface="DejaVu Sans"/>
              <a:cs typeface="DejaVu Sans"/>
            </a:endParaRPr>
          </a:p>
          <a:p>
            <a:pPr marL="12700" marR="5080">
              <a:lnSpc>
                <a:spcPct val="108700"/>
              </a:lnSpc>
              <a:spcBef>
                <a:spcPts val="110"/>
              </a:spcBef>
            </a:pP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Acompanhe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legislação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atualizações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sobre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o Split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Payment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para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evitar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riscos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não 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conformidade.</a:t>
            </a:r>
            <a:endParaRPr sz="1150">
              <a:latin typeface="DejaVu Sans"/>
              <a:cs typeface="DejaVu Sans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="" xmlns:a16="http://schemas.microsoft.com/office/drawing/2014/main" id="{EB35DD66-EBD3-2851-D378-C95B9EF031BA}"/>
              </a:ext>
            </a:extLst>
          </p:cNvPr>
          <p:cNvSpPr txBox="1"/>
          <p:nvPr/>
        </p:nvSpPr>
        <p:spPr>
          <a:xfrm>
            <a:off x="722349" y="6621324"/>
            <a:ext cx="83469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0" i="0" dirty="0">
                <a:solidFill>
                  <a:srgbClr val="FFFFFF"/>
                </a:solidFill>
                <a:effectLst/>
                <a:latin typeface="DejaVu Sans"/>
              </a:rPr>
              <a:t>Nossa equipe está preparada para ser seu parceiro estratégico, identificando oportunidades legítimas de economia fiscal e garantindo a segurança para sua empresa no novo cenário tributário com o Split </a:t>
            </a:r>
            <a:r>
              <a:rPr lang="pt-BR" sz="1100" b="0" i="0" dirty="0" err="1">
                <a:solidFill>
                  <a:srgbClr val="FFFFFF"/>
                </a:solidFill>
                <a:effectLst/>
                <a:latin typeface="DejaVu Sans"/>
              </a:rPr>
              <a:t>Payment</a:t>
            </a:r>
            <a:r>
              <a:rPr lang="pt-BR" sz="1100" b="0" i="0" dirty="0">
                <a:solidFill>
                  <a:srgbClr val="FFFFFF"/>
                </a:solidFill>
                <a:effectLst/>
                <a:latin typeface="DejaVu Sans"/>
              </a:rPr>
              <a:t>.</a:t>
            </a:r>
            <a:endParaRPr lang="pt-BR" sz="1100" dirty="0">
              <a:latin typeface="DejaVu Sans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="" xmlns:a16="http://schemas.microsoft.com/office/drawing/2014/main" id="{554C5A08-CB50-815A-F707-8AD6E1A9A33E}"/>
              </a:ext>
            </a:extLst>
          </p:cNvPr>
          <p:cNvSpPr txBox="1"/>
          <p:nvPr/>
        </p:nvSpPr>
        <p:spPr>
          <a:xfrm>
            <a:off x="454401" y="1218406"/>
            <a:ext cx="6586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1800" spc="-120" dirty="0">
                <a:solidFill>
                  <a:srgbClr val="A8D0FF"/>
                </a:solidFill>
                <a:latin typeface="DejaVu Sans"/>
                <a:cs typeface="DejaVu Sans"/>
              </a:rPr>
              <a:t>Segurança</a:t>
            </a:r>
            <a:r>
              <a:rPr lang="pt-BR" sz="1800" spc="-45" dirty="0">
                <a:solidFill>
                  <a:srgbClr val="A8D0FF"/>
                </a:solidFill>
                <a:latin typeface="DejaVu Sans"/>
                <a:cs typeface="DejaVu Sans"/>
              </a:rPr>
              <a:t> que você precisa nesse</a:t>
            </a:r>
            <a:r>
              <a:rPr lang="pt-BR" sz="1800" spc="-4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z="1800" spc="-130" dirty="0">
                <a:solidFill>
                  <a:srgbClr val="A8D0FF"/>
                </a:solidFill>
                <a:latin typeface="DejaVu Sans"/>
                <a:cs typeface="DejaVu Sans"/>
              </a:rPr>
              <a:t>novo</a:t>
            </a:r>
            <a:r>
              <a:rPr lang="pt-BR" sz="1800" spc="-4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z="1800" spc="-114" dirty="0">
                <a:solidFill>
                  <a:srgbClr val="A8D0FF"/>
                </a:solidFill>
                <a:latin typeface="DejaVu Sans"/>
                <a:cs typeface="DejaVu Sans"/>
              </a:rPr>
              <a:t>cenário</a:t>
            </a:r>
            <a:r>
              <a:rPr lang="pt-BR" sz="1800" spc="-4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z="1600" spc="-10" dirty="0" err="1">
                <a:solidFill>
                  <a:srgbClr val="A8D0FF"/>
                </a:solidFill>
                <a:latin typeface="Arial"/>
                <a:cs typeface="Arial"/>
              </a:rPr>
              <a:t>ﬁ</a:t>
            </a:r>
            <a:r>
              <a:rPr lang="pt-BR" sz="1800" spc="-10" dirty="0" err="1">
                <a:solidFill>
                  <a:srgbClr val="A8D0FF"/>
                </a:solidFill>
                <a:latin typeface="DejaVu Sans"/>
                <a:cs typeface="DejaVu Sans"/>
              </a:rPr>
              <a:t>scal</a:t>
            </a:r>
            <a:endParaRPr lang="pt-BR" sz="1800" dirty="0">
              <a:latin typeface="DejaVu Sans"/>
              <a:cs typeface="DejaVu Sans"/>
            </a:endParaRPr>
          </a:p>
        </p:txBody>
      </p:sp>
      <p:grpSp>
        <p:nvGrpSpPr>
          <p:cNvPr id="45" name="object 18">
            <a:extLst>
              <a:ext uri="{FF2B5EF4-FFF2-40B4-BE49-F238E27FC236}">
                <a16:creationId xmlns="" xmlns:a16="http://schemas.microsoft.com/office/drawing/2014/main" id="{F4BBE8BD-1FEE-C923-F5EC-04B7080598CE}"/>
              </a:ext>
            </a:extLst>
          </p:cNvPr>
          <p:cNvGrpSpPr/>
          <p:nvPr/>
        </p:nvGrpSpPr>
        <p:grpSpPr>
          <a:xfrm>
            <a:off x="670291" y="1978977"/>
            <a:ext cx="4191000" cy="4251462"/>
            <a:chOff x="4991099" y="2558912"/>
            <a:chExt cx="4191000" cy="4251462"/>
          </a:xfrm>
        </p:grpSpPr>
        <p:sp>
          <p:nvSpPr>
            <p:cNvPr id="46" name="object 19">
              <a:extLst>
                <a:ext uri="{FF2B5EF4-FFF2-40B4-BE49-F238E27FC236}">
                  <a16:creationId xmlns="" xmlns:a16="http://schemas.microsoft.com/office/drawing/2014/main" id="{DF67B998-C718-C6F8-C5DE-F458394ACC79}"/>
                </a:ext>
              </a:extLst>
            </p:cNvPr>
            <p:cNvSpPr/>
            <p:nvPr/>
          </p:nvSpPr>
          <p:spPr>
            <a:xfrm>
              <a:off x="4991099" y="2895599"/>
              <a:ext cx="4191000" cy="3914775"/>
            </a:xfrm>
            <a:custGeom>
              <a:avLst/>
              <a:gdLst/>
              <a:ahLst/>
              <a:cxnLst/>
              <a:rect l="l" t="t" r="r" b="b"/>
              <a:pathLst>
                <a:path w="4191000" h="3914775">
                  <a:moveTo>
                    <a:pt x="4114799" y="3914774"/>
                  </a:moveTo>
                  <a:lnTo>
                    <a:pt x="76199" y="3914774"/>
                  </a:lnTo>
                  <a:lnTo>
                    <a:pt x="68693" y="3914411"/>
                  </a:lnTo>
                  <a:lnTo>
                    <a:pt x="27881" y="3897506"/>
                  </a:lnTo>
                  <a:lnTo>
                    <a:pt x="3261" y="3860661"/>
                  </a:lnTo>
                  <a:lnTo>
                    <a:pt x="0" y="38385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114799" y="0"/>
                  </a:lnTo>
                  <a:lnTo>
                    <a:pt x="4157141" y="12829"/>
                  </a:lnTo>
                  <a:lnTo>
                    <a:pt x="4185198" y="47039"/>
                  </a:lnTo>
                  <a:lnTo>
                    <a:pt x="4190999" y="76199"/>
                  </a:lnTo>
                  <a:lnTo>
                    <a:pt x="4190999" y="3838574"/>
                  </a:lnTo>
                  <a:lnTo>
                    <a:pt x="4178168" y="3880916"/>
                  </a:lnTo>
                  <a:lnTo>
                    <a:pt x="4143959" y="3908973"/>
                  </a:lnTo>
                  <a:lnTo>
                    <a:pt x="4114799" y="3914774"/>
                  </a:lnTo>
                  <a:close/>
                </a:path>
              </a:pathLst>
            </a:custGeom>
            <a:solidFill>
              <a:srgbClr val="A8D0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0">
              <a:extLst>
                <a:ext uri="{FF2B5EF4-FFF2-40B4-BE49-F238E27FC236}">
                  <a16:creationId xmlns="" xmlns:a16="http://schemas.microsoft.com/office/drawing/2014/main" id="{E426719C-9633-B6C4-3374-453410D4A6EC}"/>
                </a:ext>
              </a:extLst>
            </p:cNvPr>
            <p:cNvSpPr/>
            <p:nvPr/>
          </p:nvSpPr>
          <p:spPr>
            <a:xfrm>
              <a:off x="4991099" y="2895599"/>
              <a:ext cx="4191000" cy="3914775"/>
            </a:xfrm>
            <a:custGeom>
              <a:avLst/>
              <a:gdLst/>
              <a:ahLst/>
              <a:cxnLst/>
              <a:rect l="l" t="t" r="r" b="b"/>
              <a:pathLst>
                <a:path w="4191000" h="3914775">
                  <a:moveTo>
                    <a:pt x="4114799" y="3914774"/>
                  </a:moveTo>
                  <a:lnTo>
                    <a:pt x="76199" y="3914774"/>
                  </a:lnTo>
                  <a:lnTo>
                    <a:pt x="68693" y="3914411"/>
                  </a:lnTo>
                  <a:lnTo>
                    <a:pt x="27881" y="3897507"/>
                  </a:lnTo>
                  <a:lnTo>
                    <a:pt x="3261" y="3860661"/>
                  </a:lnTo>
                  <a:lnTo>
                    <a:pt x="0" y="38385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114799" y="0"/>
                  </a:lnTo>
                  <a:lnTo>
                    <a:pt x="4151620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3842952"/>
                  </a:lnTo>
                  <a:lnTo>
                    <a:pt x="23193" y="3879256"/>
                  </a:lnTo>
                  <a:lnTo>
                    <a:pt x="54728" y="3901849"/>
                  </a:lnTo>
                  <a:lnTo>
                    <a:pt x="71821" y="3905248"/>
                  </a:lnTo>
                  <a:lnTo>
                    <a:pt x="4151619" y="3905248"/>
                  </a:lnTo>
                  <a:lnTo>
                    <a:pt x="4150755" y="3905765"/>
                  </a:lnTo>
                  <a:lnTo>
                    <a:pt x="4143959" y="3908973"/>
                  </a:lnTo>
                  <a:lnTo>
                    <a:pt x="4136886" y="3911511"/>
                  </a:lnTo>
                  <a:lnTo>
                    <a:pt x="4129668" y="3913323"/>
                  </a:lnTo>
                  <a:lnTo>
                    <a:pt x="4122306" y="3914411"/>
                  </a:lnTo>
                  <a:lnTo>
                    <a:pt x="4114799" y="3914774"/>
                  </a:lnTo>
                  <a:close/>
                </a:path>
                <a:path w="4191000" h="3914775">
                  <a:moveTo>
                    <a:pt x="4151619" y="3905248"/>
                  </a:moveTo>
                  <a:lnTo>
                    <a:pt x="4119176" y="3905248"/>
                  </a:lnTo>
                  <a:lnTo>
                    <a:pt x="4123512" y="3904821"/>
                  </a:lnTo>
                  <a:lnTo>
                    <a:pt x="4132100" y="3903113"/>
                  </a:lnTo>
                  <a:lnTo>
                    <a:pt x="4165041" y="3882624"/>
                  </a:lnTo>
                  <a:lnTo>
                    <a:pt x="4181047" y="3847287"/>
                  </a:lnTo>
                  <a:lnTo>
                    <a:pt x="4181474" y="3842952"/>
                  </a:lnTo>
                  <a:lnTo>
                    <a:pt x="4181474" y="71821"/>
                  </a:lnTo>
                  <a:lnTo>
                    <a:pt x="4181166" y="68693"/>
                  </a:lnTo>
                  <a:lnTo>
                    <a:pt x="4181047" y="67486"/>
                  </a:lnTo>
                  <a:lnTo>
                    <a:pt x="4165041" y="32148"/>
                  </a:lnTo>
                  <a:lnTo>
                    <a:pt x="4132100" y="11660"/>
                  </a:lnTo>
                  <a:lnTo>
                    <a:pt x="4119176" y="9524"/>
                  </a:lnTo>
                  <a:lnTo>
                    <a:pt x="4151620" y="9524"/>
                  </a:lnTo>
                  <a:lnTo>
                    <a:pt x="4181990" y="40242"/>
                  </a:lnTo>
                  <a:lnTo>
                    <a:pt x="4190999" y="3838574"/>
                  </a:lnTo>
                  <a:lnTo>
                    <a:pt x="4190637" y="3846081"/>
                  </a:lnTo>
                  <a:lnTo>
                    <a:pt x="4173732" y="3886891"/>
                  </a:lnTo>
                  <a:lnTo>
                    <a:pt x="4157268" y="3901849"/>
                  </a:lnTo>
                  <a:lnTo>
                    <a:pt x="4151619" y="3905248"/>
                  </a:lnTo>
                  <a:close/>
                </a:path>
              </a:pathLst>
            </a:custGeom>
            <a:solidFill>
              <a:srgbClr val="A8D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1">
              <a:extLst>
                <a:ext uri="{FF2B5EF4-FFF2-40B4-BE49-F238E27FC236}">
                  <a16:creationId xmlns="" xmlns:a16="http://schemas.microsoft.com/office/drawing/2014/main" id="{641CC8F5-02E1-B29F-45F6-4A3992E88C3C}"/>
                </a:ext>
              </a:extLst>
            </p:cNvPr>
            <p:cNvSpPr/>
            <p:nvPr/>
          </p:nvSpPr>
          <p:spPr>
            <a:xfrm>
              <a:off x="5143487" y="3943349"/>
              <a:ext cx="3886200" cy="1819275"/>
            </a:xfrm>
            <a:custGeom>
              <a:avLst/>
              <a:gdLst/>
              <a:ahLst/>
              <a:cxnLst/>
              <a:rect l="l" t="t" r="r" b="b"/>
              <a:pathLst>
                <a:path w="3886200" h="1819275">
                  <a:moveTo>
                    <a:pt x="3886200" y="1809750"/>
                  </a:moveTo>
                  <a:lnTo>
                    <a:pt x="0" y="1809750"/>
                  </a:lnTo>
                  <a:lnTo>
                    <a:pt x="0" y="1819275"/>
                  </a:lnTo>
                  <a:lnTo>
                    <a:pt x="3886200" y="1819275"/>
                  </a:lnTo>
                  <a:lnTo>
                    <a:pt x="3886200" y="1809750"/>
                  </a:lnTo>
                  <a:close/>
                </a:path>
                <a:path w="3886200" h="1819275">
                  <a:moveTo>
                    <a:pt x="3886200" y="809625"/>
                  </a:moveTo>
                  <a:lnTo>
                    <a:pt x="0" y="809625"/>
                  </a:lnTo>
                  <a:lnTo>
                    <a:pt x="0" y="819150"/>
                  </a:lnTo>
                  <a:lnTo>
                    <a:pt x="3886200" y="819150"/>
                  </a:lnTo>
                  <a:lnTo>
                    <a:pt x="3886200" y="809625"/>
                  </a:lnTo>
                  <a:close/>
                </a:path>
                <a:path w="3886200" h="1819275">
                  <a:moveTo>
                    <a:pt x="38862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886200" y="9525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A8D0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22">
              <a:extLst>
                <a:ext uri="{FF2B5EF4-FFF2-40B4-BE49-F238E27FC236}">
                  <a16:creationId xmlns="" xmlns:a16="http://schemas.microsoft.com/office/drawing/2014/main" id="{CE69C977-933F-3911-ECBD-8438C2D62D0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2086" y="2558912"/>
              <a:ext cx="196453" cy="2092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object 12"/>
          <p:cNvGrpSpPr/>
          <p:nvPr/>
        </p:nvGrpSpPr>
        <p:grpSpPr>
          <a:xfrm>
            <a:off x="571499" y="2058869"/>
            <a:ext cx="8610599" cy="4981575"/>
            <a:chOff x="571499" y="2333624"/>
            <a:chExt cx="8610599" cy="4981575"/>
          </a:xfrm>
        </p:grpSpPr>
        <p:sp>
          <p:nvSpPr>
            <p:cNvPr id="15" name="object 15"/>
            <p:cNvSpPr/>
            <p:nvPr/>
          </p:nvSpPr>
          <p:spPr>
            <a:xfrm>
              <a:off x="571499" y="3105149"/>
              <a:ext cx="1981200" cy="4210050"/>
            </a:xfrm>
            <a:custGeom>
              <a:avLst/>
              <a:gdLst/>
              <a:ahLst/>
              <a:cxnLst/>
              <a:rect l="l" t="t" r="r" b="b"/>
              <a:pathLst>
                <a:path w="1981200" h="4210050">
                  <a:moveTo>
                    <a:pt x="1981199" y="4210050"/>
                  </a:moveTo>
                  <a:lnTo>
                    <a:pt x="0" y="4210050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10003" y="0"/>
                  </a:lnTo>
                  <a:lnTo>
                    <a:pt x="1951494" y="15621"/>
                  </a:lnTo>
                  <a:lnTo>
                    <a:pt x="1977313" y="51661"/>
                  </a:lnTo>
                  <a:lnTo>
                    <a:pt x="1981199" y="71196"/>
                  </a:lnTo>
                  <a:lnTo>
                    <a:pt x="1981199" y="4210050"/>
                  </a:lnTo>
                  <a:close/>
                </a:path>
              </a:pathLst>
            </a:custGeom>
            <a:solidFill>
              <a:srgbClr val="A8D0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99" y="2333624"/>
              <a:ext cx="8610599" cy="380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" y="-325478"/>
            <a:ext cx="9753599" cy="731519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558799" y="179102"/>
            <a:ext cx="3513613" cy="24109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1450" b="1" spc="-95" dirty="0" smtClean="0">
                <a:solidFill>
                  <a:srgbClr val="DFF0FF"/>
                </a:solidFill>
                <a:latin typeface="DejaVu Sans"/>
                <a:cs typeface="DejaVu Sans"/>
              </a:rPr>
              <a:t>VSR – CONTABILIDADE </a:t>
            </a:r>
            <a:endParaRPr sz="1450" dirty="0">
              <a:latin typeface="DejaVu Sans"/>
              <a:cs typeface="DejaVu San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71499" y="577304"/>
            <a:ext cx="8049259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54" dirty="0"/>
              <a:t>CRONOGRAMA</a:t>
            </a:r>
            <a:r>
              <a:rPr spc="-90" dirty="0"/>
              <a:t> </a:t>
            </a:r>
            <a:r>
              <a:rPr spc="-245" dirty="0"/>
              <a:t>DE</a:t>
            </a:r>
            <a:r>
              <a:rPr spc="-95" dirty="0"/>
              <a:t> </a:t>
            </a:r>
            <a:r>
              <a:rPr spc="-265" dirty="0"/>
              <a:t>IMPLEMENTAÇÃO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8799" y="1234519"/>
            <a:ext cx="4940300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5" dirty="0">
                <a:solidFill>
                  <a:srgbClr val="A8D0FF"/>
                </a:solidFill>
                <a:latin typeface="DejaVu Sans"/>
                <a:cs typeface="DejaVu Sans"/>
              </a:rPr>
              <a:t>Preparando-se</a:t>
            </a:r>
            <a:r>
              <a:rPr spc="-3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0" dirty="0">
                <a:solidFill>
                  <a:srgbClr val="A8D0FF"/>
                </a:solidFill>
                <a:latin typeface="DejaVu Sans"/>
                <a:cs typeface="DejaVu Sans"/>
              </a:rPr>
              <a:t>para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30" dirty="0">
                <a:solidFill>
                  <a:srgbClr val="A8D0FF"/>
                </a:solidFill>
                <a:latin typeface="DejaVu Sans"/>
                <a:cs typeface="DejaVu Sans"/>
              </a:rPr>
              <a:t>cada</a:t>
            </a:r>
            <a:r>
              <a:rPr spc="-3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14" dirty="0">
                <a:solidFill>
                  <a:srgbClr val="A8D0FF"/>
                </a:solidFill>
                <a:latin typeface="DejaVu Sans"/>
                <a:cs typeface="DejaVu Sans"/>
              </a:rPr>
              <a:t>fase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125" dirty="0">
                <a:solidFill>
                  <a:srgbClr val="A8D0FF"/>
                </a:solidFill>
                <a:latin typeface="DejaVu Sans"/>
                <a:cs typeface="DejaVu Sans"/>
              </a:rPr>
              <a:t>da</a:t>
            </a:r>
            <a:r>
              <a:rPr spc="-3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pc="-95" dirty="0">
                <a:solidFill>
                  <a:srgbClr val="A8D0FF"/>
                </a:solidFill>
                <a:latin typeface="DejaVu Sans"/>
                <a:cs typeface="DejaVu Sans"/>
              </a:rPr>
              <a:t>transição</a:t>
            </a:r>
            <a:endParaRPr dirty="0">
              <a:latin typeface="DejaVu Sans"/>
              <a:cs typeface="DejaVu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8609" y="2127008"/>
            <a:ext cx="1245870" cy="5937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sz="1500" b="1" spc="-20" dirty="0">
                <a:solidFill>
                  <a:srgbClr val="A8D0FF"/>
                </a:solidFill>
                <a:latin typeface="DejaVu Sans"/>
                <a:cs typeface="DejaVu Sans"/>
              </a:rPr>
              <a:t>2024</a:t>
            </a:r>
            <a:endParaRPr sz="1500">
              <a:latin typeface="DejaVu Sans"/>
              <a:cs typeface="DejaVu Sans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1150" spc="-50" dirty="0">
                <a:solidFill>
                  <a:srgbClr val="DFF0FF"/>
                </a:solidFill>
                <a:latin typeface="DejaVu Sans"/>
                <a:cs typeface="DejaVu Sans"/>
              </a:rPr>
              <a:t>Início</a:t>
            </a:r>
            <a:r>
              <a:rPr sz="1150" spc="-1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FF0FF"/>
                </a:solidFill>
                <a:latin typeface="DejaVu Sans"/>
                <a:cs typeface="DejaVu Sans"/>
              </a:rPr>
              <a:t>da</a:t>
            </a:r>
            <a:r>
              <a:rPr sz="1150" spc="-1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150" spc="-40" dirty="0">
                <a:solidFill>
                  <a:srgbClr val="DFF0FF"/>
                </a:solidFill>
                <a:latin typeface="DejaVu Sans"/>
                <a:cs typeface="DejaVu Sans"/>
              </a:rPr>
              <a:t>transição</a:t>
            </a:r>
            <a:endParaRPr sz="1150">
              <a:latin typeface="DejaVu Sans"/>
              <a:cs typeface="DejaVu San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799" y="2982795"/>
            <a:ext cx="133349" cy="1523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32734" y="2941797"/>
            <a:ext cx="98171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130" dirty="0">
                <a:solidFill>
                  <a:srgbClr val="A8D0FF"/>
                </a:solidFill>
                <a:latin typeface="DejaVu Sans"/>
                <a:cs typeface="DejaVu Sans"/>
              </a:rPr>
              <a:t>Fase</a:t>
            </a:r>
            <a:r>
              <a:rPr sz="1350" b="1" spc="-2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z="1350" b="1" spc="-70" dirty="0">
                <a:solidFill>
                  <a:srgbClr val="A8D0FF"/>
                </a:solidFill>
                <a:latin typeface="DejaVu Sans"/>
                <a:cs typeface="DejaVu Sans"/>
              </a:rPr>
              <a:t>inicial</a:t>
            </a:r>
            <a:endParaRPr sz="1350" dirty="0">
              <a:latin typeface="DejaVu Sans"/>
              <a:cs typeface="DejaVu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7498" y="5013521"/>
            <a:ext cx="1746289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95" dirty="0">
                <a:solidFill>
                  <a:srgbClr val="93C4FD"/>
                </a:solidFill>
                <a:latin typeface="Verdana"/>
                <a:cs typeface="Verdana"/>
              </a:rPr>
              <a:t>Como</a:t>
            </a:r>
            <a:r>
              <a:rPr sz="1150" b="1" spc="-25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lang="pt-BR" sz="1150" b="1" spc="-60" dirty="0">
                <a:solidFill>
                  <a:srgbClr val="93C4FD"/>
                </a:solidFill>
                <a:latin typeface="Verdana"/>
                <a:cs typeface="Verdana"/>
              </a:rPr>
              <a:t>nos Preparamos</a:t>
            </a:r>
            <a:r>
              <a:rPr sz="1150" b="1" spc="-45" dirty="0">
                <a:solidFill>
                  <a:srgbClr val="93C4FD"/>
                </a:solidFill>
                <a:latin typeface="Verdana"/>
                <a:cs typeface="Verdana"/>
              </a:rPr>
              <a:t>:</a:t>
            </a:r>
            <a:endParaRPr sz="1150" dirty="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28749" y="1925519"/>
            <a:ext cx="3333750" cy="5114925"/>
            <a:chOff x="1428749" y="2200274"/>
            <a:chExt cx="3333750" cy="511492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5899" y="2257424"/>
              <a:ext cx="152400" cy="1523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28749" y="22002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6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6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A8D0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81299" y="3105149"/>
              <a:ext cx="1981200" cy="4210050"/>
            </a:xfrm>
            <a:custGeom>
              <a:avLst/>
              <a:gdLst/>
              <a:ahLst/>
              <a:cxnLst/>
              <a:rect l="l" t="t" r="r" b="b"/>
              <a:pathLst>
                <a:path w="1981200" h="4210050">
                  <a:moveTo>
                    <a:pt x="1981200" y="4210050"/>
                  </a:moveTo>
                  <a:lnTo>
                    <a:pt x="0" y="4210050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10003" y="0"/>
                  </a:lnTo>
                  <a:lnTo>
                    <a:pt x="1951494" y="15621"/>
                  </a:lnTo>
                  <a:lnTo>
                    <a:pt x="1977313" y="51661"/>
                  </a:lnTo>
                  <a:lnTo>
                    <a:pt x="1981200" y="4210050"/>
                  </a:lnTo>
                  <a:close/>
                </a:path>
              </a:pathLst>
            </a:custGeom>
            <a:solidFill>
              <a:srgbClr val="A8D0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90103" y="3309239"/>
            <a:ext cx="1435596" cy="59631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150" b="1" spc="-90" dirty="0">
                <a:solidFill>
                  <a:srgbClr val="93C4FD"/>
                </a:solidFill>
                <a:latin typeface="Verdana"/>
                <a:cs typeface="Verdana"/>
              </a:rPr>
              <a:t>O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70" dirty="0">
                <a:solidFill>
                  <a:srgbClr val="93C4FD"/>
                </a:solidFill>
                <a:latin typeface="Verdana"/>
                <a:cs typeface="Verdana"/>
              </a:rPr>
              <a:t>que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lang="pt-BR" sz="1150" b="1" spc="-50" dirty="0">
                <a:solidFill>
                  <a:srgbClr val="93C4FD"/>
                </a:solidFill>
                <a:latin typeface="Verdana"/>
                <a:cs typeface="Verdana"/>
              </a:rPr>
              <a:t>já aconteceu</a:t>
            </a:r>
            <a:r>
              <a:rPr sz="1150" b="1" spc="-50" dirty="0">
                <a:solidFill>
                  <a:srgbClr val="93C4FD"/>
                </a:solidFill>
                <a:latin typeface="Verdana"/>
                <a:cs typeface="Verdana"/>
              </a:rPr>
              <a:t>:</a:t>
            </a:r>
            <a:endParaRPr sz="1150" dirty="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  <a:spcBef>
                <a:spcPts val="245"/>
              </a:spcBef>
            </a:pPr>
            <a:endParaRPr sz="1100" dirty="0">
              <a:latin typeface="DejaVu Sans"/>
              <a:cs typeface="DejaVu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8343" y="3770719"/>
            <a:ext cx="1754584" cy="544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 algn="l">
              <a:lnSpc>
                <a:spcPct val="10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pt-BR" sz="1100" spc="-10" dirty="0">
                <a:solidFill>
                  <a:srgbClr val="FFFFFF"/>
                </a:solidFill>
                <a:latin typeface="DejaVu Sans"/>
                <a:cs typeface="DejaVu Sans"/>
              </a:rPr>
              <a:t>Constituição já foi alterado com a EC 132/2023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0724" y="3480482"/>
            <a:ext cx="9906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195" dirty="0">
                <a:solidFill>
                  <a:srgbClr val="A8D0FF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8343" y="4450150"/>
            <a:ext cx="1651000" cy="364842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04"/>
              </a:spcBef>
              <a:buClr>
                <a:srgbClr val="A8D0FF"/>
              </a:buClr>
              <a:buSzPct val="81818"/>
              <a:buFont typeface="Arial" panose="020B0604020202020204" pitchFamily="34" charset="0"/>
              <a:buChar char="•"/>
              <a:tabLst>
                <a:tab pos="233679" algn="l"/>
              </a:tabLst>
            </a:pP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950" spc="-6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nição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75" dirty="0" err="1">
                <a:solidFill>
                  <a:srgbClr val="FFFFFF"/>
                </a:solidFill>
                <a:latin typeface="DejaVu Sans"/>
                <a:cs typeface="DejaVu Sans"/>
              </a:rPr>
              <a:t>regras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lang="pt-BR" sz="1100" dirty="0">
                <a:latin typeface="DejaVu Sans"/>
                <a:cs typeface="DejaVu Sans"/>
              </a:rPr>
              <a:t> </a:t>
            </a:r>
            <a:r>
              <a:rPr sz="1100" spc="-10" dirty="0" err="1">
                <a:solidFill>
                  <a:srgbClr val="FFFFFF"/>
                </a:solidFill>
                <a:latin typeface="DejaVu Sans"/>
                <a:cs typeface="DejaVu Sans"/>
              </a:rPr>
              <a:t>transição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0724" y="5221723"/>
            <a:ext cx="170497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95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177800" algn="l"/>
              </a:tabLst>
            </a:pPr>
            <a:r>
              <a:rPr lang="pt-BR" sz="1100" spc="-75" dirty="0">
                <a:solidFill>
                  <a:srgbClr val="FFFFFF"/>
                </a:solidFill>
                <a:latin typeface="DejaVu Sans"/>
                <a:cs typeface="DejaVu Sans"/>
              </a:rPr>
              <a:t>Acompanhamos todas as discussões preliminares da Reforma Tributária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6183" y="5948978"/>
            <a:ext cx="1453138" cy="1868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 marR="5080" indent="-76200">
              <a:lnSpc>
                <a:spcPct val="113599"/>
              </a:lnSpc>
              <a:spcBef>
                <a:spcPts val="100"/>
              </a:spcBef>
            </a:pPr>
            <a:r>
              <a:rPr lang="pt-BR" sz="1100" spc="-80" dirty="0">
                <a:solidFill>
                  <a:srgbClr val="FFFFFF"/>
                </a:solidFill>
                <a:latin typeface="DejaVu Sans"/>
                <a:cs typeface="DejaVu Sans"/>
              </a:rPr>
              <a:t>Treinamento Contínuo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0724" y="5947457"/>
            <a:ext cx="9906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195" dirty="0">
                <a:solidFill>
                  <a:srgbClr val="A8D0FF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81883" y="2127008"/>
            <a:ext cx="1379855" cy="5937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sz="1500" b="1" spc="-20" dirty="0">
                <a:solidFill>
                  <a:srgbClr val="A8D0FF"/>
                </a:solidFill>
                <a:latin typeface="DejaVu Sans"/>
                <a:cs typeface="DejaVu Sans"/>
              </a:rPr>
              <a:t>2025</a:t>
            </a:r>
            <a:endParaRPr sz="1500" dirty="0">
              <a:latin typeface="DejaVu Sans"/>
              <a:cs typeface="DejaVu Sans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1150" spc="-100" dirty="0">
                <a:solidFill>
                  <a:srgbClr val="DFF0FF"/>
                </a:solidFill>
                <a:latin typeface="DejaVu Sans"/>
                <a:cs typeface="DejaVu Sans"/>
              </a:rPr>
              <a:t>Testes</a:t>
            </a:r>
            <a:r>
              <a:rPr sz="1150" spc="-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FF0FF"/>
                </a:solidFill>
                <a:latin typeface="DejaVu Sans"/>
                <a:cs typeface="DejaVu Sans"/>
              </a:rPr>
              <a:t>e</a:t>
            </a:r>
            <a:r>
              <a:rPr sz="1150" spc="-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150" spc="-45" dirty="0">
                <a:solidFill>
                  <a:srgbClr val="DFF0FF"/>
                </a:solidFill>
                <a:latin typeface="DejaVu Sans"/>
                <a:cs typeface="DejaVu Sans"/>
              </a:rPr>
              <a:t>adaptações</a:t>
            </a:r>
            <a:endParaRPr sz="1150" dirty="0">
              <a:latin typeface="DejaVu Sans"/>
              <a:cs typeface="DejaVu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904629" y="1925519"/>
            <a:ext cx="4067669" cy="5114925"/>
            <a:chOff x="2904629" y="2200274"/>
            <a:chExt cx="4067669" cy="5114925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04629" y="3267200"/>
              <a:ext cx="154037" cy="1540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5699" y="2257424"/>
              <a:ext cx="152399" cy="1523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638549" y="22002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3" y="244226"/>
                  </a:lnTo>
                  <a:lnTo>
                    <a:pt x="30267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0" y="160"/>
                  </a:lnTo>
                  <a:lnTo>
                    <a:pt x="178266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6" y="258907"/>
                  </a:lnTo>
                  <a:lnTo>
                    <a:pt x="139900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A8D0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91098" y="3105149"/>
              <a:ext cx="1981200" cy="4210050"/>
            </a:xfrm>
            <a:custGeom>
              <a:avLst/>
              <a:gdLst/>
              <a:ahLst/>
              <a:cxnLst/>
              <a:rect l="l" t="t" r="r" b="b"/>
              <a:pathLst>
                <a:path w="1981200" h="4210050">
                  <a:moveTo>
                    <a:pt x="1981200" y="4210050"/>
                  </a:moveTo>
                  <a:lnTo>
                    <a:pt x="0" y="4210050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10002" y="0"/>
                  </a:lnTo>
                  <a:lnTo>
                    <a:pt x="1951494" y="15621"/>
                  </a:lnTo>
                  <a:lnTo>
                    <a:pt x="1977313" y="51661"/>
                  </a:lnTo>
                  <a:lnTo>
                    <a:pt x="1981200" y="71196"/>
                  </a:lnTo>
                  <a:lnTo>
                    <a:pt x="1981200" y="4210050"/>
                  </a:lnTo>
                  <a:close/>
                </a:path>
              </a:pathLst>
            </a:custGeom>
            <a:solidFill>
              <a:srgbClr val="A8D0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172966" y="2899571"/>
            <a:ext cx="13500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270" marR="5080" indent="-370205">
              <a:lnSpc>
                <a:spcPct val="111100"/>
              </a:lnSpc>
              <a:spcBef>
                <a:spcPts val="100"/>
              </a:spcBef>
            </a:pPr>
            <a:r>
              <a:rPr sz="1350" b="1" spc="-110" dirty="0">
                <a:solidFill>
                  <a:srgbClr val="A8D0FF"/>
                </a:solidFill>
                <a:latin typeface="DejaVu Sans"/>
                <a:cs typeface="DejaVu Sans"/>
              </a:rPr>
              <a:t>Implementação </a:t>
            </a:r>
            <a:r>
              <a:rPr sz="1350" b="1" spc="-10" dirty="0">
                <a:solidFill>
                  <a:srgbClr val="A8D0FF"/>
                </a:solidFill>
                <a:latin typeface="DejaVu Sans"/>
                <a:cs typeface="DejaVu Sans"/>
              </a:rPr>
              <a:t>parcial</a:t>
            </a:r>
            <a:endParaRPr sz="1350">
              <a:latin typeface="DejaVu Sans"/>
              <a:cs typeface="DejaVu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15223" y="3428707"/>
            <a:ext cx="1636395" cy="401392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70"/>
              </a:spcBef>
            </a:pPr>
            <a:r>
              <a:rPr sz="1150" b="1" spc="-90" dirty="0">
                <a:solidFill>
                  <a:srgbClr val="93C4FD"/>
                </a:solidFill>
                <a:latin typeface="Verdana"/>
                <a:cs typeface="Verdana"/>
              </a:rPr>
              <a:t>O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70" dirty="0">
                <a:solidFill>
                  <a:srgbClr val="93C4FD"/>
                </a:solidFill>
                <a:latin typeface="Verdana"/>
                <a:cs typeface="Verdana"/>
              </a:rPr>
              <a:t>que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lang="pt-BR" sz="1150" b="1" spc="-10" dirty="0">
                <a:solidFill>
                  <a:srgbClr val="93C4FD"/>
                </a:solidFill>
                <a:latin typeface="Verdana"/>
                <a:cs typeface="Verdana"/>
              </a:rPr>
              <a:t>está acontecendo</a:t>
            </a:r>
            <a:r>
              <a:rPr sz="1150" b="1" spc="-10" dirty="0">
                <a:solidFill>
                  <a:srgbClr val="93C4FD"/>
                </a:solidFill>
                <a:latin typeface="Verdana"/>
                <a:cs typeface="Verdana"/>
              </a:rPr>
              <a:t>:</a:t>
            </a:r>
            <a:endParaRPr sz="1150" dirty="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63583" y="3917101"/>
            <a:ext cx="170307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95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180340" algn="l"/>
              </a:tabLst>
            </a:pPr>
            <a:r>
              <a:rPr lang="pt-BR" sz="1100" spc="-80" dirty="0">
                <a:solidFill>
                  <a:srgbClr val="FFFFFF"/>
                </a:solidFill>
                <a:latin typeface="DejaVu Sans"/>
                <a:cs typeface="DejaVu Sans"/>
              </a:rPr>
              <a:t>Aprovação da Lei Base da Reforma Tributária (LC 214/2025)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30822" y="4560023"/>
            <a:ext cx="1542415" cy="4064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42265" indent="-329565">
              <a:lnSpc>
                <a:spcPct val="100000"/>
              </a:lnSpc>
              <a:spcBef>
                <a:spcPts val="280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342265" algn="l"/>
              </a:tabLst>
            </a:pPr>
            <a:r>
              <a:rPr sz="1100" spc="-70" dirty="0">
                <a:solidFill>
                  <a:srgbClr val="FFFFFF"/>
                </a:solidFill>
                <a:latin typeface="DejaVu Sans"/>
                <a:cs typeface="DejaVu Sans"/>
              </a:rPr>
              <a:t>Ajuste</a:t>
            </a:r>
            <a:r>
              <a:rPr sz="110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alíquotas</a:t>
            </a:r>
            <a:endParaRPr sz="1100">
              <a:latin typeface="DejaVu Sans"/>
              <a:cs typeface="DejaVu Sans"/>
            </a:endParaRPr>
          </a:p>
          <a:p>
            <a:pPr marL="723265">
              <a:lnSpc>
                <a:spcPct val="100000"/>
              </a:lnSpc>
              <a:spcBef>
                <a:spcPts val="180"/>
              </a:spcBef>
            </a:pP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iniciais</a:t>
            </a:r>
            <a:endParaRPr sz="1100">
              <a:latin typeface="DejaVu Sans"/>
              <a:cs typeface="DejaVu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46339" y="5028751"/>
            <a:ext cx="1574165" cy="547586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370"/>
              </a:spcBef>
            </a:pPr>
            <a:r>
              <a:rPr sz="1150" b="1" spc="-95" dirty="0">
                <a:solidFill>
                  <a:srgbClr val="93C4FD"/>
                </a:solidFill>
                <a:latin typeface="Verdana"/>
                <a:cs typeface="Verdana"/>
              </a:rPr>
              <a:t>Como</a:t>
            </a:r>
            <a:r>
              <a:rPr sz="1150" b="1" spc="-25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60" dirty="0">
                <a:solidFill>
                  <a:srgbClr val="93C4FD"/>
                </a:solidFill>
                <a:latin typeface="Verdana"/>
                <a:cs typeface="Verdana"/>
              </a:rPr>
              <a:t>se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25" dirty="0" err="1">
                <a:solidFill>
                  <a:srgbClr val="93C4FD"/>
                </a:solidFill>
                <a:latin typeface="Verdana"/>
                <a:cs typeface="Verdana"/>
              </a:rPr>
              <a:t>preparar</a:t>
            </a:r>
            <a:r>
              <a:rPr sz="1150" b="1" spc="-25" dirty="0">
                <a:solidFill>
                  <a:srgbClr val="93C4FD"/>
                </a:solidFill>
                <a:latin typeface="Verdana"/>
                <a:cs typeface="Verdana"/>
              </a:rPr>
              <a:t>:</a:t>
            </a:r>
            <a:endParaRPr lang="pt-BR" sz="1150" b="1" spc="-25" dirty="0">
              <a:solidFill>
                <a:srgbClr val="93C4FD"/>
              </a:solidFill>
              <a:latin typeface="Verdana"/>
              <a:cs typeface="Verdana"/>
            </a:endParaRPr>
          </a:p>
          <a:p>
            <a:pPr marL="143510">
              <a:lnSpc>
                <a:spcPct val="100000"/>
              </a:lnSpc>
              <a:spcBef>
                <a:spcPts val="370"/>
              </a:spcBef>
            </a:pPr>
            <a:r>
              <a:rPr lang="pt-BR" sz="500" dirty="0">
                <a:latin typeface="Verdana"/>
                <a:cs typeface="Verdana"/>
              </a:rPr>
              <a:t>3</a:t>
            </a:r>
            <a:endParaRPr sz="500" dirty="0">
              <a:latin typeface="Verdana"/>
              <a:cs typeface="Verdana"/>
            </a:endParaRPr>
          </a:p>
          <a:p>
            <a:pPr marL="311150" indent="-298450">
              <a:lnSpc>
                <a:spcPct val="100000"/>
              </a:lnSpc>
              <a:spcBef>
                <a:spcPts val="245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311150" algn="l"/>
              </a:tabLst>
            </a:pPr>
            <a:r>
              <a:rPr sz="1100" spc="-75" dirty="0">
                <a:solidFill>
                  <a:srgbClr val="FFFFFF"/>
                </a:solidFill>
                <a:latin typeface="DejaVu Sans"/>
                <a:cs typeface="DejaVu Sans"/>
              </a:rPr>
              <a:t>Atualização</a:t>
            </a:r>
            <a:r>
              <a:rPr sz="11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ERPs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37778" y="5675525"/>
            <a:ext cx="169418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95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188595" algn="l"/>
              </a:tabLst>
            </a:pPr>
            <a:r>
              <a:rPr lang="pt-BR" sz="1100" spc="-95" dirty="0">
                <a:solidFill>
                  <a:srgbClr val="FFFFFF"/>
                </a:solidFill>
                <a:latin typeface="DejaVu Sans"/>
                <a:cs typeface="DejaVu Sans"/>
              </a:rPr>
              <a:t>Planejamento Tributário para analisar os Impactos na sua Empresa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41547" y="6391300"/>
            <a:ext cx="1660525" cy="4064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24154" indent="-211454">
              <a:lnSpc>
                <a:spcPct val="100000"/>
              </a:lnSpc>
              <a:spcBef>
                <a:spcPts val="280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224154" algn="l"/>
              </a:tabLst>
            </a:pPr>
            <a:r>
              <a:rPr sz="1100" spc="-90" dirty="0">
                <a:solidFill>
                  <a:srgbClr val="FFFFFF"/>
                </a:solidFill>
                <a:latin typeface="DejaVu Sans"/>
                <a:cs typeface="DejaVu Sans"/>
              </a:rPr>
              <a:t>Revisão</a:t>
            </a:r>
            <a:r>
              <a:rPr sz="11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políticas</a:t>
            </a:r>
            <a:r>
              <a:rPr sz="11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endParaRPr sz="1100" dirty="0">
              <a:latin typeface="DejaVu Sans"/>
              <a:cs typeface="DejaVu Sans"/>
            </a:endParaRPr>
          </a:p>
          <a:p>
            <a:pPr marL="730250">
              <a:lnSpc>
                <a:spcPct val="100000"/>
              </a:lnSpc>
              <a:spcBef>
                <a:spcPts val="180"/>
              </a:spcBef>
            </a:pP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preços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09232" y="2127008"/>
            <a:ext cx="1545590" cy="5937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sz="1500" b="1" spc="-20" dirty="0">
                <a:solidFill>
                  <a:srgbClr val="A8D0FF"/>
                </a:solidFill>
                <a:latin typeface="DejaVu Sans"/>
                <a:cs typeface="DejaVu Sans"/>
              </a:rPr>
              <a:t>2026</a:t>
            </a:r>
            <a:r>
              <a:rPr lang="pt-BR" sz="1500" b="1" spc="-20" dirty="0">
                <a:solidFill>
                  <a:srgbClr val="A8D0FF"/>
                </a:solidFill>
                <a:latin typeface="DejaVu Sans"/>
                <a:cs typeface="DejaVu Sans"/>
              </a:rPr>
              <a:t> - 2027</a:t>
            </a:r>
            <a:endParaRPr sz="1500" dirty="0">
              <a:latin typeface="DejaVu Sans"/>
              <a:cs typeface="DejaVu Sans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1150" spc="-70" dirty="0">
                <a:solidFill>
                  <a:srgbClr val="DFF0FF"/>
                </a:solidFill>
                <a:latin typeface="DejaVu Sans"/>
                <a:cs typeface="DejaVu Sans"/>
              </a:rPr>
              <a:t>Sistemas</a:t>
            </a:r>
            <a:r>
              <a:rPr sz="1150" spc="10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150" spc="-95" dirty="0">
                <a:solidFill>
                  <a:srgbClr val="DFF0FF"/>
                </a:solidFill>
                <a:latin typeface="DejaVu Sans"/>
                <a:cs typeface="DejaVu Sans"/>
              </a:rPr>
              <a:t>em</a:t>
            </a:r>
            <a:r>
              <a:rPr sz="1150" spc="1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150" spc="-30" dirty="0">
                <a:solidFill>
                  <a:srgbClr val="DFF0FF"/>
                </a:solidFill>
                <a:latin typeface="DejaVu Sans"/>
                <a:cs typeface="DejaVu Sans"/>
              </a:rPr>
              <a:t>transição</a:t>
            </a:r>
            <a:endParaRPr sz="1150" dirty="0">
              <a:latin typeface="DejaVu Sans"/>
              <a:cs typeface="DejaVu Sans"/>
            </a:endParaRPr>
          </a:p>
        </p:txBody>
      </p:sp>
      <p:pic>
        <p:nvPicPr>
          <p:cNvPr id="48" name="object 4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10162" y="2992308"/>
            <a:ext cx="142874" cy="133372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5370192" y="2949881"/>
            <a:ext cx="118237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100" dirty="0">
                <a:solidFill>
                  <a:srgbClr val="A8D0FF"/>
                </a:solidFill>
                <a:latin typeface="DejaVu Sans"/>
                <a:cs typeface="DejaVu Sans"/>
              </a:rPr>
              <a:t>Ajustes</a:t>
            </a:r>
            <a:r>
              <a:rPr sz="1350" b="1" spc="10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z="1200" b="1" spc="-35" dirty="0">
                <a:solidFill>
                  <a:srgbClr val="A8D0FF"/>
                </a:solidFill>
                <a:latin typeface="Arial"/>
                <a:cs typeface="Arial"/>
              </a:rPr>
              <a:t>ﬁ</a:t>
            </a:r>
            <a:r>
              <a:rPr sz="1350" b="1" spc="-35" dirty="0">
                <a:solidFill>
                  <a:srgbClr val="A8D0FF"/>
                </a:solidFill>
                <a:latin typeface="DejaVu Sans"/>
                <a:cs typeface="DejaVu Sans"/>
              </a:rPr>
              <a:t>nais</a:t>
            </a:r>
            <a:endParaRPr sz="1350" dirty="0">
              <a:latin typeface="DejaVu Sans"/>
              <a:cs typeface="DejaVu San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400756" y="1904206"/>
            <a:ext cx="3781342" cy="5136237"/>
            <a:chOff x="5848349" y="2200274"/>
            <a:chExt cx="3781342" cy="5136237"/>
          </a:xfrm>
        </p:grpSpPr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5499" y="2257424"/>
              <a:ext cx="152399" cy="15239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848349" y="22002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0" y="160"/>
                  </a:lnTo>
                  <a:lnTo>
                    <a:pt x="178266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7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7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6" y="258907"/>
                  </a:lnTo>
                  <a:lnTo>
                    <a:pt x="139900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A8D0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648491" y="3126461"/>
              <a:ext cx="1981200" cy="4210050"/>
            </a:xfrm>
            <a:custGeom>
              <a:avLst/>
              <a:gdLst/>
              <a:ahLst/>
              <a:cxnLst/>
              <a:rect l="l" t="t" r="r" b="b"/>
              <a:pathLst>
                <a:path w="1981200" h="4210050">
                  <a:moveTo>
                    <a:pt x="1981200" y="4210050"/>
                  </a:moveTo>
                  <a:lnTo>
                    <a:pt x="0" y="4210050"/>
                  </a:lnTo>
                  <a:lnTo>
                    <a:pt x="0" y="71196"/>
                  </a:lnTo>
                  <a:lnTo>
                    <a:pt x="15622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910003" y="0"/>
                  </a:lnTo>
                  <a:lnTo>
                    <a:pt x="1951493" y="15621"/>
                  </a:lnTo>
                  <a:lnTo>
                    <a:pt x="1977313" y="51661"/>
                  </a:lnTo>
                  <a:lnTo>
                    <a:pt x="1981200" y="71196"/>
                  </a:lnTo>
                  <a:lnTo>
                    <a:pt x="1981200" y="4210050"/>
                  </a:lnTo>
                  <a:close/>
                </a:path>
              </a:pathLst>
            </a:custGeom>
            <a:solidFill>
              <a:srgbClr val="A8D0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146971" y="3382171"/>
            <a:ext cx="1600835" cy="2244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370"/>
              </a:spcBef>
            </a:pPr>
            <a:r>
              <a:rPr sz="1150" b="1" spc="-90" dirty="0">
                <a:solidFill>
                  <a:srgbClr val="93C4FD"/>
                </a:solidFill>
                <a:latin typeface="Verdana"/>
                <a:cs typeface="Verdana"/>
              </a:rPr>
              <a:t>O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70" dirty="0">
                <a:solidFill>
                  <a:srgbClr val="93C4FD"/>
                </a:solidFill>
                <a:latin typeface="Verdana"/>
                <a:cs typeface="Verdana"/>
              </a:rPr>
              <a:t>que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10" dirty="0" err="1">
                <a:solidFill>
                  <a:srgbClr val="93C4FD"/>
                </a:solidFill>
                <a:latin typeface="Verdana"/>
                <a:cs typeface="Verdana"/>
              </a:rPr>
              <a:t>esperar</a:t>
            </a:r>
            <a:r>
              <a:rPr sz="1150" b="1" spc="-10" dirty="0">
                <a:solidFill>
                  <a:srgbClr val="93C4FD"/>
                </a:solidFill>
                <a:latin typeface="Verdana"/>
                <a:cs typeface="Verdana"/>
              </a:rPr>
              <a:t>:</a:t>
            </a:r>
            <a:endParaRPr sz="1150" dirty="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102186" y="3669721"/>
            <a:ext cx="1602105" cy="11971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indent="-270510">
              <a:lnSpc>
                <a:spcPct val="100000"/>
              </a:lnSpc>
              <a:spcBef>
                <a:spcPts val="95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283210" algn="l"/>
              </a:tabLst>
            </a:pPr>
            <a:r>
              <a:rPr lang="pt-BR" sz="1100" spc="-75" dirty="0">
                <a:solidFill>
                  <a:srgbClr val="FFFFFF"/>
                </a:solidFill>
                <a:latin typeface="DejaVu Sans"/>
                <a:cs typeface="DejaVu Sans"/>
              </a:rPr>
              <a:t>Início da Convivência das duas Formas de Tributação simultaneamente e Implantação total da CBS no lugar do PIS e COFINS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64432" y="4994102"/>
            <a:ext cx="1710689" cy="647613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370"/>
              </a:spcBef>
            </a:pPr>
            <a:r>
              <a:rPr sz="1150" b="1" spc="-95" dirty="0">
                <a:solidFill>
                  <a:srgbClr val="93C4FD"/>
                </a:solidFill>
                <a:latin typeface="Verdana"/>
                <a:cs typeface="Verdana"/>
              </a:rPr>
              <a:t>Como</a:t>
            </a:r>
            <a:r>
              <a:rPr sz="1150" b="1" spc="-25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60" dirty="0">
                <a:solidFill>
                  <a:srgbClr val="93C4FD"/>
                </a:solidFill>
                <a:latin typeface="Verdana"/>
                <a:cs typeface="Verdana"/>
              </a:rPr>
              <a:t>se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10" dirty="0" err="1">
                <a:solidFill>
                  <a:srgbClr val="93C4FD"/>
                </a:solidFill>
                <a:latin typeface="Verdana"/>
                <a:cs typeface="Verdana"/>
              </a:rPr>
              <a:t>preparar</a:t>
            </a:r>
            <a:r>
              <a:rPr sz="1150" b="1" spc="-10" dirty="0">
                <a:solidFill>
                  <a:srgbClr val="93C4FD"/>
                </a:solidFill>
                <a:latin typeface="Verdana"/>
                <a:cs typeface="Verdana"/>
              </a:rPr>
              <a:t>:</a:t>
            </a:r>
            <a:endParaRPr lang="pt-BR" sz="1150" b="1" spc="-10" dirty="0">
              <a:solidFill>
                <a:srgbClr val="93C4FD"/>
              </a:solidFill>
              <a:latin typeface="Verdana"/>
              <a:cs typeface="Verdana"/>
            </a:endParaRPr>
          </a:p>
          <a:p>
            <a:pPr marL="143510">
              <a:lnSpc>
                <a:spcPct val="100000"/>
              </a:lnSpc>
              <a:spcBef>
                <a:spcPts val="370"/>
              </a:spcBef>
            </a:pPr>
            <a:endParaRPr sz="1150" dirty="0">
              <a:latin typeface="Verdana"/>
              <a:cs typeface="Verdana"/>
            </a:endParaRPr>
          </a:p>
          <a:p>
            <a:pPr marL="172085" indent="-159385">
              <a:lnSpc>
                <a:spcPct val="100000"/>
              </a:lnSpc>
              <a:spcBef>
                <a:spcPts val="245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172085" algn="l"/>
              </a:tabLst>
            </a:pPr>
            <a:r>
              <a:rPr sz="1100" spc="-80" dirty="0">
                <a:solidFill>
                  <a:srgbClr val="FFFFFF"/>
                </a:solidFill>
                <a:latin typeface="DejaVu Sans"/>
                <a:cs typeface="DejaVu Sans"/>
              </a:rPr>
              <a:t>Monitoramento</a:t>
            </a:r>
            <a:r>
              <a:rPr sz="11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contínuo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253036" y="5733427"/>
            <a:ext cx="1611629" cy="362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3515">
              <a:lnSpc>
                <a:spcPct val="108000"/>
              </a:lnSpc>
              <a:spcBef>
                <a:spcPts val="100"/>
              </a:spcBef>
            </a:pPr>
            <a:r>
              <a:rPr lang="pt-BR" sz="1100" spc="-70" dirty="0">
                <a:solidFill>
                  <a:srgbClr val="FFFFFF"/>
                </a:solidFill>
                <a:latin typeface="DejaVu Sans"/>
                <a:cs typeface="DejaVu Sans"/>
              </a:rPr>
              <a:t>Analise na Política de Preços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064432" y="5739519"/>
            <a:ext cx="9906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195" dirty="0">
                <a:solidFill>
                  <a:srgbClr val="A8D0FF"/>
                </a:solidFill>
                <a:latin typeface="Arial"/>
                <a:cs typeface="Arial"/>
              </a:rPr>
              <a:t>•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061871" y="6206355"/>
            <a:ext cx="1771034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204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285115" algn="l"/>
              </a:tabLst>
            </a:pPr>
            <a:r>
              <a:rPr sz="1100" spc="-85" dirty="0">
                <a:solidFill>
                  <a:srgbClr val="FFFFFF"/>
                </a:solidFill>
                <a:latin typeface="DejaVu Sans"/>
                <a:cs typeface="DejaVu Sans"/>
              </a:rPr>
              <a:t>Adaptação</a:t>
            </a:r>
            <a:r>
              <a:rPr sz="1100" spc="-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DejaVu Sans"/>
                <a:cs typeface="DejaVu Sans"/>
              </a:rPr>
              <a:t>comercial</a:t>
            </a:r>
            <a:endParaRPr sz="1100" dirty="0">
              <a:latin typeface="DejaVu Sans"/>
              <a:cs typeface="DejaVu Sans"/>
            </a:endParaRPr>
          </a:p>
          <a:p>
            <a:pPr marL="64643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completa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314440" y="2154985"/>
            <a:ext cx="1771514" cy="588623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sz="1500" b="1" spc="-20" dirty="0">
                <a:solidFill>
                  <a:srgbClr val="A8D0FF"/>
                </a:solidFill>
                <a:latin typeface="DejaVu Sans"/>
                <a:cs typeface="DejaVu Sans"/>
              </a:rPr>
              <a:t>202</a:t>
            </a:r>
            <a:r>
              <a:rPr lang="pt-BR" sz="1500" b="1" spc="-20" dirty="0">
                <a:solidFill>
                  <a:srgbClr val="A8D0FF"/>
                </a:solidFill>
                <a:latin typeface="DejaVu Sans"/>
                <a:cs typeface="DejaVu Sans"/>
              </a:rPr>
              <a:t>9-2033 </a:t>
            </a:r>
            <a:endParaRPr sz="1500" dirty="0">
              <a:latin typeface="DejaVu Sans"/>
              <a:cs typeface="DejaVu Sans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1150" spc="-65" dirty="0" err="1">
                <a:solidFill>
                  <a:srgbClr val="DFF0FF"/>
                </a:solidFill>
                <a:latin typeface="DejaVu Sans"/>
                <a:cs typeface="DejaVu Sans"/>
              </a:rPr>
              <a:t>Implementação</a:t>
            </a:r>
            <a:r>
              <a:rPr sz="1150" spc="5" dirty="0">
                <a:solidFill>
                  <a:srgbClr val="DFF0FF"/>
                </a:solidFill>
                <a:latin typeface="DejaVu Sans"/>
                <a:cs typeface="DejaVu Sans"/>
              </a:rPr>
              <a:t> </a:t>
            </a:r>
            <a:r>
              <a:rPr sz="1150" spc="-20" dirty="0">
                <a:solidFill>
                  <a:srgbClr val="DFF0FF"/>
                </a:solidFill>
                <a:latin typeface="DejaVu Sans"/>
                <a:cs typeface="DejaVu Sans"/>
              </a:rPr>
              <a:t>total</a:t>
            </a:r>
            <a:r>
              <a:rPr lang="pt-BR" sz="1150" spc="-20" dirty="0">
                <a:solidFill>
                  <a:srgbClr val="DFF0FF"/>
                </a:solidFill>
                <a:latin typeface="DejaVu Sans"/>
                <a:cs typeface="DejaVu Sans"/>
              </a:rPr>
              <a:t> CBS</a:t>
            </a:r>
            <a:endParaRPr sz="1150" dirty="0">
              <a:latin typeface="DejaVu Sans"/>
              <a:cs typeface="DejaVu Sans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315200" y="1925519"/>
            <a:ext cx="1009650" cy="1323975"/>
            <a:chOff x="7315200" y="2200274"/>
            <a:chExt cx="1009650" cy="1323975"/>
          </a:xfrm>
        </p:grpSpPr>
        <p:pic>
          <p:nvPicPr>
            <p:cNvPr id="66" name="object 6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5200" y="3371849"/>
              <a:ext cx="152399" cy="15239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15299" y="2257424"/>
              <a:ext cx="152400" cy="15239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058149" y="2200274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39" y="260959"/>
                  </a:lnTo>
                  <a:lnTo>
                    <a:pt x="59263" y="244226"/>
                  </a:lnTo>
                  <a:lnTo>
                    <a:pt x="30267" y="217947"/>
                  </a:lnTo>
                  <a:lnTo>
                    <a:pt x="10149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5" y="7791"/>
                  </a:lnTo>
                  <a:lnTo>
                    <a:pt x="212792" y="26246"/>
                  </a:lnTo>
                  <a:lnTo>
                    <a:pt x="240452" y="53906"/>
                  </a:lnTo>
                  <a:lnTo>
                    <a:pt x="258907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7" y="178266"/>
                  </a:lnTo>
                  <a:lnTo>
                    <a:pt x="240452" y="212793"/>
                  </a:lnTo>
                  <a:lnTo>
                    <a:pt x="212792" y="240453"/>
                  </a:lnTo>
                  <a:lnTo>
                    <a:pt x="178265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A8D0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752407" y="2899571"/>
            <a:ext cx="10318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7480">
              <a:lnSpc>
                <a:spcPct val="1111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A8D0FF"/>
                </a:solidFill>
                <a:latin typeface="DejaVu Sans"/>
                <a:cs typeface="DejaVu Sans"/>
              </a:rPr>
              <a:t>Sistema </a:t>
            </a:r>
            <a:r>
              <a:rPr sz="1350" b="1" spc="-100" dirty="0">
                <a:solidFill>
                  <a:srgbClr val="A8D0FF"/>
                </a:solidFill>
                <a:latin typeface="DejaVu Sans"/>
                <a:cs typeface="DejaVu Sans"/>
              </a:rPr>
              <a:t>operacional</a:t>
            </a:r>
            <a:endParaRPr sz="1350">
              <a:latin typeface="DejaVu Sans"/>
              <a:cs typeface="DejaVu San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599263" y="3446908"/>
            <a:ext cx="1376045" cy="6242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59715" indent="-226695">
              <a:lnSpc>
                <a:spcPct val="100000"/>
              </a:lnSpc>
              <a:spcBef>
                <a:spcPts val="370"/>
              </a:spcBef>
            </a:pPr>
            <a:r>
              <a:rPr sz="1150" b="1" spc="-90" dirty="0">
                <a:solidFill>
                  <a:srgbClr val="93C4FD"/>
                </a:solidFill>
                <a:latin typeface="Verdana"/>
                <a:cs typeface="Verdana"/>
              </a:rPr>
              <a:t>O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70" dirty="0">
                <a:solidFill>
                  <a:srgbClr val="93C4FD"/>
                </a:solidFill>
                <a:latin typeface="Verdana"/>
                <a:cs typeface="Verdana"/>
              </a:rPr>
              <a:t>que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10" dirty="0">
                <a:solidFill>
                  <a:srgbClr val="93C4FD"/>
                </a:solidFill>
                <a:latin typeface="Verdana"/>
                <a:cs typeface="Verdana"/>
              </a:rPr>
              <a:t>esperar:</a:t>
            </a:r>
            <a:endParaRPr sz="1150" dirty="0">
              <a:latin typeface="Verdana"/>
              <a:cs typeface="Verdana"/>
            </a:endParaRPr>
          </a:p>
          <a:p>
            <a:pPr marL="12700" marR="5080" indent="247015">
              <a:lnSpc>
                <a:spcPct val="113599"/>
              </a:lnSpc>
              <a:spcBef>
                <a:spcPts val="65"/>
              </a:spcBef>
            </a:pPr>
            <a:r>
              <a:rPr sz="1100" spc="-55" dirty="0">
                <a:solidFill>
                  <a:srgbClr val="FFFFFF"/>
                </a:solidFill>
                <a:latin typeface="DejaVu Sans"/>
                <a:cs typeface="DejaVu Sans"/>
              </a:rPr>
              <a:t>Split</a:t>
            </a:r>
            <a:r>
              <a:rPr sz="1100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Payment </a:t>
            </a:r>
            <a:r>
              <a:rPr sz="1100" spc="-80" dirty="0">
                <a:solidFill>
                  <a:srgbClr val="FFFFFF"/>
                </a:solidFill>
                <a:latin typeface="DejaVu Sans"/>
                <a:cs typeface="DejaVu Sans"/>
              </a:rPr>
              <a:t>plenamente</a:t>
            </a:r>
            <a:r>
              <a:rPr sz="110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DejaVu Sans"/>
                <a:cs typeface="DejaVu Sans"/>
              </a:rPr>
              <a:t>funcional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351017" y="3709082"/>
            <a:ext cx="9906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195" dirty="0">
                <a:solidFill>
                  <a:srgbClr val="A8D0FF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351016" y="4112348"/>
            <a:ext cx="1806955" cy="374461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280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378460" algn="l"/>
              </a:tabLst>
            </a:pPr>
            <a:r>
              <a:rPr lang="pt-BR" sz="1100" spc="-110" dirty="0">
                <a:solidFill>
                  <a:srgbClr val="FFFFFF"/>
                </a:solidFill>
                <a:latin typeface="DejaVu Sans"/>
                <a:cs typeface="DejaVu Sans"/>
              </a:rPr>
              <a:t>Período de </a:t>
            </a:r>
            <a:r>
              <a:rPr lang="pt-BR" sz="1100" spc="-10" dirty="0">
                <a:solidFill>
                  <a:srgbClr val="FFFFFF"/>
                </a:solidFill>
                <a:latin typeface="DejaVu Sans"/>
                <a:cs typeface="DejaVu Sans"/>
              </a:rPr>
              <a:t>T</a:t>
            </a:r>
            <a:r>
              <a:rPr sz="1100" spc="-10" dirty="0" err="1">
                <a:solidFill>
                  <a:srgbClr val="FFFFFF"/>
                </a:solidFill>
                <a:latin typeface="DejaVu Sans"/>
                <a:cs typeface="DejaVu Sans"/>
              </a:rPr>
              <a:t>ransição</a:t>
            </a:r>
            <a:r>
              <a:rPr lang="pt-BR" sz="1100" spc="-10" dirty="0">
                <a:solidFill>
                  <a:srgbClr val="FFFFFF"/>
                </a:solidFill>
                <a:latin typeface="DejaVu Sans"/>
                <a:cs typeface="DejaVu Sans"/>
              </a:rPr>
              <a:t> da IBS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599263" y="4560023"/>
            <a:ext cx="1597143" cy="3798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 marR="5080" indent="-224790">
              <a:lnSpc>
                <a:spcPct val="113599"/>
              </a:lnSpc>
              <a:spcBef>
                <a:spcPts val="100"/>
              </a:spcBef>
            </a:pPr>
            <a:r>
              <a:rPr sz="1100" spc="-70" dirty="0">
                <a:solidFill>
                  <a:srgbClr val="FFFFFF"/>
                </a:solidFill>
                <a:latin typeface="DejaVu Sans"/>
                <a:cs typeface="DejaVu Sans"/>
              </a:rPr>
              <a:t>Ajustes</a:t>
            </a:r>
            <a:r>
              <a:rPr sz="1100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950" spc="-25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nais</a:t>
            </a:r>
            <a:r>
              <a:rPr sz="1100" spc="-6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75" dirty="0">
                <a:solidFill>
                  <a:srgbClr val="FFFFFF"/>
                </a:solidFill>
                <a:latin typeface="DejaVu Sans"/>
                <a:cs typeface="DejaVu Sans"/>
              </a:rPr>
              <a:t>de </a:t>
            </a:r>
            <a:r>
              <a:rPr sz="1100" spc="-10" dirty="0" err="1">
                <a:solidFill>
                  <a:srgbClr val="FFFFFF"/>
                </a:solidFill>
                <a:latin typeface="DejaVu Sans"/>
                <a:cs typeface="DejaVu Sans"/>
              </a:rPr>
              <a:t>alíquotas</a:t>
            </a:r>
            <a:r>
              <a:rPr lang="pt-BR" sz="1100" spc="-10" dirty="0">
                <a:solidFill>
                  <a:srgbClr val="FFFFFF"/>
                </a:solidFill>
                <a:latin typeface="DejaVu Sans"/>
                <a:cs typeface="DejaVu Sans"/>
              </a:rPr>
              <a:t> para IBS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351017" y="4604432"/>
            <a:ext cx="9906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195" dirty="0">
                <a:solidFill>
                  <a:srgbClr val="A8D0FF"/>
                </a:solidFill>
                <a:latin typeface="Arial"/>
                <a:cs typeface="Arial"/>
              </a:rPr>
              <a:t>•</a:t>
            </a:r>
            <a:endParaRPr sz="9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307879" y="5018532"/>
            <a:ext cx="1924464" cy="86299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7825" marR="5080" indent="-365760">
              <a:lnSpc>
                <a:spcPct val="115700"/>
              </a:lnSpc>
              <a:spcBef>
                <a:spcPts val="150"/>
              </a:spcBef>
            </a:pPr>
            <a:r>
              <a:rPr sz="1150" b="1" spc="-95" dirty="0">
                <a:solidFill>
                  <a:srgbClr val="93C4FD"/>
                </a:solidFill>
                <a:latin typeface="Verdana"/>
                <a:cs typeface="Verdana"/>
              </a:rPr>
              <a:t>Como</a:t>
            </a:r>
            <a:r>
              <a:rPr sz="1150" b="1" spc="-25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60" dirty="0">
                <a:solidFill>
                  <a:srgbClr val="93C4FD"/>
                </a:solidFill>
                <a:latin typeface="Verdana"/>
                <a:cs typeface="Verdana"/>
              </a:rPr>
              <a:t>se</a:t>
            </a:r>
            <a:r>
              <a:rPr sz="1150" b="1" spc="-20" dirty="0">
                <a:solidFill>
                  <a:srgbClr val="93C4FD"/>
                </a:solidFill>
                <a:latin typeface="Verdana"/>
                <a:cs typeface="Verdana"/>
              </a:rPr>
              <a:t> </a:t>
            </a:r>
            <a:r>
              <a:rPr sz="1150" b="1" spc="-55" dirty="0" err="1">
                <a:solidFill>
                  <a:srgbClr val="93C4FD"/>
                </a:solidFill>
                <a:latin typeface="Verdana"/>
                <a:cs typeface="Verdana"/>
              </a:rPr>
              <a:t>preparar</a:t>
            </a:r>
            <a:r>
              <a:rPr sz="1150" b="1" spc="-55" dirty="0">
                <a:solidFill>
                  <a:srgbClr val="93C4FD"/>
                </a:solidFill>
                <a:latin typeface="Verdana"/>
                <a:cs typeface="Verdana"/>
              </a:rPr>
              <a:t>:</a:t>
            </a:r>
            <a:endParaRPr lang="pt-BR" sz="1150" b="1" spc="-55" dirty="0">
              <a:solidFill>
                <a:srgbClr val="93C4FD"/>
              </a:solidFill>
              <a:latin typeface="Verdana"/>
              <a:cs typeface="Verdana"/>
            </a:endParaRPr>
          </a:p>
          <a:p>
            <a:pPr marL="377825" marR="5080" indent="-365760">
              <a:lnSpc>
                <a:spcPct val="115700"/>
              </a:lnSpc>
              <a:spcBef>
                <a:spcPts val="150"/>
              </a:spcBef>
            </a:pPr>
            <a:endParaRPr lang="pt-BR" sz="1150" b="1" spc="-55" dirty="0">
              <a:solidFill>
                <a:srgbClr val="93C4FD"/>
              </a:solidFill>
              <a:latin typeface="Verdana"/>
              <a:cs typeface="Verdana"/>
            </a:endParaRPr>
          </a:p>
          <a:p>
            <a:pPr marL="377825" marR="5080" indent="-365760">
              <a:lnSpc>
                <a:spcPct val="115700"/>
              </a:lnSpc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pt-BR" sz="1100" spc="-65" dirty="0">
                <a:solidFill>
                  <a:srgbClr val="FFFFFF"/>
                </a:solidFill>
                <a:latin typeface="DejaVu Sans"/>
                <a:cs typeface="DejaVu Sans"/>
              </a:rPr>
              <a:t>Análise contínua para </a:t>
            </a:r>
            <a:r>
              <a:rPr sz="1100" spc="-10" dirty="0" err="1">
                <a:solidFill>
                  <a:srgbClr val="FFFFFF"/>
                </a:solidFill>
                <a:latin typeface="DejaVu Sans"/>
                <a:cs typeface="DejaVu Sans"/>
              </a:rPr>
              <a:t>conformidade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314440" y="6053191"/>
            <a:ext cx="159702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95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287655" algn="l"/>
              </a:tabLst>
            </a:pPr>
            <a:r>
              <a:rPr sz="1100" spc="-75" dirty="0">
                <a:solidFill>
                  <a:srgbClr val="FFFFFF"/>
                </a:solidFill>
                <a:latin typeface="DejaVu Sans"/>
                <a:cs typeface="DejaVu Sans"/>
              </a:rPr>
              <a:t>Otimização</a:t>
            </a:r>
            <a:r>
              <a:rPr sz="11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11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950" spc="-25" dirty="0">
                <a:solidFill>
                  <a:srgbClr val="FFFFFF"/>
                </a:solidFill>
                <a:latin typeface="Arial"/>
                <a:cs typeface="Arial"/>
              </a:rPr>
              <a:t>ﬂ</a:t>
            </a:r>
            <a:r>
              <a:rPr sz="1100" spc="-25" dirty="0">
                <a:solidFill>
                  <a:srgbClr val="FFFFFF"/>
                </a:solidFill>
                <a:latin typeface="DejaVu Sans"/>
                <a:cs typeface="DejaVu Sans"/>
              </a:rPr>
              <a:t>uxos</a:t>
            </a:r>
            <a:endParaRPr sz="1100" dirty="0">
              <a:latin typeface="DejaVu Sans"/>
              <a:cs typeface="DejaVu San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314440" y="6417262"/>
            <a:ext cx="1681480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204"/>
              </a:spcBef>
              <a:buClr>
                <a:srgbClr val="A8D0FF"/>
              </a:buClr>
              <a:buSzPct val="81818"/>
              <a:buFont typeface="Arial"/>
              <a:buChar char="•"/>
              <a:tabLst>
                <a:tab pos="201295" algn="l"/>
              </a:tabLst>
            </a:pPr>
            <a:r>
              <a:rPr sz="1100" spc="-80" dirty="0">
                <a:solidFill>
                  <a:srgbClr val="FFFFFF"/>
                </a:solidFill>
                <a:latin typeface="DejaVu Sans"/>
                <a:cs typeface="DejaVu Sans"/>
              </a:rPr>
              <a:t>Planejamento</a:t>
            </a:r>
            <a:r>
              <a:rPr sz="11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DejaVu Sans"/>
                <a:cs typeface="DejaVu Sans"/>
              </a:rPr>
              <a:t>tributário</a:t>
            </a:r>
            <a:endParaRPr sz="1100" dirty="0">
              <a:latin typeface="DejaVu Sans"/>
              <a:cs typeface="DejaVu Sans"/>
            </a:endParaRPr>
          </a:p>
          <a:p>
            <a:pPr marL="647065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de</a:t>
            </a:r>
            <a:r>
              <a:rPr sz="950" spc="-1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100" spc="-10" dirty="0">
                <a:solidFill>
                  <a:srgbClr val="FFFFFF"/>
                </a:solidFill>
                <a:latin typeface="DejaVu Sans"/>
                <a:cs typeface="DejaVu Sans"/>
              </a:rPr>
              <a:t>nitivo</a:t>
            </a:r>
            <a:endParaRPr sz="1100" dirty="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950A871-2F8E-148C-178F-B3275FC5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="" xmlns:a16="http://schemas.microsoft.com/office/drawing/2014/main" id="{2FEA6C16-EA91-0381-6093-9939F6659C97}"/>
              </a:ext>
            </a:extLst>
          </p:cNvPr>
          <p:cNvGrpSpPr/>
          <p:nvPr/>
        </p:nvGrpSpPr>
        <p:grpSpPr>
          <a:xfrm>
            <a:off x="0" y="0"/>
            <a:ext cx="9753599" cy="7315199"/>
            <a:chOff x="0" y="0"/>
            <a:chExt cx="9753599" cy="7315199"/>
          </a:xfrm>
        </p:grpSpPr>
        <p:pic>
          <p:nvPicPr>
            <p:cNvPr id="6" name="object 6">
              <a:extLst>
                <a:ext uri="{FF2B5EF4-FFF2-40B4-BE49-F238E27FC236}">
                  <a16:creationId xmlns="" xmlns:a16="http://schemas.microsoft.com/office/drawing/2014/main" id="{3BC7E096-C433-D06A-0A0D-0E4B0AF78EA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753599" cy="7315199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="" xmlns:a16="http://schemas.microsoft.com/office/drawing/2014/main" id="{E0A7CA14-A3DA-CC45-8EBA-BB13C94AB315}"/>
                </a:ext>
              </a:extLst>
            </p:cNvPr>
            <p:cNvSpPr/>
            <p:nvPr/>
          </p:nvSpPr>
          <p:spPr>
            <a:xfrm>
              <a:off x="571499" y="1952624"/>
              <a:ext cx="8610600" cy="1447800"/>
            </a:xfrm>
            <a:custGeom>
              <a:avLst/>
              <a:gdLst/>
              <a:ahLst/>
              <a:cxnLst/>
              <a:rect l="l" t="t" r="r" b="b"/>
              <a:pathLst>
                <a:path w="8610600" h="1447800">
                  <a:moveTo>
                    <a:pt x="8539402" y="1447799"/>
                  </a:moveTo>
                  <a:lnTo>
                    <a:pt x="71196" y="1447799"/>
                  </a:lnTo>
                  <a:lnTo>
                    <a:pt x="66241" y="1447311"/>
                  </a:lnTo>
                  <a:lnTo>
                    <a:pt x="29705" y="1432177"/>
                  </a:lnTo>
                  <a:lnTo>
                    <a:pt x="3885" y="1396137"/>
                  </a:lnTo>
                  <a:lnTo>
                    <a:pt x="0" y="1376603"/>
                  </a:lnTo>
                  <a:lnTo>
                    <a:pt x="0" y="13715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8539402" y="0"/>
                  </a:lnTo>
                  <a:lnTo>
                    <a:pt x="8580892" y="15621"/>
                  </a:lnTo>
                  <a:lnTo>
                    <a:pt x="8606712" y="51661"/>
                  </a:lnTo>
                  <a:lnTo>
                    <a:pt x="8610599" y="71196"/>
                  </a:lnTo>
                  <a:lnTo>
                    <a:pt x="8610599" y="1376603"/>
                  </a:lnTo>
                  <a:lnTo>
                    <a:pt x="8594976" y="1418093"/>
                  </a:lnTo>
                  <a:lnTo>
                    <a:pt x="8558936" y="1443914"/>
                  </a:lnTo>
                  <a:lnTo>
                    <a:pt x="8544357" y="1447311"/>
                  </a:lnTo>
                  <a:lnTo>
                    <a:pt x="8539402" y="1447799"/>
                  </a:lnTo>
                  <a:close/>
                </a:path>
              </a:pathLst>
            </a:custGeom>
            <a:solidFill>
              <a:srgbClr val="A8D0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="" xmlns:a16="http://schemas.microsoft.com/office/drawing/2014/main" id="{4ABEF32B-A8DD-82E3-8A56-F8F3CD6110A9}"/>
                </a:ext>
              </a:extLst>
            </p:cNvPr>
            <p:cNvSpPr/>
            <p:nvPr/>
          </p:nvSpPr>
          <p:spPr>
            <a:xfrm>
              <a:off x="571487" y="4019550"/>
              <a:ext cx="8610600" cy="2714625"/>
            </a:xfrm>
            <a:custGeom>
              <a:avLst/>
              <a:gdLst/>
              <a:ahLst/>
              <a:cxnLst/>
              <a:rect l="l" t="t" r="r" b="b"/>
              <a:pathLst>
                <a:path w="8610600" h="2714625">
                  <a:moveTo>
                    <a:pt x="8610600" y="2214321"/>
                  </a:moveTo>
                  <a:lnTo>
                    <a:pt x="8594979" y="2172830"/>
                  </a:lnTo>
                  <a:lnTo>
                    <a:pt x="8558936" y="2147011"/>
                  </a:lnTo>
                  <a:lnTo>
                    <a:pt x="8539404" y="2143125"/>
                  </a:lnTo>
                  <a:lnTo>
                    <a:pt x="71208" y="2143125"/>
                  </a:lnTo>
                  <a:lnTo>
                    <a:pt x="29718" y="2158746"/>
                  </a:lnTo>
                  <a:lnTo>
                    <a:pt x="3886" y="2194788"/>
                  </a:lnTo>
                  <a:lnTo>
                    <a:pt x="0" y="2214321"/>
                  </a:lnTo>
                  <a:lnTo>
                    <a:pt x="0" y="2638425"/>
                  </a:lnTo>
                  <a:lnTo>
                    <a:pt x="0" y="2643428"/>
                  </a:lnTo>
                  <a:lnTo>
                    <a:pt x="15633" y="2684919"/>
                  </a:lnTo>
                  <a:lnTo>
                    <a:pt x="51663" y="2710738"/>
                  </a:lnTo>
                  <a:lnTo>
                    <a:pt x="71208" y="2714625"/>
                  </a:lnTo>
                  <a:lnTo>
                    <a:pt x="8539404" y="2714625"/>
                  </a:lnTo>
                  <a:lnTo>
                    <a:pt x="8580895" y="2699004"/>
                  </a:lnTo>
                  <a:lnTo>
                    <a:pt x="8606714" y="2662974"/>
                  </a:lnTo>
                  <a:lnTo>
                    <a:pt x="8610600" y="2643428"/>
                  </a:lnTo>
                  <a:lnTo>
                    <a:pt x="8610600" y="2214321"/>
                  </a:lnTo>
                  <a:close/>
                </a:path>
                <a:path w="8610600" h="2714625">
                  <a:moveTo>
                    <a:pt x="8610600" y="1499946"/>
                  </a:moveTo>
                  <a:lnTo>
                    <a:pt x="8594979" y="1458455"/>
                  </a:lnTo>
                  <a:lnTo>
                    <a:pt x="8558936" y="1432636"/>
                  </a:lnTo>
                  <a:lnTo>
                    <a:pt x="8539404" y="1428762"/>
                  </a:lnTo>
                  <a:lnTo>
                    <a:pt x="71208" y="1428762"/>
                  </a:lnTo>
                  <a:lnTo>
                    <a:pt x="29718" y="1444383"/>
                  </a:lnTo>
                  <a:lnTo>
                    <a:pt x="3886" y="1480413"/>
                  </a:lnTo>
                  <a:lnTo>
                    <a:pt x="0" y="1499946"/>
                  </a:lnTo>
                  <a:lnTo>
                    <a:pt x="0" y="1924050"/>
                  </a:lnTo>
                  <a:lnTo>
                    <a:pt x="0" y="1929053"/>
                  </a:lnTo>
                  <a:lnTo>
                    <a:pt x="15633" y="1970544"/>
                  </a:lnTo>
                  <a:lnTo>
                    <a:pt x="51663" y="1996363"/>
                  </a:lnTo>
                  <a:lnTo>
                    <a:pt x="71208" y="2000250"/>
                  </a:lnTo>
                  <a:lnTo>
                    <a:pt x="8539404" y="2000250"/>
                  </a:lnTo>
                  <a:lnTo>
                    <a:pt x="8580895" y="1984629"/>
                  </a:lnTo>
                  <a:lnTo>
                    <a:pt x="8606714" y="1948586"/>
                  </a:lnTo>
                  <a:lnTo>
                    <a:pt x="8610600" y="1929053"/>
                  </a:lnTo>
                  <a:lnTo>
                    <a:pt x="8610600" y="1499946"/>
                  </a:lnTo>
                  <a:close/>
                </a:path>
                <a:path w="8610600" h="2714625">
                  <a:moveTo>
                    <a:pt x="8610600" y="785571"/>
                  </a:moveTo>
                  <a:lnTo>
                    <a:pt x="8594979" y="744080"/>
                  </a:lnTo>
                  <a:lnTo>
                    <a:pt x="8558936" y="718261"/>
                  </a:lnTo>
                  <a:lnTo>
                    <a:pt x="8539404" y="714375"/>
                  </a:lnTo>
                  <a:lnTo>
                    <a:pt x="71208" y="714375"/>
                  </a:lnTo>
                  <a:lnTo>
                    <a:pt x="29718" y="730008"/>
                  </a:lnTo>
                  <a:lnTo>
                    <a:pt x="3886" y="766038"/>
                  </a:lnTo>
                  <a:lnTo>
                    <a:pt x="0" y="785571"/>
                  </a:lnTo>
                  <a:lnTo>
                    <a:pt x="0" y="1209675"/>
                  </a:lnTo>
                  <a:lnTo>
                    <a:pt x="0" y="1214678"/>
                  </a:lnTo>
                  <a:lnTo>
                    <a:pt x="15633" y="1256169"/>
                  </a:lnTo>
                  <a:lnTo>
                    <a:pt x="51663" y="1281988"/>
                  </a:lnTo>
                  <a:lnTo>
                    <a:pt x="71208" y="1285875"/>
                  </a:lnTo>
                  <a:lnTo>
                    <a:pt x="8539404" y="1285875"/>
                  </a:lnTo>
                  <a:lnTo>
                    <a:pt x="8580895" y="1270254"/>
                  </a:lnTo>
                  <a:lnTo>
                    <a:pt x="8606714" y="1234224"/>
                  </a:lnTo>
                  <a:lnTo>
                    <a:pt x="8610600" y="1214678"/>
                  </a:lnTo>
                  <a:lnTo>
                    <a:pt x="8610600" y="785571"/>
                  </a:lnTo>
                  <a:close/>
                </a:path>
                <a:path w="8610600" h="2714625">
                  <a:moveTo>
                    <a:pt x="8610600" y="71196"/>
                  </a:moveTo>
                  <a:lnTo>
                    <a:pt x="8594979" y="29705"/>
                  </a:lnTo>
                  <a:lnTo>
                    <a:pt x="8558936" y="3886"/>
                  </a:lnTo>
                  <a:lnTo>
                    <a:pt x="8539404" y="0"/>
                  </a:lnTo>
                  <a:lnTo>
                    <a:pt x="71208" y="0"/>
                  </a:lnTo>
                  <a:lnTo>
                    <a:pt x="29718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495300"/>
                  </a:lnTo>
                  <a:lnTo>
                    <a:pt x="0" y="500303"/>
                  </a:lnTo>
                  <a:lnTo>
                    <a:pt x="15633" y="541794"/>
                  </a:lnTo>
                  <a:lnTo>
                    <a:pt x="51663" y="567613"/>
                  </a:lnTo>
                  <a:lnTo>
                    <a:pt x="71208" y="571500"/>
                  </a:lnTo>
                  <a:lnTo>
                    <a:pt x="8539404" y="571500"/>
                  </a:lnTo>
                  <a:lnTo>
                    <a:pt x="8580895" y="555879"/>
                  </a:lnTo>
                  <a:lnTo>
                    <a:pt x="8606714" y="519849"/>
                  </a:lnTo>
                  <a:lnTo>
                    <a:pt x="8610600" y="500303"/>
                  </a:lnTo>
                  <a:lnTo>
                    <a:pt x="8610600" y="71196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>
            <a:extLst>
              <a:ext uri="{FF2B5EF4-FFF2-40B4-BE49-F238E27FC236}">
                <a16:creationId xmlns="" xmlns:a16="http://schemas.microsoft.com/office/drawing/2014/main" id="{7F8ABF0E-E820-0992-5CB6-54A84C775232}"/>
              </a:ext>
            </a:extLst>
          </p:cNvPr>
          <p:cNvSpPr txBox="1"/>
          <p:nvPr/>
        </p:nvSpPr>
        <p:spPr>
          <a:xfrm>
            <a:off x="558800" y="179102"/>
            <a:ext cx="3632200" cy="24109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1450" b="1" spc="-95" dirty="0" smtClean="0">
                <a:solidFill>
                  <a:srgbClr val="DFF0FF"/>
                </a:solidFill>
                <a:latin typeface="DejaVu Sans"/>
                <a:cs typeface="DejaVu Sans"/>
              </a:rPr>
              <a:t>VSR - CONTABILIDADE</a:t>
            </a:r>
            <a:endParaRPr sz="1450" dirty="0">
              <a:latin typeface="DejaVu Sans"/>
              <a:cs typeface="DejaVu San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="" xmlns:a16="http://schemas.microsoft.com/office/drawing/2014/main" id="{A9CDED2C-1870-9658-5AA6-CE520F2DB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80" dirty="0"/>
              <a:t>NOSSO</a:t>
            </a:r>
            <a:r>
              <a:rPr spc="-80" dirty="0"/>
              <a:t> </a:t>
            </a:r>
            <a:r>
              <a:rPr spc="-260" dirty="0"/>
              <a:t>COMPROMISSO</a:t>
            </a:r>
            <a:r>
              <a:rPr spc="-85" dirty="0"/>
              <a:t> </a:t>
            </a:r>
            <a:r>
              <a:rPr spc="-270" dirty="0"/>
              <a:t>COM</a:t>
            </a:r>
            <a:r>
              <a:rPr spc="-80" dirty="0"/>
              <a:t> </a:t>
            </a:r>
            <a:r>
              <a:rPr spc="-275" dirty="0"/>
              <a:t>VOCÊ</a:t>
            </a:r>
          </a:p>
        </p:txBody>
      </p:sp>
      <p:grpSp>
        <p:nvGrpSpPr>
          <p:cNvPr id="12" name="object 12">
            <a:extLst>
              <a:ext uri="{FF2B5EF4-FFF2-40B4-BE49-F238E27FC236}">
                <a16:creationId xmlns="" xmlns:a16="http://schemas.microsoft.com/office/drawing/2014/main" id="{65E290E4-83AD-E0CD-25DB-653A89EFCC04}"/>
              </a:ext>
            </a:extLst>
          </p:cNvPr>
          <p:cNvGrpSpPr/>
          <p:nvPr/>
        </p:nvGrpSpPr>
        <p:grpSpPr>
          <a:xfrm>
            <a:off x="762000" y="4067174"/>
            <a:ext cx="476250" cy="2619375"/>
            <a:chOff x="762000" y="4067174"/>
            <a:chExt cx="476250" cy="2619375"/>
          </a:xfrm>
        </p:grpSpPr>
        <p:sp>
          <p:nvSpPr>
            <p:cNvPr id="13" name="object 13">
              <a:extLst>
                <a:ext uri="{FF2B5EF4-FFF2-40B4-BE49-F238E27FC236}">
                  <a16:creationId xmlns="" xmlns:a16="http://schemas.microsoft.com/office/drawing/2014/main" id="{351C8220-4146-9F0C-67AB-84F78D8660E0}"/>
                </a:ext>
              </a:extLst>
            </p:cNvPr>
            <p:cNvSpPr/>
            <p:nvPr/>
          </p:nvSpPr>
          <p:spPr>
            <a:xfrm>
              <a:off x="762000" y="406717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8"/>
                  </a:lnTo>
                  <a:lnTo>
                    <a:pt x="184019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3" y="276931"/>
                  </a:lnTo>
                  <a:lnTo>
                    <a:pt x="0" y="245924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7" y="3054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4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7"/>
                  </a:lnTo>
                  <a:lnTo>
                    <a:pt x="276931" y="473196"/>
                  </a:lnTo>
                  <a:lnTo>
                    <a:pt x="253703" y="475868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A8D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="" xmlns:a16="http://schemas.microsoft.com/office/drawing/2014/main" id="{1C5C78DE-50C4-69DE-8BF1-04411E1E28B3}"/>
                </a:ext>
              </a:extLst>
            </p:cNvPr>
            <p:cNvSpPr/>
            <p:nvPr/>
          </p:nvSpPr>
          <p:spPr>
            <a:xfrm>
              <a:off x="857964" y="4194571"/>
              <a:ext cx="281940" cy="223520"/>
            </a:xfrm>
            <a:custGeom>
              <a:avLst/>
              <a:gdLst/>
              <a:ahLst/>
              <a:cxnLst/>
              <a:rect l="l" t="t" r="r" b="b"/>
              <a:pathLst>
                <a:path w="281940" h="223520">
                  <a:moveTo>
                    <a:pt x="107022" y="30480"/>
                  </a:moveTo>
                  <a:lnTo>
                    <a:pt x="34468" y="30480"/>
                  </a:lnTo>
                  <a:lnTo>
                    <a:pt x="39245" y="26670"/>
                  </a:lnTo>
                  <a:lnTo>
                    <a:pt x="44693" y="22860"/>
                  </a:lnTo>
                  <a:lnTo>
                    <a:pt x="50631" y="20320"/>
                  </a:lnTo>
                  <a:lnTo>
                    <a:pt x="54203" y="3810"/>
                  </a:lnTo>
                  <a:lnTo>
                    <a:pt x="57417" y="0"/>
                  </a:lnTo>
                  <a:lnTo>
                    <a:pt x="84073" y="0"/>
                  </a:lnTo>
                  <a:lnTo>
                    <a:pt x="87287" y="3810"/>
                  </a:lnTo>
                  <a:lnTo>
                    <a:pt x="88136" y="7620"/>
                  </a:lnTo>
                  <a:lnTo>
                    <a:pt x="90859" y="20320"/>
                  </a:lnTo>
                  <a:lnTo>
                    <a:pt x="96753" y="22860"/>
                  </a:lnTo>
                  <a:lnTo>
                    <a:pt x="102244" y="26670"/>
                  </a:lnTo>
                  <a:lnTo>
                    <a:pt x="107022" y="30480"/>
                  </a:lnTo>
                  <a:close/>
                </a:path>
                <a:path w="281940" h="223520">
                  <a:moveTo>
                    <a:pt x="17814" y="124460"/>
                  </a:moveTo>
                  <a:lnTo>
                    <a:pt x="13349" y="123190"/>
                  </a:lnTo>
                  <a:lnTo>
                    <a:pt x="10804" y="119380"/>
                  </a:lnTo>
                  <a:lnTo>
                    <a:pt x="9197" y="116840"/>
                  </a:lnTo>
                  <a:lnTo>
                    <a:pt x="7724" y="115570"/>
                  </a:lnTo>
                  <a:lnTo>
                    <a:pt x="5045" y="110490"/>
                  </a:lnTo>
                  <a:lnTo>
                    <a:pt x="3795" y="107950"/>
                  </a:lnTo>
                  <a:lnTo>
                    <a:pt x="2678" y="106680"/>
                  </a:lnTo>
                  <a:lnTo>
                    <a:pt x="1651" y="104140"/>
                  </a:lnTo>
                  <a:lnTo>
                    <a:pt x="0" y="100330"/>
                  </a:lnTo>
                  <a:lnTo>
                    <a:pt x="1250" y="95250"/>
                  </a:lnTo>
                  <a:lnTo>
                    <a:pt x="14332" y="83820"/>
                  </a:lnTo>
                  <a:lnTo>
                    <a:pt x="13841" y="81280"/>
                  </a:lnTo>
                  <a:lnTo>
                    <a:pt x="13573" y="77470"/>
                  </a:lnTo>
                  <a:lnTo>
                    <a:pt x="13573" y="71120"/>
                  </a:lnTo>
                  <a:lnTo>
                    <a:pt x="13841" y="68580"/>
                  </a:lnTo>
                  <a:lnTo>
                    <a:pt x="14332" y="64770"/>
                  </a:lnTo>
                  <a:lnTo>
                    <a:pt x="4364" y="55835"/>
                  </a:lnTo>
                  <a:lnTo>
                    <a:pt x="1250" y="53340"/>
                  </a:lnTo>
                  <a:lnTo>
                    <a:pt x="0" y="49530"/>
                  </a:lnTo>
                  <a:lnTo>
                    <a:pt x="2678" y="43180"/>
                  </a:lnTo>
                  <a:lnTo>
                    <a:pt x="3795" y="40640"/>
                  </a:lnTo>
                  <a:lnTo>
                    <a:pt x="6384" y="35560"/>
                  </a:lnTo>
                  <a:lnTo>
                    <a:pt x="7768" y="33020"/>
                  </a:lnTo>
                  <a:lnTo>
                    <a:pt x="9242" y="31750"/>
                  </a:lnTo>
                  <a:lnTo>
                    <a:pt x="13349" y="25400"/>
                  </a:lnTo>
                  <a:lnTo>
                    <a:pt x="17814" y="24130"/>
                  </a:lnTo>
                  <a:lnTo>
                    <a:pt x="21833" y="26670"/>
                  </a:lnTo>
                  <a:lnTo>
                    <a:pt x="34468" y="30480"/>
                  </a:lnTo>
                  <a:lnTo>
                    <a:pt x="131382" y="30480"/>
                  </a:lnTo>
                  <a:lnTo>
                    <a:pt x="132204" y="31750"/>
                  </a:lnTo>
                  <a:lnTo>
                    <a:pt x="133677" y="33020"/>
                  </a:lnTo>
                  <a:lnTo>
                    <a:pt x="135016" y="35560"/>
                  </a:lnTo>
                  <a:lnTo>
                    <a:pt x="136400" y="38100"/>
                  </a:lnTo>
                  <a:lnTo>
                    <a:pt x="137651" y="40640"/>
                  </a:lnTo>
                  <a:lnTo>
                    <a:pt x="138767" y="43180"/>
                  </a:lnTo>
                  <a:lnTo>
                    <a:pt x="139794" y="44450"/>
                  </a:lnTo>
                  <a:lnTo>
                    <a:pt x="141446" y="49530"/>
                  </a:lnTo>
                  <a:lnTo>
                    <a:pt x="140196" y="53340"/>
                  </a:lnTo>
                  <a:lnTo>
                    <a:pt x="65147" y="53340"/>
                  </a:lnTo>
                  <a:lnTo>
                    <a:pt x="59987" y="55835"/>
                  </a:lnTo>
                  <a:lnTo>
                    <a:pt x="49291" y="71120"/>
                  </a:lnTo>
                  <a:lnTo>
                    <a:pt x="49291" y="77470"/>
                  </a:lnTo>
                  <a:lnTo>
                    <a:pt x="65147" y="95250"/>
                  </a:lnTo>
                  <a:lnTo>
                    <a:pt x="140106" y="95250"/>
                  </a:lnTo>
                  <a:lnTo>
                    <a:pt x="141356" y="100330"/>
                  </a:lnTo>
                  <a:lnTo>
                    <a:pt x="138678" y="105410"/>
                  </a:lnTo>
                  <a:lnTo>
                    <a:pt x="137561" y="107950"/>
                  </a:lnTo>
                  <a:lnTo>
                    <a:pt x="136311" y="110490"/>
                  </a:lnTo>
                  <a:lnTo>
                    <a:pt x="134927" y="113030"/>
                  </a:lnTo>
                  <a:lnTo>
                    <a:pt x="133588" y="115570"/>
                  </a:lnTo>
                  <a:lnTo>
                    <a:pt x="132114" y="116840"/>
                  </a:lnTo>
                  <a:lnTo>
                    <a:pt x="131293" y="118110"/>
                  </a:lnTo>
                  <a:lnTo>
                    <a:pt x="34423" y="118110"/>
                  </a:lnTo>
                  <a:lnTo>
                    <a:pt x="17814" y="124460"/>
                  </a:lnTo>
                  <a:close/>
                </a:path>
                <a:path w="281940" h="223520">
                  <a:moveTo>
                    <a:pt x="131382" y="30480"/>
                  </a:moveTo>
                  <a:lnTo>
                    <a:pt x="107022" y="30480"/>
                  </a:lnTo>
                  <a:lnTo>
                    <a:pt x="123631" y="24130"/>
                  </a:lnTo>
                  <a:lnTo>
                    <a:pt x="128096" y="25400"/>
                  </a:lnTo>
                  <a:lnTo>
                    <a:pt x="131382" y="30480"/>
                  </a:lnTo>
                  <a:close/>
                </a:path>
                <a:path w="281940" h="223520">
                  <a:moveTo>
                    <a:pt x="140106" y="95250"/>
                  </a:moveTo>
                  <a:lnTo>
                    <a:pt x="76298" y="95250"/>
                  </a:lnTo>
                  <a:lnTo>
                    <a:pt x="81550" y="92710"/>
                  </a:lnTo>
                  <a:lnTo>
                    <a:pt x="83867" y="91440"/>
                  </a:lnTo>
                  <a:lnTo>
                    <a:pt x="87886" y="87630"/>
                  </a:lnTo>
                  <a:lnTo>
                    <a:pt x="89435" y="85090"/>
                  </a:lnTo>
                  <a:lnTo>
                    <a:pt x="91610" y="80010"/>
                  </a:lnTo>
                  <a:lnTo>
                    <a:pt x="92154" y="77470"/>
                  </a:lnTo>
                  <a:lnTo>
                    <a:pt x="92154" y="71120"/>
                  </a:lnTo>
                  <a:lnTo>
                    <a:pt x="76298" y="53340"/>
                  </a:lnTo>
                  <a:lnTo>
                    <a:pt x="140196" y="53340"/>
                  </a:lnTo>
                  <a:lnTo>
                    <a:pt x="136188" y="56550"/>
                  </a:lnTo>
                  <a:lnTo>
                    <a:pt x="127024" y="64770"/>
                  </a:lnTo>
                  <a:lnTo>
                    <a:pt x="127515" y="68580"/>
                  </a:lnTo>
                  <a:lnTo>
                    <a:pt x="127783" y="71120"/>
                  </a:lnTo>
                  <a:lnTo>
                    <a:pt x="127783" y="77470"/>
                  </a:lnTo>
                  <a:lnTo>
                    <a:pt x="127515" y="80010"/>
                  </a:lnTo>
                  <a:lnTo>
                    <a:pt x="127024" y="83820"/>
                  </a:lnTo>
                  <a:lnTo>
                    <a:pt x="136936" y="92710"/>
                  </a:lnTo>
                  <a:lnTo>
                    <a:pt x="140106" y="95250"/>
                  </a:lnTo>
                  <a:close/>
                </a:path>
                <a:path w="281940" h="223520">
                  <a:moveTo>
                    <a:pt x="181049" y="223520"/>
                  </a:moveTo>
                  <a:lnTo>
                    <a:pt x="174798" y="220980"/>
                  </a:lnTo>
                  <a:lnTo>
                    <a:pt x="172438" y="219687"/>
                  </a:lnTo>
                  <a:lnTo>
                    <a:pt x="170244" y="218440"/>
                  </a:lnTo>
                  <a:lnTo>
                    <a:pt x="167833" y="217170"/>
                  </a:lnTo>
                  <a:lnTo>
                    <a:pt x="165556" y="215900"/>
                  </a:lnTo>
                  <a:lnTo>
                    <a:pt x="163413" y="214630"/>
                  </a:lnTo>
                  <a:lnTo>
                    <a:pt x="157921" y="210820"/>
                  </a:lnTo>
                  <a:lnTo>
                    <a:pt x="156805" y="205740"/>
                  </a:lnTo>
                  <a:lnTo>
                    <a:pt x="162297" y="189230"/>
                  </a:lnTo>
                  <a:lnTo>
                    <a:pt x="158368" y="184150"/>
                  </a:lnTo>
                  <a:lnTo>
                    <a:pt x="155197" y="179070"/>
                  </a:lnTo>
                  <a:lnTo>
                    <a:pt x="152965" y="172720"/>
                  </a:lnTo>
                  <a:lnTo>
                    <a:pt x="135865" y="168910"/>
                  </a:lnTo>
                  <a:lnTo>
                    <a:pt x="132516" y="166370"/>
                  </a:lnTo>
                  <a:lnTo>
                    <a:pt x="131668" y="158750"/>
                  </a:lnTo>
                  <a:lnTo>
                    <a:pt x="131668" y="147320"/>
                  </a:lnTo>
                  <a:lnTo>
                    <a:pt x="132516" y="139700"/>
                  </a:lnTo>
                  <a:lnTo>
                    <a:pt x="135820" y="135890"/>
                  </a:lnTo>
                  <a:lnTo>
                    <a:pt x="152965" y="133350"/>
                  </a:lnTo>
                  <a:lnTo>
                    <a:pt x="155153" y="127000"/>
                  </a:lnTo>
                  <a:lnTo>
                    <a:pt x="158368" y="121920"/>
                  </a:lnTo>
                  <a:lnTo>
                    <a:pt x="162297" y="116840"/>
                  </a:lnTo>
                  <a:lnTo>
                    <a:pt x="156805" y="100330"/>
                  </a:lnTo>
                  <a:lnTo>
                    <a:pt x="181049" y="82550"/>
                  </a:lnTo>
                  <a:lnTo>
                    <a:pt x="185469" y="83820"/>
                  </a:lnTo>
                  <a:lnTo>
                    <a:pt x="197122" y="96520"/>
                  </a:lnTo>
                  <a:lnTo>
                    <a:pt x="255310" y="96520"/>
                  </a:lnTo>
                  <a:lnTo>
                    <a:pt x="256148" y="100330"/>
                  </a:lnTo>
                  <a:lnTo>
                    <a:pt x="250656" y="116840"/>
                  </a:lnTo>
                  <a:lnTo>
                    <a:pt x="254585" y="121920"/>
                  </a:lnTo>
                  <a:lnTo>
                    <a:pt x="257755" y="127000"/>
                  </a:lnTo>
                  <a:lnTo>
                    <a:pt x="259541" y="132080"/>
                  </a:lnTo>
                  <a:lnTo>
                    <a:pt x="200878" y="132080"/>
                  </a:lnTo>
                  <a:lnTo>
                    <a:pt x="195627" y="134620"/>
                  </a:lnTo>
                  <a:lnTo>
                    <a:pt x="185023" y="149860"/>
                  </a:lnTo>
                  <a:lnTo>
                    <a:pt x="185023" y="156210"/>
                  </a:lnTo>
                  <a:lnTo>
                    <a:pt x="200878" y="173990"/>
                  </a:lnTo>
                  <a:lnTo>
                    <a:pt x="259550" y="173990"/>
                  </a:lnTo>
                  <a:lnTo>
                    <a:pt x="257800" y="179070"/>
                  </a:lnTo>
                  <a:lnTo>
                    <a:pt x="254585" y="184150"/>
                  </a:lnTo>
                  <a:lnTo>
                    <a:pt x="250656" y="189230"/>
                  </a:lnTo>
                  <a:lnTo>
                    <a:pt x="256148" y="205740"/>
                  </a:lnTo>
                  <a:lnTo>
                    <a:pt x="255310" y="209550"/>
                  </a:lnTo>
                  <a:lnTo>
                    <a:pt x="197167" y="209550"/>
                  </a:lnTo>
                  <a:lnTo>
                    <a:pt x="188346" y="219687"/>
                  </a:lnTo>
                  <a:lnTo>
                    <a:pt x="185469" y="222250"/>
                  </a:lnTo>
                  <a:lnTo>
                    <a:pt x="181049" y="223520"/>
                  </a:lnTo>
                  <a:close/>
                </a:path>
                <a:path w="281940" h="223520">
                  <a:moveTo>
                    <a:pt x="255310" y="96520"/>
                  </a:moveTo>
                  <a:lnTo>
                    <a:pt x="215785" y="96520"/>
                  </a:lnTo>
                  <a:lnTo>
                    <a:pt x="224626" y="86360"/>
                  </a:lnTo>
                  <a:lnTo>
                    <a:pt x="227483" y="83820"/>
                  </a:lnTo>
                  <a:lnTo>
                    <a:pt x="231904" y="82550"/>
                  </a:lnTo>
                  <a:lnTo>
                    <a:pt x="238199" y="85090"/>
                  </a:lnTo>
                  <a:lnTo>
                    <a:pt x="245119" y="88900"/>
                  </a:lnTo>
                  <a:lnTo>
                    <a:pt x="249540" y="91440"/>
                  </a:lnTo>
                  <a:lnTo>
                    <a:pt x="255031" y="95250"/>
                  </a:lnTo>
                  <a:lnTo>
                    <a:pt x="255310" y="96520"/>
                  </a:lnTo>
                  <a:close/>
                </a:path>
                <a:path w="281940" h="223520">
                  <a:moveTo>
                    <a:pt x="212749" y="96520"/>
                  </a:moveTo>
                  <a:lnTo>
                    <a:pt x="200158" y="96520"/>
                  </a:lnTo>
                  <a:lnTo>
                    <a:pt x="203284" y="95250"/>
                  </a:lnTo>
                  <a:lnTo>
                    <a:pt x="209624" y="95250"/>
                  </a:lnTo>
                  <a:lnTo>
                    <a:pt x="212749" y="96520"/>
                  </a:lnTo>
                  <a:close/>
                </a:path>
                <a:path w="281940" h="223520">
                  <a:moveTo>
                    <a:pt x="83983" y="148590"/>
                  </a:moveTo>
                  <a:lnTo>
                    <a:pt x="57373" y="148590"/>
                  </a:lnTo>
                  <a:lnTo>
                    <a:pt x="54158" y="144780"/>
                  </a:lnTo>
                  <a:lnTo>
                    <a:pt x="53310" y="140970"/>
                  </a:lnTo>
                  <a:lnTo>
                    <a:pt x="50586" y="128270"/>
                  </a:lnTo>
                  <a:lnTo>
                    <a:pt x="44693" y="125730"/>
                  </a:lnTo>
                  <a:lnTo>
                    <a:pt x="39201" y="121920"/>
                  </a:lnTo>
                  <a:lnTo>
                    <a:pt x="34423" y="118110"/>
                  </a:lnTo>
                  <a:lnTo>
                    <a:pt x="106933" y="118110"/>
                  </a:lnTo>
                  <a:lnTo>
                    <a:pt x="102155" y="121920"/>
                  </a:lnTo>
                  <a:lnTo>
                    <a:pt x="96708" y="125730"/>
                  </a:lnTo>
                  <a:lnTo>
                    <a:pt x="90770" y="128270"/>
                  </a:lnTo>
                  <a:lnTo>
                    <a:pt x="87198" y="144780"/>
                  </a:lnTo>
                  <a:lnTo>
                    <a:pt x="83983" y="148590"/>
                  </a:lnTo>
                  <a:close/>
                </a:path>
                <a:path w="281940" h="223520">
                  <a:moveTo>
                    <a:pt x="123542" y="124460"/>
                  </a:moveTo>
                  <a:lnTo>
                    <a:pt x="106933" y="118110"/>
                  </a:lnTo>
                  <a:lnTo>
                    <a:pt x="131293" y="118110"/>
                  </a:lnTo>
                  <a:lnTo>
                    <a:pt x="128007" y="123190"/>
                  </a:lnTo>
                  <a:lnTo>
                    <a:pt x="123542" y="124460"/>
                  </a:lnTo>
                  <a:close/>
                </a:path>
                <a:path w="281940" h="223520">
                  <a:moveTo>
                    <a:pt x="259550" y="173990"/>
                  </a:moveTo>
                  <a:lnTo>
                    <a:pt x="212030" y="173990"/>
                  </a:lnTo>
                  <a:lnTo>
                    <a:pt x="217281" y="171450"/>
                  </a:lnTo>
                  <a:lnTo>
                    <a:pt x="219598" y="170180"/>
                  </a:lnTo>
                  <a:lnTo>
                    <a:pt x="223618" y="166370"/>
                  </a:lnTo>
                  <a:lnTo>
                    <a:pt x="225166" y="163830"/>
                  </a:lnTo>
                  <a:lnTo>
                    <a:pt x="227341" y="158750"/>
                  </a:lnTo>
                  <a:lnTo>
                    <a:pt x="227885" y="156210"/>
                  </a:lnTo>
                  <a:lnTo>
                    <a:pt x="227885" y="149860"/>
                  </a:lnTo>
                  <a:lnTo>
                    <a:pt x="212030" y="132080"/>
                  </a:lnTo>
                  <a:lnTo>
                    <a:pt x="259541" y="132080"/>
                  </a:lnTo>
                  <a:lnTo>
                    <a:pt x="259987" y="133350"/>
                  </a:lnTo>
                  <a:lnTo>
                    <a:pt x="272980" y="135890"/>
                  </a:lnTo>
                  <a:lnTo>
                    <a:pt x="277088" y="135890"/>
                  </a:lnTo>
                  <a:lnTo>
                    <a:pt x="280436" y="139700"/>
                  </a:lnTo>
                  <a:lnTo>
                    <a:pt x="281285" y="147320"/>
                  </a:lnTo>
                  <a:lnTo>
                    <a:pt x="281374" y="148590"/>
                  </a:lnTo>
                  <a:lnTo>
                    <a:pt x="281463" y="156210"/>
                  </a:lnTo>
                  <a:lnTo>
                    <a:pt x="281285" y="158750"/>
                  </a:lnTo>
                  <a:lnTo>
                    <a:pt x="280436" y="166370"/>
                  </a:lnTo>
                  <a:lnTo>
                    <a:pt x="277132" y="168910"/>
                  </a:lnTo>
                  <a:lnTo>
                    <a:pt x="272980" y="170180"/>
                  </a:lnTo>
                  <a:lnTo>
                    <a:pt x="259987" y="172720"/>
                  </a:lnTo>
                  <a:lnTo>
                    <a:pt x="259550" y="173990"/>
                  </a:lnTo>
                  <a:close/>
                </a:path>
                <a:path w="281940" h="223520">
                  <a:moveTo>
                    <a:pt x="73759" y="149860"/>
                  </a:moveTo>
                  <a:lnTo>
                    <a:pt x="67597" y="149860"/>
                  </a:lnTo>
                  <a:lnTo>
                    <a:pt x="64561" y="148590"/>
                  </a:lnTo>
                  <a:lnTo>
                    <a:pt x="76795" y="148590"/>
                  </a:lnTo>
                  <a:lnTo>
                    <a:pt x="73759" y="149860"/>
                  </a:lnTo>
                  <a:close/>
                </a:path>
                <a:path w="281940" h="223520">
                  <a:moveTo>
                    <a:pt x="231859" y="223520"/>
                  </a:moveTo>
                  <a:lnTo>
                    <a:pt x="227439" y="222250"/>
                  </a:lnTo>
                  <a:lnTo>
                    <a:pt x="224834" y="219898"/>
                  </a:lnTo>
                  <a:lnTo>
                    <a:pt x="215830" y="209550"/>
                  </a:lnTo>
                  <a:lnTo>
                    <a:pt x="255310" y="209550"/>
                  </a:lnTo>
                  <a:lnTo>
                    <a:pt x="255031" y="210820"/>
                  </a:lnTo>
                  <a:lnTo>
                    <a:pt x="249540" y="214630"/>
                  </a:lnTo>
                  <a:lnTo>
                    <a:pt x="245119" y="217170"/>
                  </a:lnTo>
                  <a:lnTo>
                    <a:pt x="242708" y="218440"/>
                  </a:lnTo>
                  <a:lnTo>
                    <a:pt x="240515" y="219687"/>
                  </a:lnTo>
                  <a:lnTo>
                    <a:pt x="235788" y="222250"/>
                  </a:lnTo>
                  <a:lnTo>
                    <a:pt x="231859" y="223520"/>
                  </a:lnTo>
                  <a:close/>
                </a:path>
              </a:pathLst>
            </a:custGeom>
            <a:solidFill>
              <a:srgbClr val="A8D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="" xmlns:a16="http://schemas.microsoft.com/office/drawing/2014/main" id="{D7E07878-0763-6B69-6D37-969C8D0A2729}"/>
                </a:ext>
              </a:extLst>
            </p:cNvPr>
            <p:cNvSpPr/>
            <p:nvPr/>
          </p:nvSpPr>
          <p:spPr>
            <a:xfrm>
              <a:off x="762000" y="478154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19" y="470152"/>
                  </a:lnTo>
                  <a:lnTo>
                    <a:pt x="139793" y="455138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1"/>
                  </a:lnTo>
                  <a:lnTo>
                    <a:pt x="199317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3"/>
                  </a:lnTo>
                  <a:lnTo>
                    <a:pt x="461108" y="154202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8"/>
                  </a:lnTo>
                  <a:lnTo>
                    <a:pt x="455139" y="336455"/>
                  </a:lnTo>
                  <a:lnTo>
                    <a:pt x="431785" y="376904"/>
                  </a:lnTo>
                  <a:lnTo>
                    <a:pt x="400990" y="412018"/>
                  </a:lnTo>
                  <a:lnTo>
                    <a:pt x="363935" y="440450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A8D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="" xmlns:a16="http://schemas.microsoft.com/office/drawing/2014/main" id="{DCF96E34-3CFE-7A01-0514-DD3EBCF7FA2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874" y="4905374"/>
              <a:ext cx="200025" cy="228600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="" xmlns:a16="http://schemas.microsoft.com/office/drawing/2014/main" id="{76B7A221-5698-9B2C-8393-1A0D98B5F236}"/>
                </a:ext>
              </a:extLst>
            </p:cNvPr>
            <p:cNvSpPr/>
            <p:nvPr/>
          </p:nvSpPr>
          <p:spPr>
            <a:xfrm>
              <a:off x="762000" y="549592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8"/>
                  </a:lnTo>
                  <a:lnTo>
                    <a:pt x="184019" y="470152"/>
                  </a:lnTo>
                  <a:lnTo>
                    <a:pt x="139793" y="455137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8" y="363934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20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1"/>
                  </a:lnTo>
                  <a:lnTo>
                    <a:pt x="199317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9" y="75258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3"/>
                  </a:lnTo>
                  <a:lnTo>
                    <a:pt x="400990" y="412018"/>
                  </a:lnTo>
                  <a:lnTo>
                    <a:pt x="363935" y="440450"/>
                  </a:lnTo>
                  <a:lnTo>
                    <a:pt x="322046" y="461107"/>
                  </a:lnTo>
                  <a:lnTo>
                    <a:pt x="276931" y="473195"/>
                  </a:lnTo>
                  <a:lnTo>
                    <a:pt x="253703" y="475868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A8D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="" xmlns:a16="http://schemas.microsoft.com/office/drawing/2014/main" id="{DF7152B4-AA5D-AA18-6736-B9389DBBEC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824" y="5619749"/>
              <a:ext cx="228600" cy="228600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="" xmlns:a16="http://schemas.microsoft.com/office/drawing/2014/main" id="{85B6EAEC-758B-F8C4-B5E5-3B61E451C607}"/>
                </a:ext>
              </a:extLst>
            </p:cNvPr>
            <p:cNvSpPr/>
            <p:nvPr/>
          </p:nvSpPr>
          <p:spPr>
            <a:xfrm>
              <a:off x="762000" y="6210299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8"/>
                  </a:lnTo>
                  <a:lnTo>
                    <a:pt x="184019" y="470152"/>
                  </a:lnTo>
                  <a:lnTo>
                    <a:pt x="139793" y="455139"/>
                  </a:lnTo>
                  <a:lnTo>
                    <a:pt x="99345" y="431784"/>
                  </a:lnTo>
                  <a:lnTo>
                    <a:pt x="64230" y="400989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59" y="64230"/>
                  </a:lnTo>
                  <a:lnTo>
                    <a:pt x="112314" y="35797"/>
                  </a:lnTo>
                  <a:lnTo>
                    <a:pt x="154203" y="15140"/>
                  </a:lnTo>
                  <a:lnTo>
                    <a:pt x="199317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09"/>
                  </a:lnTo>
                  <a:lnTo>
                    <a:pt x="376904" y="44463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2"/>
                  </a:lnTo>
                  <a:lnTo>
                    <a:pt x="473195" y="199317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8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5"/>
                  </a:lnTo>
                  <a:lnTo>
                    <a:pt x="253703" y="475868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A8D0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="" xmlns:a16="http://schemas.microsoft.com/office/drawing/2014/main" id="{5FA372C4-33AB-4988-EF12-8D9DA962B01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968" y="6334124"/>
              <a:ext cx="214312" cy="228242"/>
            </a:xfrm>
            <a:prstGeom prst="rect">
              <a:avLst/>
            </a:prstGeom>
          </p:spPr>
        </p:pic>
      </p:grpSp>
      <p:sp>
        <p:nvSpPr>
          <p:cNvPr id="21" name="object 21">
            <a:extLst>
              <a:ext uri="{FF2B5EF4-FFF2-40B4-BE49-F238E27FC236}">
                <a16:creationId xmlns="" xmlns:a16="http://schemas.microsoft.com/office/drawing/2014/main" id="{57733785-C33A-39C2-4AD8-2673C1BF463D}"/>
              </a:ext>
            </a:extLst>
          </p:cNvPr>
          <p:cNvSpPr txBox="1"/>
          <p:nvPr/>
        </p:nvSpPr>
        <p:spPr>
          <a:xfrm>
            <a:off x="571487" y="2108277"/>
            <a:ext cx="8737600" cy="4380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2565" marR="309245">
              <a:lnSpc>
                <a:spcPct val="116700"/>
              </a:lnSpc>
            </a:pPr>
            <a:r>
              <a:rPr sz="1500" spc="-120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DejaVu Sans"/>
                <a:cs typeface="DejaVu Sans"/>
              </a:rPr>
              <a:t>reforma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DejaVu Sans"/>
                <a:cs typeface="DejaVu Sans"/>
              </a:rPr>
              <a:t>tributária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75" dirty="0">
                <a:solidFill>
                  <a:srgbClr val="A8D0FF"/>
                </a:solidFill>
                <a:latin typeface="DejaVu Sans"/>
                <a:cs typeface="DejaVu Sans"/>
              </a:rPr>
              <a:t>Split</a:t>
            </a:r>
            <a:r>
              <a:rPr sz="1500" spc="-1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z="1500" spc="-114" dirty="0">
                <a:solidFill>
                  <a:srgbClr val="A8D0FF"/>
                </a:solidFill>
                <a:latin typeface="DejaVu Sans"/>
                <a:cs typeface="DejaVu Sans"/>
              </a:rPr>
              <a:t>Payment</a:t>
            </a:r>
            <a:r>
              <a:rPr sz="1500" spc="-1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representam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20" dirty="0">
                <a:solidFill>
                  <a:srgbClr val="FFFFFF"/>
                </a:solidFill>
                <a:latin typeface="DejaVu Sans"/>
                <a:cs typeface="DejaVu Sans"/>
              </a:rPr>
              <a:t>uma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0" dirty="0">
                <a:solidFill>
                  <a:srgbClr val="FFFFFF"/>
                </a:solidFill>
                <a:latin typeface="DejaVu Sans"/>
                <a:cs typeface="DejaVu Sans"/>
              </a:rPr>
              <a:t>transformação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DejaVu Sans"/>
                <a:cs typeface="DejaVu Sans"/>
              </a:rPr>
              <a:t>profunda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no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DejaVu Sans"/>
                <a:cs typeface="DejaVu Sans"/>
              </a:rPr>
              <a:t>ambiente </a:t>
            </a:r>
            <a:r>
              <a:rPr sz="1350" spc="-2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scal</a:t>
            </a:r>
            <a:r>
              <a:rPr sz="1500" spc="-3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75" dirty="0">
                <a:solidFill>
                  <a:srgbClr val="FFFFFF"/>
                </a:solidFill>
                <a:latin typeface="DejaVu Sans"/>
                <a:cs typeface="DejaVu Sans"/>
              </a:rPr>
              <a:t>brasileiro</a:t>
            </a:r>
            <a:r>
              <a:rPr sz="1500" spc="-75">
                <a:solidFill>
                  <a:srgbClr val="FFFFFF"/>
                </a:solidFill>
                <a:latin typeface="DejaVu Sans"/>
                <a:cs typeface="DejaVu Sans"/>
              </a:rPr>
              <a:t>.</a:t>
            </a:r>
            <a:r>
              <a:rPr sz="1500" spc="-3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lang="pt-BR" sz="1500" spc="-120" dirty="0" smtClean="0">
                <a:solidFill>
                  <a:srgbClr val="FFFFFF"/>
                </a:solidFill>
                <a:latin typeface="DejaVu Sans"/>
                <a:cs typeface="DejaVu Sans"/>
              </a:rPr>
              <a:t>Eu , Valter Soares Ribeiro, estou</a:t>
            </a:r>
            <a:r>
              <a:rPr sz="1500" spc="-30" smtClean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smtClean="0">
                <a:solidFill>
                  <a:srgbClr val="FFFFFF"/>
                </a:solidFill>
                <a:latin typeface="DejaVu Sans"/>
                <a:cs typeface="DejaVu Sans"/>
              </a:rPr>
              <a:t>preparad</a:t>
            </a:r>
            <a:r>
              <a:rPr lang="pt-BR" sz="1500" spc="-95" dirty="0" smtClean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1500" spc="-30" smtClean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para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DejaVu Sans"/>
                <a:cs typeface="DejaVu Sans"/>
              </a:rPr>
              <a:t>ser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seu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parceiro</a:t>
            </a:r>
            <a:r>
              <a:rPr sz="1500" spc="-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DejaVu Sans"/>
                <a:cs typeface="DejaVu Sans"/>
              </a:rPr>
              <a:t>estratégico </a:t>
            </a:r>
            <a:r>
              <a:rPr sz="1500" spc="-90" dirty="0">
                <a:solidFill>
                  <a:srgbClr val="FFFFFF"/>
                </a:solidFill>
                <a:latin typeface="DejaVu Sans"/>
                <a:cs typeface="DejaVu Sans"/>
              </a:rPr>
              <a:t>nesta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0" dirty="0">
                <a:solidFill>
                  <a:srgbClr val="FFFFFF"/>
                </a:solidFill>
                <a:latin typeface="DejaVu Sans"/>
                <a:cs typeface="DejaVu Sans"/>
              </a:rPr>
              <a:t>jornada,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protegendo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5" dirty="0">
                <a:solidFill>
                  <a:srgbClr val="FFFFFF"/>
                </a:solidFill>
                <a:latin typeface="DejaVu Sans"/>
                <a:cs typeface="DejaVu Sans"/>
              </a:rPr>
              <a:t>seus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80" dirty="0">
                <a:solidFill>
                  <a:srgbClr val="FFFFFF"/>
                </a:solidFill>
                <a:latin typeface="DejaVu Sans"/>
                <a:cs typeface="DejaVu Sans"/>
              </a:rPr>
              <a:t>interesses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DejaVu Sans"/>
                <a:cs typeface="DejaVu Sans"/>
              </a:rPr>
              <a:t>e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0" dirty="0">
                <a:solidFill>
                  <a:srgbClr val="FFFFFF"/>
                </a:solidFill>
                <a:latin typeface="DejaVu Sans"/>
                <a:cs typeface="DejaVu Sans"/>
              </a:rPr>
              <a:t>transformando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DejaVu Sans"/>
                <a:cs typeface="DejaVu Sans"/>
              </a:rPr>
              <a:t>desa</a:t>
            </a:r>
            <a:r>
              <a:rPr sz="1350" spc="-60" dirty="0">
                <a:solidFill>
                  <a:srgbClr val="FFFFFF"/>
                </a:solidFill>
                <a:latin typeface="Arial"/>
                <a:cs typeface="Arial"/>
              </a:rPr>
              <a:t>ﬁ</a:t>
            </a:r>
            <a:r>
              <a:rPr sz="1500" spc="-60" dirty="0">
                <a:solidFill>
                  <a:srgbClr val="FFFFFF"/>
                </a:solidFill>
                <a:latin typeface="DejaVu Sans"/>
                <a:cs typeface="DejaVu Sans"/>
              </a:rPr>
              <a:t>os</a:t>
            </a:r>
            <a:r>
              <a:rPr sz="1500" spc="-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125" dirty="0">
                <a:solidFill>
                  <a:srgbClr val="FFFFFF"/>
                </a:solidFill>
                <a:latin typeface="DejaVu Sans"/>
                <a:cs typeface="DejaVu Sans"/>
              </a:rPr>
              <a:t>em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90" dirty="0">
                <a:solidFill>
                  <a:srgbClr val="FFFFFF"/>
                </a:solidFill>
                <a:latin typeface="DejaVu Sans"/>
                <a:cs typeface="DejaVu Sans"/>
              </a:rPr>
              <a:t>oportunidades</a:t>
            </a:r>
            <a:r>
              <a:rPr sz="15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DejaVu Sans"/>
                <a:cs typeface="DejaVu Sans"/>
              </a:rPr>
              <a:t>de </a:t>
            </a:r>
            <a:r>
              <a:rPr sz="1500" spc="-10" dirty="0">
                <a:solidFill>
                  <a:srgbClr val="FFFFFF"/>
                </a:solidFill>
                <a:latin typeface="DejaVu Sans"/>
                <a:cs typeface="DejaVu Sans"/>
              </a:rPr>
              <a:t>crescimento.</a:t>
            </a:r>
            <a:endParaRPr sz="1500" dirty="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</a:pPr>
            <a:endParaRPr sz="1350" dirty="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50" dirty="0">
              <a:latin typeface="DejaVu Sans"/>
              <a:cs typeface="DejaVu Sans"/>
            </a:endParaRPr>
          </a:p>
          <a:p>
            <a:pPr marL="12700">
              <a:lnSpc>
                <a:spcPct val="100000"/>
              </a:lnSpc>
            </a:pPr>
            <a:r>
              <a:rPr sz="1650" b="1" spc="-140" dirty="0">
                <a:solidFill>
                  <a:srgbClr val="93C4FD"/>
                </a:solidFill>
                <a:latin typeface="DejaVu Sans"/>
                <a:cs typeface="DejaVu Sans"/>
              </a:rPr>
              <a:t>NOSSOS</a:t>
            </a:r>
            <a:r>
              <a:rPr sz="1650" b="1" spc="-1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650" b="1" spc="-25" dirty="0">
                <a:solidFill>
                  <a:srgbClr val="93C4FD"/>
                </a:solidFill>
                <a:latin typeface="DejaVu Sans"/>
                <a:cs typeface="DejaVu Sans"/>
              </a:rPr>
              <a:t>DIFERENCIAIS</a:t>
            </a:r>
            <a:endParaRPr sz="1650" dirty="0">
              <a:latin typeface="DejaVu Sans"/>
              <a:cs typeface="DejaVu Sans"/>
            </a:endParaRPr>
          </a:p>
          <a:p>
            <a:pPr marL="869315">
              <a:lnSpc>
                <a:spcPct val="100000"/>
              </a:lnSpc>
              <a:spcBef>
                <a:spcPts val="1545"/>
              </a:spcBef>
            </a:pPr>
            <a:r>
              <a:rPr sz="1500" b="1" spc="-100" dirty="0">
                <a:solidFill>
                  <a:srgbClr val="93C4FD"/>
                </a:solidFill>
                <a:latin typeface="DejaVu Sans"/>
                <a:cs typeface="DejaVu Sans"/>
              </a:rPr>
              <a:t>Expertise</a:t>
            </a:r>
            <a:r>
              <a:rPr sz="1500" b="1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00" dirty="0">
                <a:solidFill>
                  <a:srgbClr val="93C4FD"/>
                </a:solidFill>
                <a:latin typeface="DejaVu Sans"/>
                <a:cs typeface="DejaVu Sans"/>
              </a:rPr>
              <a:t>técnica</a:t>
            </a:r>
            <a:r>
              <a:rPr sz="1500" b="1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45" dirty="0">
                <a:solidFill>
                  <a:srgbClr val="93C4FD"/>
                </a:solidFill>
                <a:latin typeface="DejaVu Sans"/>
                <a:cs typeface="DejaVu Sans"/>
              </a:rPr>
              <a:t>em</a:t>
            </a:r>
            <a:r>
              <a:rPr sz="1500" b="1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10" dirty="0">
                <a:solidFill>
                  <a:srgbClr val="93C4FD"/>
                </a:solidFill>
                <a:latin typeface="DejaVu Sans"/>
                <a:cs typeface="DejaVu Sans"/>
              </a:rPr>
              <a:t>reforma</a:t>
            </a:r>
            <a:r>
              <a:rPr sz="1500" b="1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0" dirty="0">
                <a:solidFill>
                  <a:srgbClr val="93C4FD"/>
                </a:solidFill>
                <a:latin typeface="DejaVu Sans"/>
                <a:cs typeface="DejaVu Sans"/>
              </a:rPr>
              <a:t>tributária</a:t>
            </a:r>
            <a:endParaRPr sz="1500" dirty="0">
              <a:latin typeface="DejaVu Sans"/>
              <a:cs typeface="DejaVu Sans"/>
            </a:endParaRPr>
          </a:p>
          <a:p>
            <a:pPr marL="869315">
              <a:lnSpc>
                <a:spcPct val="100000"/>
              </a:lnSpc>
              <a:spcBef>
                <a:spcPts val="275"/>
              </a:spcBef>
            </a:pP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Equipe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especializada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constantemente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atualizada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sobre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as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mudanças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050" spc="-20" dirty="0">
                <a:solidFill>
                  <a:srgbClr val="D0D5DA"/>
                </a:solidFill>
                <a:latin typeface="Arial"/>
                <a:cs typeface="Arial"/>
              </a:rPr>
              <a:t>ﬁ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scais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o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Split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Payment</a:t>
            </a:r>
            <a:endParaRPr sz="1150" dirty="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050" dirty="0">
              <a:latin typeface="DejaVu Sans"/>
              <a:cs typeface="DejaVu Sans"/>
            </a:endParaRPr>
          </a:p>
          <a:p>
            <a:pPr marL="869315">
              <a:lnSpc>
                <a:spcPct val="100000"/>
              </a:lnSpc>
            </a:pPr>
            <a:r>
              <a:rPr sz="1500" b="1" spc="-120" dirty="0">
                <a:solidFill>
                  <a:srgbClr val="93C4FD"/>
                </a:solidFill>
                <a:latin typeface="DejaVu Sans"/>
                <a:cs typeface="DejaVu Sans"/>
              </a:rPr>
              <a:t>Acompanhamento</a:t>
            </a:r>
            <a:r>
              <a:rPr sz="1500" b="1" spc="-3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95" dirty="0">
                <a:solidFill>
                  <a:srgbClr val="93C4FD"/>
                </a:solidFill>
                <a:latin typeface="DejaVu Sans"/>
                <a:cs typeface="DejaVu Sans"/>
              </a:rPr>
              <a:t>personalizado</a:t>
            </a:r>
            <a:r>
              <a:rPr sz="1500" b="1" spc="-3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45" dirty="0">
                <a:solidFill>
                  <a:srgbClr val="93C4FD"/>
                </a:solidFill>
                <a:latin typeface="DejaVu Sans"/>
                <a:cs typeface="DejaVu Sans"/>
              </a:rPr>
              <a:t>em</a:t>
            </a:r>
            <a:r>
              <a:rPr sz="1500" b="1" spc="-3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10" dirty="0">
                <a:solidFill>
                  <a:srgbClr val="93C4FD"/>
                </a:solidFill>
                <a:latin typeface="DejaVu Sans"/>
                <a:cs typeface="DejaVu Sans"/>
              </a:rPr>
              <a:t>cada</a:t>
            </a:r>
            <a:r>
              <a:rPr sz="1500" b="1" spc="-3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0" dirty="0">
                <a:solidFill>
                  <a:srgbClr val="93C4FD"/>
                </a:solidFill>
                <a:latin typeface="DejaVu Sans"/>
                <a:cs typeface="DejaVu Sans"/>
              </a:rPr>
              <a:t>etapa</a:t>
            </a:r>
            <a:endParaRPr sz="1500" dirty="0">
              <a:latin typeface="DejaVu Sans"/>
              <a:cs typeface="DejaVu Sans"/>
            </a:endParaRPr>
          </a:p>
          <a:p>
            <a:pPr marL="869315">
              <a:lnSpc>
                <a:spcPct val="100000"/>
              </a:lnSpc>
              <a:spcBef>
                <a:spcPts val="275"/>
              </a:spcBef>
            </a:pP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Suporte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contínuo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durante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todo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processo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transição,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adaptado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às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necessidades</a:t>
            </a:r>
            <a:r>
              <a:rPr sz="1150" spc="-2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especí</a:t>
            </a:r>
            <a:r>
              <a:rPr sz="1050" spc="-40" dirty="0">
                <a:solidFill>
                  <a:srgbClr val="D0D5DA"/>
                </a:solidFill>
                <a:latin typeface="Arial"/>
                <a:cs typeface="Arial"/>
              </a:rPr>
              <a:t>ﬁ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cas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do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seu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negócio</a:t>
            </a:r>
            <a:endParaRPr sz="1150" dirty="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050" dirty="0">
              <a:latin typeface="DejaVu Sans"/>
              <a:cs typeface="DejaVu Sans"/>
            </a:endParaRPr>
          </a:p>
          <a:p>
            <a:pPr marL="869315">
              <a:lnSpc>
                <a:spcPct val="100000"/>
              </a:lnSpc>
              <a:spcBef>
                <a:spcPts val="5"/>
              </a:spcBef>
            </a:pPr>
            <a:r>
              <a:rPr sz="1500" b="1" spc="-105" dirty="0">
                <a:solidFill>
                  <a:srgbClr val="93C4FD"/>
                </a:solidFill>
                <a:latin typeface="DejaVu Sans"/>
                <a:cs typeface="DejaVu Sans"/>
              </a:rPr>
              <a:t>Soluções</a:t>
            </a:r>
            <a:r>
              <a:rPr sz="150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95" dirty="0">
                <a:solidFill>
                  <a:srgbClr val="93C4FD"/>
                </a:solidFill>
                <a:latin typeface="DejaVu Sans"/>
                <a:cs typeface="DejaVu Sans"/>
              </a:rPr>
              <a:t>integradas</a:t>
            </a:r>
            <a:r>
              <a:rPr sz="150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10" dirty="0">
                <a:solidFill>
                  <a:srgbClr val="93C4FD"/>
                </a:solidFill>
                <a:latin typeface="DejaVu Sans"/>
                <a:cs typeface="DejaVu Sans"/>
              </a:rPr>
              <a:t>para</a:t>
            </a:r>
            <a:r>
              <a:rPr sz="1500" b="1" spc="-2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10" dirty="0">
                <a:solidFill>
                  <a:srgbClr val="93C4FD"/>
                </a:solidFill>
                <a:latin typeface="DejaVu Sans"/>
                <a:cs typeface="DejaVu Sans"/>
              </a:rPr>
              <a:t>adaptação</a:t>
            </a:r>
            <a:r>
              <a:rPr sz="150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10" dirty="0">
                <a:solidFill>
                  <a:srgbClr val="93C4FD"/>
                </a:solidFill>
                <a:latin typeface="DejaVu Sans"/>
                <a:cs typeface="DejaVu Sans"/>
              </a:rPr>
              <a:t>ao</a:t>
            </a:r>
            <a:r>
              <a:rPr sz="1500" b="1" spc="-20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85" dirty="0">
                <a:solidFill>
                  <a:srgbClr val="93C4FD"/>
                </a:solidFill>
                <a:latin typeface="DejaVu Sans"/>
                <a:cs typeface="DejaVu Sans"/>
              </a:rPr>
              <a:t>Split</a:t>
            </a:r>
            <a:r>
              <a:rPr sz="150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0" dirty="0">
                <a:solidFill>
                  <a:srgbClr val="93C4FD"/>
                </a:solidFill>
                <a:latin typeface="DejaVu Sans"/>
                <a:cs typeface="DejaVu Sans"/>
              </a:rPr>
              <a:t>Payment</a:t>
            </a:r>
            <a:endParaRPr sz="1500" dirty="0">
              <a:latin typeface="DejaVu Sans"/>
              <a:cs typeface="DejaVu Sans"/>
            </a:endParaRPr>
          </a:p>
          <a:p>
            <a:pPr marL="869315">
              <a:lnSpc>
                <a:spcPct val="100000"/>
              </a:lnSpc>
              <a:spcBef>
                <a:spcPts val="275"/>
              </a:spcBef>
            </a:pP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Serviços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que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abrangem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desde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análise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40" dirty="0">
                <a:solidFill>
                  <a:srgbClr val="D0D5DA"/>
                </a:solidFill>
                <a:latin typeface="DejaVu Sans"/>
                <a:cs typeface="DejaVu Sans"/>
              </a:rPr>
              <a:t>inicial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até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implementação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completa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das</a:t>
            </a:r>
            <a:r>
              <a:rPr sz="115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mudanças</a:t>
            </a:r>
            <a:r>
              <a:rPr sz="1150" spc="-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0" dirty="0">
                <a:solidFill>
                  <a:srgbClr val="D0D5DA"/>
                </a:solidFill>
                <a:latin typeface="DejaVu Sans"/>
                <a:cs typeface="DejaVu Sans"/>
              </a:rPr>
              <a:t>necessárias</a:t>
            </a:r>
            <a:endParaRPr sz="1150" dirty="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050" dirty="0">
              <a:latin typeface="DejaVu Sans"/>
              <a:cs typeface="DejaVu Sans"/>
            </a:endParaRPr>
          </a:p>
          <a:p>
            <a:pPr marL="869315">
              <a:lnSpc>
                <a:spcPct val="100000"/>
              </a:lnSpc>
            </a:pPr>
            <a:r>
              <a:rPr sz="1500" b="1" spc="-114" dirty="0" err="1">
                <a:solidFill>
                  <a:srgbClr val="93C4FD"/>
                </a:solidFill>
                <a:latin typeface="DejaVu Sans"/>
                <a:cs typeface="DejaVu Sans"/>
              </a:rPr>
              <a:t>Segurança</a:t>
            </a:r>
            <a:r>
              <a:rPr sz="150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10" dirty="0">
                <a:solidFill>
                  <a:srgbClr val="93C4FD"/>
                </a:solidFill>
                <a:latin typeface="DejaVu Sans"/>
                <a:cs typeface="DejaVu Sans"/>
              </a:rPr>
              <a:t>para</a:t>
            </a:r>
            <a:r>
              <a:rPr sz="150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10" dirty="0">
                <a:solidFill>
                  <a:srgbClr val="93C4FD"/>
                </a:solidFill>
                <a:latin typeface="DejaVu Sans"/>
                <a:cs typeface="DejaVu Sans"/>
              </a:rPr>
              <a:t>seu</a:t>
            </a:r>
            <a:r>
              <a:rPr sz="1500" b="1" spc="-25" dirty="0">
                <a:solidFill>
                  <a:srgbClr val="93C4FD"/>
                </a:solidFill>
                <a:latin typeface="DejaVu Sans"/>
                <a:cs typeface="DejaVu Sans"/>
              </a:rPr>
              <a:t> </a:t>
            </a:r>
            <a:r>
              <a:rPr sz="1500" b="1" spc="-10" dirty="0">
                <a:solidFill>
                  <a:srgbClr val="93C4FD"/>
                </a:solidFill>
                <a:latin typeface="DejaVu Sans"/>
                <a:cs typeface="DejaVu Sans"/>
              </a:rPr>
              <a:t>negócio</a:t>
            </a:r>
            <a:endParaRPr sz="1500" dirty="0">
              <a:latin typeface="DejaVu Sans"/>
              <a:cs typeface="DejaVu Sans"/>
            </a:endParaRPr>
          </a:p>
          <a:p>
            <a:pPr marL="869315">
              <a:lnSpc>
                <a:spcPct val="100000"/>
              </a:lnSpc>
              <a:spcBef>
                <a:spcPts val="275"/>
              </a:spcBef>
            </a:pPr>
            <a:r>
              <a:rPr sz="1150" spc="-55" dirty="0">
                <a:solidFill>
                  <a:srgbClr val="D0D5DA"/>
                </a:solidFill>
                <a:latin typeface="DejaVu Sans"/>
                <a:cs typeface="DejaVu Sans"/>
              </a:rPr>
              <a:t>Garantia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conformidade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5" dirty="0">
                <a:solidFill>
                  <a:srgbClr val="D0D5DA"/>
                </a:solidFill>
                <a:latin typeface="DejaVu Sans"/>
                <a:cs typeface="DejaVu Sans"/>
              </a:rPr>
              <a:t>com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a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50" dirty="0">
                <a:solidFill>
                  <a:srgbClr val="D0D5DA"/>
                </a:solidFill>
                <a:latin typeface="DejaVu Sans"/>
                <a:cs typeface="DejaVu Sans"/>
              </a:rPr>
              <a:t>legislação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80" dirty="0">
                <a:solidFill>
                  <a:srgbClr val="D0D5DA"/>
                </a:solidFill>
                <a:latin typeface="DejaVu Sans"/>
                <a:cs typeface="DejaVu Sans"/>
              </a:rPr>
              <a:t>e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minimização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riscos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durante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0" dirty="0">
                <a:solidFill>
                  <a:srgbClr val="D0D5DA"/>
                </a:solidFill>
                <a:latin typeface="DejaVu Sans"/>
                <a:cs typeface="DejaVu Sans"/>
              </a:rPr>
              <a:t>o</a:t>
            </a:r>
            <a:r>
              <a:rPr sz="1150" spc="-20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65" dirty="0">
                <a:solidFill>
                  <a:srgbClr val="D0D5DA"/>
                </a:solidFill>
                <a:latin typeface="DejaVu Sans"/>
                <a:cs typeface="DejaVu Sans"/>
              </a:rPr>
              <a:t>período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70" dirty="0">
                <a:solidFill>
                  <a:srgbClr val="D0D5DA"/>
                </a:solidFill>
                <a:latin typeface="DejaVu Sans"/>
                <a:cs typeface="DejaVu Sans"/>
              </a:rPr>
              <a:t>de</a:t>
            </a:r>
            <a:r>
              <a:rPr sz="1150" spc="-15" dirty="0">
                <a:solidFill>
                  <a:srgbClr val="D0D5DA"/>
                </a:solidFill>
                <a:latin typeface="DejaVu Sans"/>
                <a:cs typeface="DejaVu Sans"/>
              </a:rPr>
              <a:t> </a:t>
            </a:r>
            <a:r>
              <a:rPr sz="1150" spc="-10" dirty="0" err="1">
                <a:solidFill>
                  <a:srgbClr val="D0D5DA"/>
                </a:solidFill>
                <a:latin typeface="DejaVu Sans"/>
                <a:cs typeface="DejaVu Sans"/>
              </a:rPr>
              <a:t>transição</a:t>
            </a:r>
            <a:endParaRPr sz="1150" dirty="0">
              <a:latin typeface="DejaVu Sans"/>
              <a:cs typeface="DejaVu Sans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A2FDEA9D-FD27-71C7-AEE1-9F194FEA0902}"/>
              </a:ext>
            </a:extLst>
          </p:cNvPr>
          <p:cNvSpPr txBox="1"/>
          <p:nvPr/>
        </p:nvSpPr>
        <p:spPr>
          <a:xfrm>
            <a:off x="546100" y="1163919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sz="1800" spc="-150" dirty="0">
                <a:solidFill>
                  <a:srgbClr val="A8D0FF"/>
                </a:solidFill>
                <a:latin typeface="DejaVu Sans"/>
                <a:cs typeface="DejaVu Sans"/>
              </a:rPr>
              <a:t>Transformando</a:t>
            </a:r>
            <a:r>
              <a:rPr lang="pt-BR" sz="1800" spc="-2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z="1800" spc="-75" dirty="0" err="1">
                <a:solidFill>
                  <a:srgbClr val="A8D0FF"/>
                </a:solidFill>
                <a:latin typeface="DejaVu Sans"/>
                <a:cs typeface="DejaVu Sans"/>
              </a:rPr>
              <a:t>desa</a:t>
            </a:r>
            <a:r>
              <a:rPr lang="pt-BR" sz="1600" spc="-75" dirty="0" err="1">
                <a:solidFill>
                  <a:srgbClr val="A8D0FF"/>
                </a:solidFill>
                <a:latin typeface="Arial"/>
                <a:cs typeface="Arial"/>
              </a:rPr>
              <a:t>ﬁ</a:t>
            </a:r>
            <a:r>
              <a:rPr lang="pt-BR" sz="1800" spc="-75" dirty="0" err="1">
                <a:solidFill>
                  <a:srgbClr val="A8D0FF"/>
                </a:solidFill>
                <a:latin typeface="DejaVu Sans"/>
                <a:cs typeface="DejaVu Sans"/>
              </a:rPr>
              <a:t>os</a:t>
            </a:r>
            <a:r>
              <a:rPr lang="pt-BR" sz="1800" spc="-1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z="1800" spc="-170" dirty="0">
                <a:solidFill>
                  <a:srgbClr val="A8D0FF"/>
                </a:solidFill>
                <a:latin typeface="DejaVu Sans"/>
                <a:cs typeface="DejaVu Sans"/>
              </a:rPr>
              <a:t>em</a:t>
            </a:r>
            <a:r>
              <a:rPr lang="pt-BR" sz="1800" spc="-15" dirty="0">
                <a:solidFill>
                  <a:srgbClr val="A8D0FF"/>
                </a:solidFill>
                <a:latin typeface="DejaVu Sans"/>
                <a:cs typeface="DejaVu Sans"/>
              </a:rPr>
              <a:t> </a:t>
            </a:r>
            <a:r>
              <a:rPr lang="pt-BR" sz="1800" spc="-35" dirty="0">
                <a:solidFill>
                  <a:srgbClr val="A8D0FF"/>
                </a:solidFill>
                <a:latin typeface="DejaVu Sans"/>
                <a:cs typeface="DejaVu Sans"/>
              </a:rPr>
              <a:t>oportunidades</a:t>
            </a:r>
            <a:endParaRPr lang="pt-BR" sz="1800" dirty="0">
              <a:latin typeface="DejaVu Sans"/>
              <a:cs typeface="DejaVu San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5656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0">
            <a:extLst>
              <a:ext uri="{FF2B5EF4-FFF2-40B4-BE49-F238E27FC236}">
                <a16:creationId xmlns="" xmlns:a16="http://schemas.microsoft.com/office/drawing/2014/main" id="{BBF39AD0-4EB6-C652-2A74-8EE133EC2432}"/>
              </a:ext>
            </a:extLst>
          </p:cNvPr>
          <p:cNvSpPr/>
          <p:nvPr/>
        </p:nvSpPr>
        <p:spPr>
          <a:xfrm>
            <a:off x="1875437" y="3625749"/>
            <a:ext cx="6619265" cy="1346093"/>
          </a:xfrm>
          <a:custGeom>
            <a:avLst/>
            <a:gdLst/>
            <a:ahLst/>
            <a:cxnLst/>
            <a:rect l="l" t="t" r="r" b="b"/>
            <a:pathLst>
              <a:path w="8572500" h="971550">
                <a:moveTo>
                  <a:pt x="0" y="971549"/>
                </a:moveTo>
                <a:lnTo>
                  <a:pt x="8572499" y="971549"/>
                </a:lnTo>
                <a:lnTo>
                  <a:pt x="8572499" y="0"/>
                </a:lnTo>
                <a:lnTo>
                  <a:pt x="0" y="0"/>
                </a:lnTo>
                <a:lnTo>
                  <a:pt x="0" y="971549"/>
                </a:lnTo>
                <a:close/>
              </a:path>
            </a:pathLst>
          </a:custGeom>
          <a:solidFill>
            <a:srgbClr val="A8D0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599" cy="731519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962400" y="302202"/>
            <a:ext cx="3632200" cy="24109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pt-BR" sz="1450" b="1" spc="-95" dirty="0" smtClean="0">
                <a:solidFill>
                  <a:srgbClr val="DFF0FF"/>
                </a:solidFill>
                <a:latin typeface="DejaVu Sans"/>
                <a:cs typeface="DejaVu Sans"/>
              </a:rPr>
              <a:t>VSR - CONTABILIDADE</a:t>
            </a:r>
            <a:endParaRPr sz="1450" dirty="0"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14064" y="741544"/>
            <a:ext cx="3238015" cy="546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pt-BR" spc="-275" dirty="0"/>
              <a:t>Conte Conosco</a:t>
            </a:r>
            <a:endParaRPr spc="-275" dirty="0"/>
          </a:p>
        </p:txBody>
      </p:sp>
      <p:sp>
        <p:nvSpPr>
          <p:cNvPr id="22" name="object 8">
            <a:extLst>
              <a:ext uri="{FF2B5EF4-FFF2-40B4-BE49-F238E27FC236}">
                <a16:creationId xmlns="" xmlns:a16="http://schemas.microsoft.com/office/drawing/2014/main" id="{A70AA86A-CD04-CF66-54F0-C45D6440FA50}"/>
              </a:ext>
            </a:extLst>
          </p:cNvPr>
          <p:cNvSpPr txBox="1"/>
          <p:nvPr/>
        </p:nvSpPr>
        <p:spPr>
          <a:xfrm>
            <a:off x="3608921" y="7621327"/>
            <a:ext cx="2012314" cy="212108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299" spc="-80" dirty="0">
                <a:solidFill>
                  <a:srgbClr val="FFFFFF"/>
                </a:solidFill>
                <a:latin typeface="Montserrat Light"/>
                <a:cs typeface="Montserrat Light"/>
              </a:rPr>
              <a:t>Obrigado</a:t>
            </a:r>
            <a:r>
              <a:rPr sz="1299" spc="-26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1299" spc="-80" dirty="0">
                <a:solidFill>
                  <a:srgbClr val="FFFFFF"/>
                </a:solidFill>
                <a:latin typeface="Montserrat Light"/>
                <a:cs typeface="Montserrat Light"/>
              </a:rPr>
              <a:t>por</a:t>
            </a:r>
            <a:r>
              <a:rPr sz="1299" spc="-26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1299" spc="-80" dirty="0">
                <a:solidFill>
                  <a:srgbClr val="FFFFFF"/>
                </a:solidFill>
                <a:latin typeface="Montserrat Light"/>
                <a:cs typeface="Montserrat Light"/>
              </a:rPr>
              <a:t>acompanhar</a:t>
            </a:r>
            <a:endParaRPr sz="1299" dirty="0">
              <a:latin typeface="Montserrat Light"/>
              <a:cs typeface="Montserrat Light"/>
            </a:endParaRPr>
          </a:p>
        </p:txBody>
      </p:sp>
      <p:sp>
        <p:nvSpPr>
          <p:cNvPr id="23" name="object 33">
            <a:extLst>
              <a:ext uri="{FF2B5EF4-FFF2-40B4-BE49-F238E27FC236}">
                <a16:creationId xmlns="" xmlns:a16="http://schemas.microsoft.com/office/drawing/2014/main" id="{4DDE2B75-67B8-4F8C-F5BF-577529AB6BBE}"/>
              </a:ext>
            </a:extLst>
          </p:cNvPr>
          <p:cNvSpPr txBox="1"/>
          <p:nvPr/>
        </p:nvSpPr>
        <p:spPr>
          <a:xfrm>
            <a:off x="1875437" y="1761189"/>
            <a:ext cx="6477001" cy="1177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1"/>
              </a:spcBef>
            </a:pPr>
            <a:r>
              <a:rPr b="1" spc="-80" dirty="0">
                <a:solidFill>
                  <a:srgbClr val="FFFFFF"/>
                </a:solidFill>
                <a:latin typeface="Montserrat SemiBold"/>
                <a:cs typeface="Montserrat SemiBold"/>
              </a:rPr>
              <a:t>AGENDE</a:t>
            </a:r>
            <a:r>
              <a:rPr b="1" spc="11" dirty="0">
                <a:solidFill>
                  <a:srgbClr val="FFFFFF"/>
                </a:solidFill>
                <a:latin typeface="Montserrat SemiBold"/>
                <a:cs typeface="Montserrat SemiBold"/>
              </a:rPr>
              <a:t> </a:t>
            </a:r>
            <a:r>
              <a:rPr b="1" spc="-86" dirty="0">
                <a:solidFill>
                  <a:srgbClr val="FFFFFF"/>
                </a:solidFill>
                <a:latin typeface="Montserrat SemiBold"/>
                <a:cs typeface="Montserrat SemiBold"/>
              </a:rPr>
              <a:t>UMA</a:t>
            </a:r>
            <a:r>
              <a:rPr b="1" spc="11" dirty="0">
                <a:solidFill>
                  <a:srgbClr val="FFFFFF"/>
                </a:solidFill>
                <a:latin typeface="Montserrat SemiBold"/>
                <a:cs typeface="Montserrat SemiBold"/>
              </a:rPr>
              <a:t> </a:t>
            </a:r>
            <a:r>
              <a:rPr b="1" spc="-105" dirty="0">
                <a:solidFill>
                  <a:srgbClr val="FFFFFF"/>
                </a:solidFill>
                <a:latin typeface="Montserrat SemiBold"/>
                <a:cs typeface="Montserrat SemiBold"/>
              </a:rPr>
              <a:t>CONSULTA</a:t>
            </a:r>
            <a:r>
              <a:rPr b="1" spc="11" dirty="0">
                <a:solidFill>
                  <a:srgbClr val="FFFFFF"/>
                </a:solidFill>
                <a:latin typeface="Montserrat SemiBold"/>
                <a:cs typeface="Montserrat SemiBold"/>
              </a:rPr>
              <a:t> </a:t>
            </a:r>
            <a:r>
              <a:rPr b="1" spc="-11" dirty="0">
                <a:solidFill>
                  <a:srgbClr val="FFFFFF"/>
                </a:solidFill>
                <a:latin typeface="Montserrat SemiBold"/>
                <a:cs typeface="Montserrat SemiBold"/>
              </a:rPr>
              <a:t>ESPECIALIZADA</a:t>
            </a:r>
            <a:endParaRPr lang="pt-BR" b="1" spc="-11" dirty="0">
              <a:solidFill>
                <a:srgbClr val="FFFFFF"/>
              </a:solidFill>
              <a:latin typeface="Montserrat SemiBold"/>
              <a:cs typeface="Montserrat SemiBold"/>
            </a:endParaRPr>
          </a:p>
          <a:p>
            <a:pPr algn="ctr">
              <a:spcBef>
                <a:spcPts val="101"/>
              </a:spcBef>
            </a:pPr>
            <a:endParaRPr lang="pt-BR" sz="800" b="1" spc="-11" dirty="0">
              <a:solidFill>
                <a:srgbClr val="FFFFFF"/>
              </a:solidFill>
              <a:latin typeface="Montserrat SemiBold"/>
              <a:cs typeface="Montserrat"/>
            </a:endParaRPr>
          </a:p>
          <a:p>
            <a:pPr algn="ctr">
              <a:spcBef>
                <a:spcPts val="101"/>
              </a:spcBef>
            </a:pPr>
            <a:r>
              <a:rPr sz="1600" spc="-90" dirty="0">
                <a:solidFill>
                  <a:srgbClr val="FFFFFF"/>
                </a:solidFill>
                <a:latin typeface="Montserrat"/>
                <a:cs typeface="Montserrat"/>
              </a:rPr>
              <a:t>Estamos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Montserrat"/>
                <a:cs typeface="Montserrat"/>
              </a:rPr>
              <a:t>prontos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Montserrat"/>
                <a:cs typeface="Montserrat"/>
              </a:rPr>
              <a:t>para</a:t>
            </a:r>
            <a:r>
              <a:rPr sz="1600" spc="-1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71" dirty="0">
                <a:solidFill>
                  <a:srgbClr val="FFFFFF"/>
                </a:solidFill>
                <a:latin typeface="Montserrat"/>
                <a:cs typeface="Montserrat"/>
              </a:rPr>
              <a:t>construir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80" dirty="0">
                <a:solidFill>
                  <a:srgbClr val="FFFFFF"/>
                </a:solidFill>
                <a:latin typeface="Montserrat"/>
                <a:cs typeface="Montserrat"/>
              </a:rPr>
              <a:t>junto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114" dirty="0">
                <a:solidFill>
                  <a:srgbClr val="FFFFFF"/>
                </a:solidFill>
                <a:latin typeface="Montserrat"/>
                <a:cs typeface="Montserrat"/>
              </a:rPr>
              <a:t>com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Montserrat"/>
                <a:cs typeface="Montserrat"/>
              </a:rPr>
              <a:t>você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Montserrat"/>
                <a:cs typeface="Montserrat"/>
              </a:rPr>
              <a:t>um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86" dirty="0">
                <a:solidFill>
                  <a:srgbClr val="FFFFFF"/>
                </a:solidFill>
                <a:latin typeface="Montserrat"/>
                <a:cs typeface="Montserrat"/>
              </a:rPr>
              <a:t>plano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Montserrat"/>
                <a:cs typeface="Montserrat"/>
              </a:rPr>
              <a:t>personalizado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26" dirty="0">
                <a:solidFill>
                  <a:srgbClr val="FFFFFF"/>
                </a:solidFill>
                <a:latin typeface="Montserrat"/>
                <a:cs typeface="Montserrat"/>
              </a:rPr>
              <a:t>de </a:t>
            </a:r>
            <a:r>
              <a:rPr sz="1600" spc="-80" dirty="0">
                <a:solidFill>
                  <a:srgbClr val="FFFFFF"/>
                </a:solidFill>
                <a:latin typeface="Montserrat"/>
                <a:cs typeface="Montserrat"/>
              </a:rPr>
              <a:t>adaptação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Montserrat"/>
                <a:cs typeface="Montserrat"/>
              </a:rPr>
              <a:t>ao</a:t>
            </a:r>
            <a:r>
              <a:rPr sz="16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71" dirty="0">
                <a:solidFill>
                  <a:srgbClr val="FFFFFF"/>
                </a:solidFill>
                <a:latin typeface="Montserrat"/>
                <a:cs typeface="Montserrat"/>
              </a:rPr>
              <a:t>Split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101" dirty="0">
                <a:solidFill>
                  <a:srgbClr val="FFFFFF"/>
                </a:solidFill>
                <a:latin typeface="Montserrat"/>
                <a:cs typeface="Montserrat"/>
              </a:rPr>
              <a:t>Payment</a:t>
            </a:r>
            <a:r>
              <a:rPr sz="16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Montserrat"/>
                <a:cs typeface="Montserrat"/>
              </a:rPr>
              <a:t>e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Montserrat"/>
                <a:cs typeface="Montserrat"/>
              </a:rPr>
              <a:t>às</a:t>
            </a:r>
            <a:r>
              <a:rPr sz="16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Montserrat"/>
                <a:cs typeface="Montserrat"/>
              </a:rPr>
              <a:t>novas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Montserrat"/>
                <a:cs typeface="Montserrat"/>
              </a:rPr>
              <a:t>regras</a:t>
            </a:r>
            <a:r>
              <a:rPr sz="1600" spc="-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600" spc="-11" dirty="0">
                <a:solidFill>
                  <a:srgbClr val="FFFFFF"/>
                </a:solidFill>
                <a:latin typeface="Montserrat"/>
                <a:cs typeface="Montserrat"/>
              </a:rPr>
              <a:t>tributárias.</a:t>
            </a:r>
            <a:endParaRPr sz="1600" dirty="0">
              <a:latin typeface="Montserrat"/>
              <a:cs typeface="Montserrat"/>
            </a:endParaRPr>
          </a:p>
        </p:txBody>
      </p:sp>
      <p:grpSp>
        <p:nvGrpSpPr>
          <p:cNvPr id="25" name="object 35">
            <a:extLst>
              <a:ext uri="{FF2B5EF4-FFF2-40B4-BE49-F238E27FC236}">
                <a16:creationId xmlns="" xmlns:a16="http://schemas.microsoft.com/office/drawing/2014/main" id="{5892E2FC-9409-BEE5-1181-802F82CB9DB6}"/>
              </a:ext>
            </a:extLst>
          </p:cNvPr>
          <p:cNvGrpSpPr/>
          <p:nvPr/>
        </p:nvGrpSpPr>
        <p:grpSpPr>
          <a:xfrm>
            <a:off x="3733800" y="4189874"/>
            <a:ext cx="568390" cy="575563"/>
            <a:chOff x="2825873" y="16596395"/>
            <a:chExt cx="568390" cy="575563"/>
          </a:xfrm>
        </p:grpSpPr>
        <p:pic>
          <p:nvPicPr>
            <p:cNvPr id="26" name="object 36">
              <a:extLst>
                <a:ext uri="{FF2B5EF4-FFF2-40B4-BE49-F238E27FC236}">
                  <a16:creationId xmlns="" xmlns:a16="http://schemas.microsoft.com/office/drawing/2014/main" id="{7A599821-79DD-36F6-5ED1-1C67BA0E711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0033" y="16596395"/>
              <a:ext cx="119368" cy="89526"/>
            </a:xfrm>
            <a:prstGeom prst="rect">
              <a:avLst/>
            </a:prstGeom>
          </p:spPr>
        </p:pic>
        <p:pic>
          <p:nvPicPr>
            <p:cNvPr id="27" name="object 37">
              <a:extLst>
                <a:ext uri="{FF2B5EF4-FFF2-40B4-BE49-F238E27FC236}">
                  <a16:creationId xmlns="" xmlns:a16="http://schemas.microsoft.com/office/drawing/2014/main" id="{A520B71C-53DF-B561-75B9-1B2D29B161D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3985" y="16846318"/>
              <a:ext cx="120278" cy="120278"/>
            </a:xfrm>
            <a:prstGeom prst="rect">
              <a:avLst/>
            </a:prstGeom>
          </p:spPr>
        </p:pic>
        <p:pic>
          <p:nvPicPr>
            <p:cNvPr id="28" name="object 38">
              <a:extLst>
                <a:ext uri="{FF2B5EF4-FFF2-40B4-BE49-F238E27FC236}">
                  <a16:creationId xmlns="" xmlns:a16="http://schemas.microsoft.com/office/drawing/2014/main" id="{677C5E8A-96C7-B277-CB2A-96840D741DA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5873" y="17052007"/>
              <a:ext cx="89526" cy="119951"/>
            </a:xfrm>
            <a:prstGeom prst="rect">
              <a:avLst/>
            </a:prstGeom>
          </p:spPr>
        </p:pic>
      </p:grpSp>
      <p:sp>
        <p:nvSpPr>
          <p:cNvPr id="29" name="object 39">
            <a:extLst>
              <a:ext uri="{FF2B5EF4-FFF2-40B4-BE49-F238E27FC236}">
                <a16:creationId xmlns="" xmlns:a16="http://schemas.microsoft.com/office/drawing/2014/main" id="{86CA740B-6D16-FFD6-9242-9C2DE2FDE46D}"/>
              </a:ext>
            </a:extLst>
          </p:cNvPr>
          <p:cNvSpPr txBox="1"/>
          <p:nvPr/>
        </p:nvSpPr>
        <p:spPr>
          <a:xfrm>
            <a:off x="3608921" y="3799121"/>
            <a:ext cx="2524694" cy="1164935"/>
          </a:xfrm>
          <a:prstGeom prst="rect">
            <a:avLst/>
          </a:prstGeom>
        </p:spPr>
        <p:txBody>
          <a:bodyPr vert="horz" wrap="square" lIns="0" tIns="17781" rIns="0" bIns="0" rtlCol="0">
            <a:spAutoFit/>
          </a:bodyPr>
          <a:lstStyle/>
          <a:p>
            <a:pPr marL="403840">
              <a:spcBef>
                <a:spcPts val="140"/>
              </a:spcBef>
            </a:pPr>
            <a:r>
              <a:rPr sz="1200" b="1" spc="-11" dirty="0">
                <a:solidFill>
                  <a:srgbClr val="FFFFFF"/>
                </a:solidFill>
                <a:latin typeface="Montserrat SemiBold"/>
                <a:cs typeface="Montserrat SemiBold"/>
              </a:rPr>
              <a:t>Entre</a:t>
            </a:r>
            <a:r>
              <a:rPr sz="1200" b="1" spc="-71" dirty="0">
                <a:solidFill>
                  <a:srgbClr val="FFFFFF"/>
                </a:solidFill>
                <a:latin typeface="Montserrat SemiBold"/>
                <a:cs typeface="Montserrat SemiBold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Montserrat SemiBold"/>
                <a:cs typeface="Montserrat SemiBold"/>
              </a:rPr>
              <a:t>em</a:t>
            </a:r>
            <a:r>
              <a:rPr sz="1200" b="1" spc="-65" dirty="0">
                <a:solidFill>
                  <a:srgbClr val="FFFFFF"/>
                </a:solidFill>
                <a:latin typeface="Montserrat SemiBold"/>
                <a:cs typeface="Montserrat SemiBold"/>
              </a:rPr>
              <a:t> </a:t>
            </a:r>
            <a:r>
              <a:rPr sz="1200" b="1" spc="-11" dirty="0" err="1">
                <a:solidFill>
                  <a:srgbClr val="FFFFFF"/>
                </a:solidFill>
                <a:latin typeface="Montserrat SemiBold"/>
                <a:cs typeface="Montserrat SemiBold"/>
              </a:rPr>
              <a:t>contato</a:t>
            </a:r>
            <a:endParaRPr lang="pt-BR" sz="1200" dirty="0">
              <a:latin typeface="Montserrat SemiBold"/>
              <a:cs typeface="Montserrat SemiBold"/>
            </a:endParaRPr>
          </a:p>
          <a:p>
            <a:pPr algn="ctr">
              <a:spcBef>
                <a:spcPts val="1110"/>
              </a:spcBef>
            </a:pPr>
            <a:r>
              <a:rPr lang="pt-BR" sz="1001" spc="-41" dirty="0">
                <a:solidFill>
                  <a:srgbClr val="FFFFFF"/>
                </a:solidFill>
                <a:latin typeface="Montserrat"/>
                <a:cs typeface="Montserrat"/>
              </a:rPr>
              <a:t>v</a:t>
            </a:r>
            <a:r>
              <a:rPr lang="pt-BR" sz="1001" spc="-41" dirty="0" smtClean="0">
                <a:solidFill>
                  <a:srgbClr val="FFFFFF"/>
                </a:solidFill>
                <a:latin typeface="Montserrat"/>
                <a:cs typeface="Montserrat"/>
              </a:rPr>
              <a:t>alter.contabil@curvel.com.br</a:t>
            </a:r>
            <a:endParaRPr lang="pt-BR" sz="1001" dirty="0">
              <a:latin typeface="Montserrat"/>
              <a:cs typeface="Montserrat"/>
            </a:endParaRPr>
          </a:p>
          <a:p>
            <a:pPr marL="760056">
              <a:spcBef>
                <a:spcPts val="795"/>
              </a:spcBef>
            </a:pPr>
            <a:r>
              <a:rPr sz="1001" spc="-20" smtClean="0">
                <a:solidFill>
                  <a:srgbClr val="FFFFFF"/>
                </a:solidFill>
                <a:latin typeface="Montserrat"/>
                <a:cs typeface="Montserrat"/>
              </a:rPr>
              <a:t>(</a:t>
            </a:r>
            <a:r>
              <a:rPr lang="pt-BR" sz="1001" spc="-20" dirty="0" smtClean="0">
                <a:solidFill>
                  <a:srgbClr val="FFFFFF"/>
                </a:solidFill>
                <a:latin typeface="Montserrat"/>
                <a:cs typeface="Montserrat"/>
              </a:rPr>
              <a:t>38</a:t>
            </a:r>
            <a:r>
              <a:rPr sz="1001" spc="-20" smtClean="0">
                <a:solidFill>
                  <a:srgbClr val="FFFFFF"/>
                </a:solidFill>
                <a:latin typeface="Montserrat"/>
                <a:cs typeface="Montserrat"/>
              </a:rPr>
              <a:t>)</a:t>
            </a:r>
            <a:r>
              <a:rPr sz="1001" spc="-15" smtClean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lang="pt-BR" sz="1001" spc="-45" dirty="0" smtClean="0">
                <a:solidFill>
                  <a:srgbClr val="FFFFFF"/>
                </a:solidFill>
                <a:latin typeface="Montserrat"/>
                <a:cs typeface="Montserrat"/>
              </a:rPr>
              <a:t>99118-7421</a:t>
            </a:r>
            <a:endParaRPr sz="1001" dirty="0">
              <a:latin typeface="Montserrat"/>
              <a:cs typeface="Montserrat"/>
            </a:endParaRPr>
          </a:p>
          <a:p>
            <a:pPr marR="21589" algn="ctr">
              <a:spcBef>
                <a:spcPts val="795"/>
              </a:spcBef>
            </a:pPr>
            <a:r>
              <a:rPr sz="1001" spc="-56" dirty="0">
                <a:solidFill>
                  <a:srgbClr val="FFFFFF"/>
                </a:solidFill>
                <a:latin typeface="Montserrat"/>
                <a:cs typeface="Montserrat"/>
              </a:rPr>
              <a:t>Av</a:t>
            </a:r>
            <a:r>
              <a:rPr sz="1001" spc="-56">
                <a:solidFill>
                  <a:srgbClr val="FFFFFF"/>
                </a:solidFill>
                <a:latin typeface="Montserrat"/>
                <a:cs typeface="Montserrat"/>
              </a:rPr>
              <a:t>.</a:t>
            </a:r>
            <a:r>
              <a:rPr sz="1001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lang="pt-BR" sz="1001" spc="-35" dirty="0" smtClean="0">
                <a:solidFill>
                  <a:srgbClr val="FFFFFF"/>
                </a:solidFill>
                <a:latin typeface="Montserrat"/>
                <a:cs typeface="Montserrat"/>
              </a:rPr>
              <a:t>Dep. Renato Azeredo</a:t>
            </a:r>
            <a:r>
              <a:rPr sz="1001" spc="-11" smtClean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001" spc="-45" smtClean="0">
                <a:solidFill>
                  <a:srgbClr val="FFFFFF"/>
                </a:solidFill>
                <a:latin typeface="Montserrat"/>
                <a:cs typeface="Montserrat"/>
              </a:rPr>
              <a:t>10</a:t>
            </a:r>
            <a:r>
              <a:rPr lang="pt-BR" sz="1001" spc="-45" dirty="0" smtClean="0">
                <a:solidFill>
                  <a:srgbClr val="FFFFFF"/>
                </a:solidFill>
                <a:latin typeface="Montserrat"/>
                <a:cs typeface="Montserrat"/>
              </a:rPr>
              <a:t>50 A</a:t>
            </a:r>
            <a:r>
              <a:rPr sz="1001" spc="-15" smtClean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lang="pt-BR" sz="1001" dirty="0" smtClean="0">
                <a:solidFill>
                  <a:srgbClr val="FFFFFF"/>
                </a:solidFill>
                <a:latin typeface="Montserrat"/>
                <a:cs typeface="Montserrat"/>
              </a:rPr>
              <a:t>–</a:t>
            </a:r>
            <a:r>
              <a:rPr sz="1001" spc="-11" smtClean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lang="pt-BR" sz="1001" spc="-35" dirty="0" smtClean="0">
                <a:solidFill>
                  <a:srgbClr val="FFFFFF"/>
                </a:solidFill>
                <a:latin typeface="Montserrat"/>
                <a:cs typeface="Montserrat"/>
              </a:rPr>
              <a:t>Vila de Lourdes – Curvelo MG</a:t>
            </a:r>
            <a:endParaRPr sz="1001" dirty="0">
              <a:latin typeface="Montserrat"/>
              <a:cs typeface="Montserrat"/>
            </a:endParaRPr>
          </a:p>
        </p:txBody>
      </p:sp>
      <p:sp>
        <p:nvSpPr>
          <p:cNvPr id="31" name="object 10">
            <a:extLst>
              <a:ext uri="{FF2B5EF4-FFF2-40B4-BE49-F238E27FC236}">
                <a16:creationId xmlns="" xmlns:a16="http://schemas.microsoft.com/office/drawing/2014/main" id="{F8636F45-A2B2-EC10-4632-3FA62F3CABF6}"/>
              </a:ext>
            </a:extLst>
          </p:cNvPr>
          <p:cNvSpPr/>
          <p:nvPr/>
        </p:nvSpPr>
        <p:spPr>
          <a:xfrm>
            <a:off x="1804304" y="2069659"/>
            <a:ext cx="6619265" cy="971550"/>
          </a:xfrm>
          <a:custGeom>
            <a:avLst/>
            <a:gdLst/>
            <a:ahLst/>
            <a:cxnLst/>
            <a:rect l="l" t="t" r="r" b="b"/>
            <a:pathLst>
              <a:path w="8572500" h="971550">
                <a:moveTo>
                  <a:pt x="0" y="971549"/>
                </a:moveTo>
                <a:lnTo>
                  <a:pt x="8572499" y="971549"/>
                </a:lnTo>
                <a:lnTo>
                  <a:pt x="8572499" y="0"/>
                </a:lnTo>
                <a:lnTo>
                  <a:pt x="0" y="0"/>
                </a:lnTo>
                <a:lnTo>
                  <a:pt x="0" y="971549"/>
                </a:lnTo>
                <a:close/>
              </a:path>
            </a:pathLst>
          </a:custGeom>
          <a:solidFill>
            <a:srgbClr val="A8D0FF">
              <a:alpha val="10198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3" name="object 17">
            <a:extLst>
              <a:ext uri="{FF2B5EF4-FFF2-40B4-BE49-F238E27FC236}">
                <a16:creationId xmlns="" xmlns:a16="http://schemas.microsoft.com/office/drawing/2014/main" id="{2A91DDFB-70E5-41AC-CCF2-43683EC5E94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6101" y="5345393"/>
            <a:ext cx="6619264" cy="1283213"/>
          </a:xfrm>
          <a:prstGeom prst="rect">
            <a:avLst/>
          </a:prstGeom>
        </p:spPr>
      </p:pic>
      <p:sp>
        <p:nvSpPr>
          <p:cNvPr id="30" name="object 40">
            <a:extLst>
              <a:ext uri="{FF2B5EF4-FFF2-40B4-BE49-F238E27FC236}">
                <a16:creationId xmlns="" xmlns:a16="http://schemas.microsoft.com/office/drawing/2014/main" id="{A7FCC1F4-D30A-D4BF-2139-D2A8BB682C4A}"/>
              </a:ext>
            </a:extLst>
          </p:cNvPr>
          <p:cNvSpPr txBox="1"/>
          <p:nvPr/>
        </p:nvSpPr>
        <p:spPr>
          <a:xfrm>
            <a:off x="2325686" y="5472000"/>
            <a:ext cx="5483225" cy="1113382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14000"/>
              </a:lnSpc>
              <a:spcBef>
                <a:spcPts val="785"/>
              </a:spcBef>
            </a:pPr>
            <a:r>
              <a:rPr sz="1599" b="1" spc="-131" dirty="0">
                <a:solidFill>
                  <a:srgbClr val="FFFFFF"/>
                </a:solidFill>
                <a:latin typeface="Montserrat"/>
                <a:cs typeface="Montserrat"/>
              </a:rPr>
              <a:t>Nosso</a:t>
            </a:r>
            <a:r>
              <a:rPr sz="1599" b="1" spc="-26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599" b="1" spc="-131" dirty="0">
                <a:solidFill>
                  <a:srgbClr val="FFFFFF"/>
                </a:solidFill>
                <a:latin typeface="Montserrat"/>
                <a:cs typeface="Montserrat"/>
              </a:rPr>
              <a:t>compromisso</a:t>
            </a:r>
            <a:r>
              <a:rPr sz="1599" b="1" spc="-2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599" b="1" spc="-161" dirty="0">
                <a:solidFill>
                  <a:srgbClr val="FFFFFF"/>
                </a:solidFill>
                <a:latin typeface="Montserrat"/>
                <a:cs typeface="Montserrat"/>
              </a:rPr>
              <a:t>com</a:t>
            </a:r>
            <a:r>
              <a:rPr sz="1599" b="1" spc="-26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1599" b="1" spc="-20" dirty="0">
                <a:solidFill>
                  <a:srgbClr val="FFFFFF"/>
                </a:solidFill>
                <a:latin typeface="Montserrat"/>
                <a:cs typeface="Montserrat"/>
              </a:rPr>
              <a:t>você:</a:t>
            </a:r>
            <a:endParaRPr sz="1599" dirty="0">
              <a:latin typeface="Montserrat"/>
              <a:cs typeface="Montserrat"/>
            </a:endParaRPr>
          </a:p>
          <a:p>
            <a:pPr marL="12700" marR="5080" algn="ctr">
              <a:lnSpc>
                <a:spcPct val="114000"/>
              </a:lnSpc>
              <a:spcBef>
                <a:spcPts val="470"/>
              </a:spcBef>
            </a:pPr>
            <a:r>
              <a:rPr sz="1299" spc="-86" dirty="0">
                <a:solidFill>
                  <a:srgbClr val="FFFFFF"/>
                </a:solidFill>
                <a:latin typeface="Montserrat Medium"/>
                <a:cs typeface="Montserrat Medium"/>
              </a:rPr>
              <a:t>Transformar</a:t>
            </a:r>
            <a:r>
              <a:rPr sz="1299" spc="-11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71" dirty="0">
                <a:solidFill>
                  <a:srgbClr val="FFFFFF"/>
                </a:solidFill>
                <a:latin typeface="Montserrat Medium"/>
                <a:cs typeface="Montserrat Medium"/>
              </a:rPr>
              <a:t>os</a:t>
            </a:r>
            <a:r>
              <a:rPr sz="1299" spc="-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71" dirty="0">
                <a:solidFill>
                  <a:srgbClr val="FFFFFF"/>
                </a:solidFill>
                <a:latin typeface="Montserrat Medium"/>
                <a:cs typeface="Montserrat Medium"/>
              </a:rPr>
              <a:t>desafios</a:t>
            </a:r>
            <a:r>
              <a:rPr sz="1299" spc="-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90" dirty="0">
                <a:solidFill>
                  <a:srgbClr val="FFFFFF"/>
                </a:solidFill>
                <a:latin typeface="Montserrat Medium"/>
                <a:cs typeface="Montserrat Medium"/>
              </a:rPr>
              <a:t>da</a:t>
            </a:r>
            <a:r>
              <a:rPr sz="1299" spc="-11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90" dirty="0">
                <a:solidFill>
                  <a:srgbClr val="FFFFFF"/>
                </a:solidFill>
                <a:latin typeface="Montserrat Medium"/>
                <a:cs typeface="Montserrat Medium"/>
              </a:rPr>
              <a:t>reforma</a:t>
            </a:r>
            <a:r>
              <a:rPr sz="1299" spc="-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71" dirty="0">
                <a:solidFill>
                  <a:srgbClr val="FFFFFF"/>
                </a:solidFill>
                <a:latin typeface="Montserrat Medium"/>
                <a:cs typeface="Montserrat Medium"/>
              </a:rPr>
              <a:t>tributária</a:t>
            </a:r>
            <a:r>
              <a:rPr sz="1299" spc="-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114" dirty="0">
                <a:solidFill>
                  <a:srgbClr val="FFFFFF"/>
                </a:solidFill>
                <a:latin typeface="Montserrat Medium"/>
                <a:cs typeface="Montserrat Medium"/>
              </a:rPr>
              <a:t>em</a:t>
            </a:r>
            <a:r>
              <a:rPr sz="1299" spc="-11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101" dirty="0">
                <a:solidFill>
                  <a:srgbClr val="FFFFFF"/>
                </a:solidFill>
                <a:latin typeface="Montserrat Medium"/>
                <a:cs typeface="Montserrat Medium"/>
              </a:rPr>
              <a:t>vantagem</a:t>
            </a:r>
            <a:r>
              <a:rPr sz="1299" spc="-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71" dirty="0">
                <a:solidFill>
                  <a:srgbClr val="FFFFFF"/>
                </a:solidFill>
                <a:latin typeface="Montserrat Medium"/>
                <a:cs typeface="Montserrat Medium"/>
              </a:rPr>
              <a:t>competitiva </a:t>
            </a:r>
            <a:r>
              <a:rPr sz="1299" spc="-101" dirty="0">
                <a:solidFill>
                  <a:srgbClr val="FFFFFF"/>
                </a:solidFill>
                <a:latin typeface="Montserrat Medium"/>
                <a:cs typeface="Montserrat Medium"/>
              </a:rPr>
              <a:t>para</a:t>
            </a:r>
            <a:r>
              <a:rPr sz="1299" spc="-1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80" dirty="0">
                <a:solidFill>
                  <a:srgbClr val="FFFFFF"/>
                </a:solidFill>
                <a:latin typeface="Montserrat Medium"/>
                <a:cs typeface="Montserrat Medium"/>
              </a:rPr>
              <a:t>o</a:t>
            </a:r>
            <a:r>
              <a:rPr sz="1299" spc="-1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86" dirty="0">
                <a:solidFill>
                  <a:srgbClr val="FFFFFF"/>
                </a:solidFill>
                <a:latin typeface="Montserrat Medium"/>
                <a:cs typeface="Montserrat Medium"/>
              </a:rPr>
              <a:t>seu</a:t>
            </a:r>
            <a:r>
              <a:rPr sz="1299" spc="-1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75" dirty="0">
                <a:solidFill>
                  <a:srgbClr val="FFFFFF"/>
                </a:solidFill>
                <a:latin typeface="Montserrat Medium"/>
                <a:cs typeface="Montserrat Medium"/>
              </a:rPr>
              <a:t>negócio,</a:t>
            </a:r>
            <a:r>
              <a:rPr sz="1299" spc="-11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86" dirty="0">
                <a:solidFill>
                  <a:srgbClr val="FFFFFF"/>
                </a:solidFill>
                <a:latin typeface="Montserrat Medium"/>
                <a:cs typeface="Montserrat Medium"/>
              </a:rPr>
              <a:t>protegendo</a:t>
            </a:r>
            <a:r>
              <a:rPr sz="1299" spc="-1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86" dirty="0">
                <a:solidFill>
                  <a:srgbClr val="FFFFFF"/>
                </a:solidFill>
                <a:latin typeface="Montserrat Medium"/>
                <a:cs typeface="Montserrat Medium"/>
              </a:rPr>
              <a:t>seu</a:t>
            </a:r>
            <a:r>
              <a:rPr sz="1299" spc="-1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80" dirty="0">
                <a:solidFill>
                  <a:srgbClr val="FFFFFF"/>
                </a:solidFill>
                <a:latin typeface="Montserrat Medium"/>
                <a:cs typeface="Montserrat Medium"/>
              </a:rPr>
              <a:t>patrimônio</a:t>
            </a:r>
            <a:r>
              <a:rPr sz="1299" spc="-11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86" dirty="0">
                <a:solidFill>
                  <a:srgbClr val="FFFFFF"/>
                </a:solidFill>
                <a:latin typeface="Montserrat Medium"/>
                <a:cs typeface="Montserrat Medium"/>
              </a:rPr>
              <a:t>e</a:t>
            </a:r>
            <a:r>
              <a:rPr sz="1299" spc="-15" dirty="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sz="1299" spc="-11" dirty="0">
                <a:solidFill>
                  <a:srgbClr val="FFFFFF"/>
                </a:solidFill>
                <a:latin typeface="Montserrat Medium"/>
                <a:cs typeface="Montserrat Medium"/>
              </a:rPr>
              <a:t>potencializando resultados.</a:t>
            </a:r>
            <a:endParaRPr sz="1299" dirty="0">
              <a:latin typeface="Montserrat Medium"/>
              <a:cs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1335</Words>
  <Application>Microsoft Office PowerPoint</Application>
  <PresentationFormat>Personalizar</PresentationFormat>
  <Paragraphs>222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REFORMA TRIBUTÁRIA: O DESAFIO DO SPLIT PAYMENT</vt:lpstr>
      <vt:lpstr>O NOVO CENÁRIO TRIBUTÁRIO</vt:lpstr>
      <vt:lpstr>O QUE É SPLIT PAYMENT?</vt:lpstr>
      <vt:lpstr>DESAFIOS DO SPLIT PAYMENT PARA SUA EMPRESA</vt:lpstr>
      <vt:lpstr>IMPACTOS NO FLUXO DE CAIXA</vt:lpstr>
      <vt:lpstr>ESTAREMOS AO SEU LADO NESSE PERÍODO</vt:lpstr>
      <vt:lpstr>PRECIFICAÇÃO E ESTRATÉGIA COMERCIAL</vt:lpstr>
      <vt:lpstr>PLANEJAMENTO TRIBUTÁRIO</vt:lpstr>
      <vt:lpstr>CRONOGRAMA DE IMPLEMENTAÇÃO</vt:lpstr>
      <vt:lpstr>NOSSO COMPROMISSO COM VOCÊ</vt:lpstr>
      <vt:lpstr>Conte Conosco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REFORMA TRIBUTÁRIA: O DESAFIO DO SPLIT PAYMENT</dc:title>
  <dc:creator>Arthur Pc</dc:creator>
  <cp:lastModifiedBy>RH Curvel</cp:lastModifiedBy>
  <cp:revision>10</cp:revision>
  <dcterms:created xsi:type="dcterms:W3CDTF">2025-05-27T21:08:43Z</dcterms:created>
  <dcterms:modified xsi:type="dcterms:W3CDTF">2025-10-07T23:41:50Z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2025-05-27T00:00:00Z</vt:filetime>
  </property>
  <property fmtid="{D5CDD505-2E9C-101B-9397-08002B2CF9AE}" pid="3" name="Producer">
    <vt:lpwstr>pypdf</vt:lpwstr>
  </property>
  <property fmtid="{D5CDD505-2E9C-101B-9397-08002B2CF9AE}" pid="4" name="LastSaved">
    <vt:filetime>2025-05-27T00:00:00Z</vt:filetime>
  </property>
</Properties>
</file>